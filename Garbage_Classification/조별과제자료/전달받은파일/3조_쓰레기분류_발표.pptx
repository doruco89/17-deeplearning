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이미지 수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B666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clothes</c:v>
                  </c:pt>
                  <c:pt idx="1">
                    <c:v>shoes</c:v>
                  </c:pt>
                  <c:pt idx="2">
                    <c:v>paper</c:v>
                  </c:pt>
                  <c:pt idx="3">
                    <c:v>biological</c:v>
                  </c:pt>
                  <c:pt idx="4">
                    <c:v>battery</c:v>
                  </c:pt>
                  <c:pt idx="5">
                    <c:v>cardboard</c:v>
                  </c:pt>
                  <c:pt idx="6">
                    <c:v>plastic</c:v>
                  </c:pt>
                  <c:pt idx="7">
                    <c:v>white-glass</c:v>
                  </c:pt>
                  <c:pt idx="8">
                    <c:v>metal</c:v>
                  </c:pt>
                  <c:pt idx="9">
                    <c:v>trash</c:v>
                  </c:pt>
                  <c:pt idx="10">
                    <c:v>green-glass</c:v>
                  </c:pt>
                  <c:pt idx="11">
                    <c:v>brown-glass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5325</c:v>
                </c:pt>
                <c:pt idx="1">
                  <c:v>1977</c:v>
                </c:pt>
                <c:pt idx="2">
                  <c:v>1050</c:v>
                </c:pt>
                <c:pt idx="3">
                  <c:v>985</c:v>
                </c:pt>
                <c:pt idx="4">
                  <c:v>945</c:v>
                </c:pt>
                <c:pt idx="5">
                  <c:v>891</c:v>
                </c:pt>
                <c:pt idx="6">
                  <c:v>865</c:v>
                </c:pt>
                <c:pt idx="7">
                  <c:v>775</c:v>
                </c:pt>
                <c:pt idx="8">
                  <c:v>769</c:v>
                </c:pt>
                <c:pt idx="9">
                  <c:v>697</c:v>
                </c:pt>
                <c:pt idx="10">
                  <c:v>629</c:v>
                </c:pt>
                <c:pt idx="11">
                  <c:v>607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B666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6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"/>
          <c:min val="0"/>
        </c:scaling>
        <c:delete val="0"/>
        <c:axPos val="b"/>
        <c:majorGridlines>
          <c:spPr>
            <a:ln w="12700" cap="flat">
              <a:solidFill>
                <a:srgbClr val="E6EB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79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macro-F1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3B463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직접 만든 CNN</c:v>
                  </c:pt>
                  <c:pt idx="1">
                    <c:v>EfficientNetV2-S
(백본 동결)</c:v>
                  </c:pt>
                  <c:pt idx="2">
                    <c:v>EfficientNetV2-S
(전체 미세조정)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0.6521</c:v>
                </c:pt>
                <c:pt idx="1">
                  <c:v>0.8089</c:v>
                </c:pt>
                <c:pt idx="2">
                  <c:v>0.9731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300" u="none">
                  <a:solidFill>
                    <a:srgbClr val="3B463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6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12700" cap="flat">
              <a:solidFill>
                <a:srgbClr val="E6EB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79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463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3B463F"/>
                </a:solidFill>
                <a:latin typeface="Calibri"/>
              </a:rPr>
              <a:t>클래스별 F1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F1</c:v>
                </c:pt>
              </c:strCache>
            </c:strRef>
          </c:tx>
          <c:spPr>
            <a:solidFill>
              <a:srgbClr val="C166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166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166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plastic</c:v>
                  </c:pt>
                  <c:pt idx="1">
                    <c:v>metal</c:v>
                  </c:pt>
                  <c:pt idx="2">
                    <c:v>cardboard</c:v>
                  </c:pt>
                  <c:pt idx="3">
                    <c:v>brown-glass</c:v>
                  </c:pt>
                  <c:pt idx="4">
                    <c:v>white-glass</c:v>
                  </c:pt>
                  <c:pt idx="5">
                    <c:v>paper</c:v>
                  </c:pt>
                  <c:pt idx="6">
                    <c:v>trash</c:v>
                  </c:pt>
                  <c:pt idx="7">
                    <c:v>battery</c:v>
                  </c:pt>
                  <c:pt idx="8">
                    <c:v>green-glass</c:v>
                  </c:pt>
                  <c:pt idx="9">
                    <c:v>biological</c:v>
                  </c:pt>
                  <c:pt idx="10">
                    <c:v>shoes</c:v>
                  </c:pt>
                  <c:pt idx="11">
                    <c:v>clothes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0.9105</c:v>
                </c:pt>
                <c:pt idx="1">
                  <c:v>0.9333</c:v>
                </c:pt>
                <c:pt idx="2">
                  <c:v>0.9579</c:v>
                </c:pt>
                <c:pt idx="3">
                  <c:v>0.9626</c:v>
                </c:pt>
                <c:pt idx="4">
                  <c:v>0.9649</c:v>
                </c:pt>
                <c:pt idx="5">
                  <c:v>0.9659</c:v>
                </c:pt>
                <c:pt idx="6">
                  <c:v>0.9714</c:v>
                </c:pt>
                <c:pt idx="7">
                  <c:v>0.9789</c:v>
                </c:pt>
                <c:pt idx="8">
                  <c:v>0.9838</c:v>
                </c:pt>
                <c:pt idx="9">
                  <c:v>0.9899</c:v>
                </c:pt>
                <c:pt idx="10">
                  <c:v>0.9901</c:v>
                </c:pt>
                <c:pt idx="11">
                  <c:v>0.9962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6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5"/>
        </c:scaling>
        <c:delete val="0"/>
        <c:axPos val="l"/>
        <c:majorGridlines>
          <c:spPr>
            <a:ln w="12700" cap="flat">
              <a:solidFill>
                <a:srgbClr val="E6EB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79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15분 발표, 3인 분담. 이 프로젝트의 핵심 메시지는 '모델보다 데이터 품질이 먼저였다'입니다.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파트별 5분씩. 세 파트가 '문제 발견 → 해결 → 검증'으로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문제를 소개하되, 마지막 항목(중복·라벨 오류)이 이 발표의 핵심 축임을 미리 던져둡니다.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clothes 하나가 전체의 3분의 1입니다. 이 숫자가 다음 슬라이드의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'왜 macro-F1인가'의 답입니다. 유비가 아니라 우리 데이터에서 직접 측정한 반례라는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항목 모두 '감이 아니라 측정해서 정했다'는 점이 중요합니다. 특히 P 모드 34장은 실제로 세어본 값입니다.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전환. 김태경 → 이현중.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오탐 7그룹 이야기가 이 슬라이드의 핵심입니다. 알고리즘은 후보만 좁히고 최종 판단은 사람이 했다는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204건 = held-out 59 + train OOF 145. 모델이 데이터를 검사한다는 발상이 이 파트의 하이라이트입니다.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 파일을 건드리지 않았기 때문에 언제든 되돌릴 수 있고, 어떤 파일을 왜 뺐는지 근거가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누수 개념을 쉽게 설명하세요. '시험 문제를 미리 본 셈'이라는 비유가 잘 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 만든 CNN 0.65에서 미세조정 0.97로 뜁니다. 여기서 '왜 lr 5e-5인가'는 다음 슬라이드로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실패를 숨기지 않고 방법론을 고쳤다는 점이 이 슬라이드의 메시지입니다.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전환. 이현중 → 박병찬.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정확도 0.9773보다 macro-F1 0.9671을 앞세워 말하세요. 앞에서 지표를 정한 근거와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단계의 기술통계가 모델링 단계의 실패를 예측했다는 점이 이 슬라이드의 하이라이트입니다.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가설검정 파트가 이어집니다. 슬라이드는 추후 추가.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2926080" cy="2926080"/>
          </a:xfrm>
          <a:prstGeom prst="ellipse">
            <a:avLst/>
          </a:prstGeom>
          <a:solidFill>
            <a:srgbClr val="97BC62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KDT-17  3rd Team Project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쓰레기 이미지 12종 분류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품질에서 시작한 딥러닝 이미지 분류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1463040" cy="320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3조  (김이박)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389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  이현중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  김태경 · 박병찬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발표 구성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15분 · 3인 분담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8745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김태경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이해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743200"/>
            <a:ext cx="2926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데이터 현황과 클래스 불균형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품질 점검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정확도만 보면 안 되는 이유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224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160020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9432" y="18745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9943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이현중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정제와 모델링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2743200"/>
            <a:ext cx="2926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이미지 3단계 탐지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 오류 진단과 정정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비교와 하이퍼파라미터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99432" y="4224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160020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2752" y="18745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0275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박병찬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86968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평가와 해석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8302752" y="2743200"/>
            <a:ext cx="2926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성능과 클래스별 분석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오분류 패턴이 말하는 것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가설검정 · 운영 임계값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302752" y="4224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정의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재활용 쓰레기 사진을 12개 클래스로 자동 분류한다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4864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데이터셋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331720"/>
            <a:ext cx="4846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 mostafaabla/garbage-classification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15,515장 · 12개 클래스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battery, biological, brown-glass, cardboard,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clothes, green-glass, metal, paper, plastic,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shoes, trash, white-glass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46520" y="1691640"/>
            <a:ext cx="5074920" cy="3063240"/>
          </a:xfrm>
          <a:prstGeom prst="roundRect">
            <a:avLst>
              <a:gd name="adj" fmla="val 2388"/>
            </a:avLst>
          </a:prstGeom>
          <a:solidFill>
            <a:srgbClr val="EFF3EA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1920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어려운가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331720"/>
            <a:ext cx="44805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불균형이 심하다 — 최다 clothes 5,325장, 최소 brown-glass 607장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유리 3종은 형태가 같고 색만 다르다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/ metal / paper 는 재질 경계가 사람에게도 모호하다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데이터에 중복과 라벨 오류가 섞여 있다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Kaggle mostafaabla/garbage-classification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현황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클래스별 이미지 수 — 최다와 최소가 8.77배 차이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55448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554480"/>
            <a:ext cx="3291840" cy="4206240"/>
          </a:xfrm>
          <a:prstGeom prst="roundRect">
            <a:avLst>
              <a:gd name="adj" fmla="val 2222"/>
            </a:avLst>
          </a:prstGeom>
          <a:solidFill>
            <a:srgbClr val="EFF3EA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828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34.3%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clothes 한 클래스가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전체에서 차지하는 비중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0" y="3429000"/>
            <a:ext cx="2377440" cy="18288"/>
          </a:xfrm>
          <a:prstGeom prst="rect">
            <a:avLst/>
          </a:prstGeom>
          <a:solidFill>
            <a:srgbClr val="D5DED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66760" y="3611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8.77배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4480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최다 / 최소 클래스 비율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15,515장 기준 · 손상 파일 0건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정확도만 보면 안 되는 이유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아무것도 학습하지 않은 모델을 실제로 측정했다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029200" cy="1920240"/>
          </a:xfrm>
          <a:prstGeom prst="roundRect">
            <a:avLst>
              <a:gd name="adj" fmla="val 3810"/>
            </a:avLst>
          </a:prstGeom>
          <a:solidFill>
            <a:srgbClr val="EFF3EA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874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무지성 기준선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1762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모든 입력을 clothes 라고만 답하는 모델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71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없음 · 파라미터 0개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794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3794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0.3398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4453128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453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44531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0.0833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5111496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11149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511149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0.0423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035040" y="1691640"/>
            <a:ext cx="5532120" cy="4069080"/>
          </a:xfrm>
          <a:prstGeom prst="roundRect">
            <a:avLst>
              <a:gd name="adj" fmla="val 1798"/>
            </a:avLst>
          </a:prstGeom>
          <a:solidFill>
            <a:srgbClr val="17301C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19659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정확도는 34%</a:t>
            </a:r>
            <a:endParaRPr lang="en-US" sz="27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macro-F1은 0.042</a:t>
            </a:r>
            <a:endParaRPr lang="en-US" sz="27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1272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8배 차이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61188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정확도는 다수 클래스 하나만 잘 맞혀도 올라간다.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macro-F1은 12개 클래스의 F1을 동등 가중으로 평균하므로,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나머지 11개를 전부 틀리면 즉시 무너진다.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쓰레기 분류의 목적은 '많이 나오는 종류를 잘 맞히는 것'이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아니라 '모든 종류를 고르게 맞히는 것'이다.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평가지표로 macro-F1 채택 · accuracy, weighted-F1, macro-AUC 는 참고로 병기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이미지 품질 점검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학습을 시작하기 전에 확인해야 할 것들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874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손상 파일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1671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0건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71576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verify 로 전수 검사.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중 크래시 위험 없음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874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팔레트(P) 모드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1671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34장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71576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채널이 3이 아니라 배치가 깨진다.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convert("RGB") 필수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776472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9593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해상도 산포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 ~ 888px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8006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종횡비도 제각각.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필요 (128 / 224)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776472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39593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 정보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유리 3종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8006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형태가 같아 색이 유일한 단서.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증강에서 색을 건드리면 안 된다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단계에서 확인 · 이후 모든 전처리 결정의 근거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3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이현중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48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폴더만 봐서는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알 수 없는 문제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사진이 여러 장 들어 있고, 신발 사진이 clothes 폴더에 있었다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58400" y="1097280"/>
            <a:ext cx="4023360" cy="4023360"/>
          </a:xfrm>
          <a:prstGeom prst="ellipse">
            <a:avLst/>
          </a:prstGeom>
          <a:solidFill>
            <a:srgbClr val="2C5F2D">
              <a:alpha val="40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중복 이미지 탐지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3단계로 좁혀 들어간다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6766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02996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8105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MD5 해시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동일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17627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바이트가 같은 파일을 O(n)으로 묶는다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15,515장 픽셀 비교(약 1.2억 쌍) 대신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6766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44728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2278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dHash + Hamming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유사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59359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인접 픽셀의 밝기 증감만 기록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256비트 중 5비트 이내를 후보로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480560"/>
            <a:ext cx="6766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86460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46451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픽셀 검증 + Union-Find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4663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확정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01091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32x32 RGB 평균차 0.05 미만만 통과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연결된 쌍을 하나의 그룹으로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80960" y="1645920"/>
            <a:ext cx="3886200" cy="4069080"/>
          </a:xfrm>
          <a:prstGeom prst="roundRect">
            <a:avLst>
              <a:gd name="adj" fmla="val 1882"/>
            </a:avLst>
          </a:prstGeom>
          <a:solidFill>
            <a:srgbClr val="EFF3EA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5528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탐지 결과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795528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동일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966960" y="2377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18그룹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라벨이 충돌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9966960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3그룹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955280" y="3383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근접 중복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9966960" y="3383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42그룹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3886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 제외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966960" y="3886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7그룹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955280" y="4480560"/>
            <a:ext cx="3291840" cy="18288"/>
          </a:xfrm>
          <a:prstGeom prst="rect">
            <a:avLst/>
          </a:prstGeom>
          <a:solidFill>
            <a:srgbClr val="D5DED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955280" y="46634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 7그룹은 서로 다른 칫솔 제품이었다.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'흰 배경 + 세로 물체' 구도가 같아서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 두 단계를 모두 통과했다.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직접 열어보고 제외했다.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팀원이 독립적으로 구현해 같은 결과를 얻음 — 교차 검증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라벨 오류 진단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모델을 데이터 검사 도구로 거꾸로 이용한다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7301C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8470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착안점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1214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모델이 "확신 있게 틀린" 예측은</a:t>
            </a:r>
            <a:endParaRPr lang="en-US" sz="19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둘 중 하나다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880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정말 헷갈리는 사진이거나,  원본 라벨이 잘못됐거나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8862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두 단계로 나눴나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22452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데이터는 모델이 그 라벨 그대로 암기했기 때문에, 라벨이 틀려도 틀린 라벨을 그대로 재현해 "틀림"으로 잡히지 않는다. 그래서 train 은 2-fold out-of-fold 로 "안 본 상태"의 예측을 새로 만들어냈다.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645920"/>
            <a:ext cx="5257800" cy="4069080"/>
          </a:xfrm>
          <a:prstGeom prst="roundRect">
            <a:avLst>
              <a:gd name="adj" fmla="val 1798"/>
            </a:avLst>
          </a:prstGeom>
          <a:solidFill>
            <a:srgbClr val="EFF3EA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진단 결과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286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  held-out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0" y="22860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4,655장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5968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오분류 123건 중 확신도 0.9 이상  59건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337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 train OOF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601200" y="3337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10,838장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36484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오분류 382건 중 확신도 0.9 이상  145건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29400" y="4389120"/>
            <a:ext cx="4572000" cy="18288"/>
          </a:xfrm>
          <a:prstGeom prst="rect">
            <a:avLst/>
          </a:prstGeom>
          <a:solidFill>
            <a:srgbClr val="D5DED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29400" y="4526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합계 204건 전수 육안 확인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4983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추출은 후보 생성까지만. 라벨을 옮길지 뺄지는 전부 사람이 이미지를 직접 보고 판단했다.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정제 결과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파일을 옮기거나 지우지 않고 manifest 한 장으로 관리했다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15,515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505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29000" y="16459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− 31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4505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EFF3EA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15,484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4505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06840" y="164592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06840" y="1783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46장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 정정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10881360" cy="420624"/>
          </a:xfrm>
          <a:prstGeom prst="rect">
            <a:avLst/>
          </a:prstGeom>
          <a:solidFill>
            <a:srgbClr val="F0F3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324612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동일 중복 여분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324612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16장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324612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그룹당 1장만 유지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366674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라벨이 충돌한 중복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206240" y="366674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6장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3666744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사진에 다른 라벨 — 양쪽 모두 제외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087368"/>
            <a:ext cx="10881360" cy="420624"/>
          </a:xfrm>
          <a:prstGeom prst="rect">
            <a:avLst/>
          </a:prstGeom>
          <a:solidFill>
            <a:srgbClr val="F0F3E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408736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애매한 경계 사례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206240" y="40873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3장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760720" y="408736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봐도 판단이 갈림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50799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사진이 아닌 이미지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450799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6장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760720" y="4507992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클립아트 · 목업 템플릿 · 스케치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4928616"/>
            <a:ext cx="10881360" cy="420624"/>
          </a:xfrm>
          <a:prstGeom prst="rect">
            <a:avLst/>
          </a:prstGeom>
          <a:solidFill>
            <a:srgbClr val="F0F3E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492861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 정정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4206240" y="492861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46장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760720" y="4928616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clothes → shoes 43,  그 외 3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534924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근접 중복 그룹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4206240" y="534924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25그룹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760720" y="534924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삭제하지 않고 같은 split 에 배치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manifest.csv — filepath, orig_label, final_label, group_id, status, reason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분할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사진이 train 과 test 로 갈라지면 시험 문제를 미리 본 셈이다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17301C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근접 중복이 만드는 데이터 누수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3317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9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는 바이트가 1비트만 달라도 못 잡는다. 같은 사진을 리사이즈하거나 다시 저장하면 해시가 완전히 달라지지만 사람 눈에는 같은 사진이다. 이런 이미지가 양쪽에 걸치면 test 점수가 부풀려진다.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EFF3EA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206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계층 분할을 적용하면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4988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13개 그룹 26장이 갈라진다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5029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 인지 분할(Union-Find)에서는  0개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46520" y="169164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920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최종 분할  70 / 15 / 15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10,832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966960" y="2514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2971800"/>
            <a:ext cx="4390949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2,318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966960" y="3383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3840480"/>
            <a:ext cx="940918" cy="1097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66560" y="4251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251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2,334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966960" y="4251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66560" y="4709160"/>
            <a:ext cx="947190" cy="1097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66560" y="5166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는 최종 평가 단 한 번만 사용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 비교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밑바닥 학습 vs 전이학습 — 검증셋 macro-F1 기준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60020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600200"/>
            <a:ext cx="3931920" cy="1874520"/>
          </a:xfrm>
          <a:prstGeom prst="roundRect">
            <a:avLst>
              <a:gd name="adj" fmla="val 3902"/>
            </a:avLst>
          </a:prstGeom>
          <a:solidFill>
            <a:srgbClr val="EFF3EA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09560" y="1783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전이학습의 효과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2103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+0.32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2697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128만 장에서 배운 특징이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쓰레기 사진에도 그대로 통한다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635240" y="3657600"/>
            <a:ext cx="3931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09560" y="3840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학습률 비교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42245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5e-5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9418320" y="4224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0.9731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46085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1e-4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9418320" y="4608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0.9600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909560" y="49926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3e-4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9418320" y="49926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0.9658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5376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3개를 전부 끝까지 학습해 비교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채택: EfficientNetV2-S unfreeze, lr 5e-5, ReduceLROnPlateau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시행착오에서 배운 것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짧은 스윕으로 고른 학습률이 최종 학습에서는 최선이 아니었다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 방법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4에폭 미니스윕 → 승자만 완전 학습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743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5e-5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743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0.9538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127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1e-4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31272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0.9629  ← 스윕 승자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5112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3e-4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35112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0.9479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069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 1e-4 로 최종 학습을 돌렸더니 조기 종료가 6에폭째 발동해 0.9652에 그쳤다. 스케줄러가 개입할 기회조차 없었다.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EFF3EA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고친 방법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후보 3개를 전부 최종 설정으로 완전 학습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7432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5e-5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27432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0.9731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27432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 · 조기종료 없음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3182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1e-4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3182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0.9600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006840" y="31821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362102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3e-4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362102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0.9658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006840" y="362102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4297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스케줄러와 조기 종료가 있는 설정에서는, 그 설정을 빼고 진행한 짧은 스윕의 순위가 최종 결과의 순위를 보장하지 못한다.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3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박병찬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48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숫자가 진짜인지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확인하는 단계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는 여기서 단 한 번만 사용한다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875520" y="3108960"/>
            <a:ext cx="3474720" cy="347472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최종 성능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EfficientNetV2-S (unfreeze, lr 5e-5) · test 2,334장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105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0.9773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EFF3EA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8105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0.9671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8105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0.9668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macro-recall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06840" y="164592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06840" y="18105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0.9995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macro-AUC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40080" y="3383280"/>
          <a:ext cx="69494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7818120" y="338328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EFF3EA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9244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가장 약한 세 클래스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3931920"/>
            <a:ext cx="3200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 0.911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 0.933   (정밀도 0.903)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cardboard  0.958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재질 경계가 모호한 클래스들이다.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정제로 해결되는 문제가 아니다.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선정은 검증셋 macro-F1 으로만 · test 는 이 한 번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오분류 패턴이 말하는 것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정제 효과는 정확도 숫자가 아니라 틀리는 방식에서 드러났다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정제 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clothes → shoes 가 실험 내내 1위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697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20건대를 계속 유지했다. 모델을 아무리 개선해도 줄지 않았는데, 원인이 모델이 아니라 원본 라벨이었기 때문이다.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3657600"/>
            <a:ext cx="4754880" cy="18288"/>
          </a:xfrm>
          <a:prstGeom prst="rect">
            <a:avLst/>
          </a:prstGeom>
          <a:solidFill>
            <a:srgbClr val="D5DED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840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정제 후 상위 오분류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cardboard → paper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5건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507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→ metal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507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5건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8097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→ paper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48097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4건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111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white-glass → plastic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5111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4건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5413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clothes → shoes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2건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17301C"/>
          </a:solidFill>
          <a:ln w="12700">
            <a:solidFill>
              <a:srgbClr val="E2E7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19659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가 실패 지점을 미리 알려줬다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채도 / 유효 색상 픽셀 비율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brown-glass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82396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D6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60.85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D6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0.37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green-glass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823960" y="3474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D6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63.68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0" y="3474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D6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0.40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white-glass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823960" y="3886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19.78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3886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0.14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629400" y="44348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9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white-glass 는 채도가 다른 유리의 3분의 1이다. 투명 유리라 색 정보가 거의 없어 질감과 반사에만 의존하게 되고, 그것이 금속 광택과 겹친다.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이어지는 내용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가설검정과 운영 임계값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862072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788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평가지표 선정의 통계적 근거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27889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부트스트랩 95% 신뢰구간으로 accuracy 와 macro-F1 격차의 유의성 검정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730752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3657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가설검정 4종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36576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순열검정 · Kruskal-Wallis + Mann-Whitney · 부트스트랩 CI · McNemar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99432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599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4526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임계값에 따른 지표 변화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45262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One-vs-Rest 스윕 · 클래스별 가중 argmax · 확신도 기반 판단 보류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68112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468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5394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운영 관점 결론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53949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몇 퍼센트를 사람이 확인하면 나머지를 몇 퍼센트 정확도로 자동 처리할 수 있는가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해당 파트 슬라이드는 추후 추가 예정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쓰레기 이미지 12종 분류</dc:title>
  <dc:subject>PptxGenJS Presentation</dc:subject>
  <dc:creator>3조 (김이박)</dc:creator>
  <cp:lastModifiedBy>3조 (김이박)</cp:lastModifiedBy>
  <cp:revision>1</cp:revision>
  <dcterms:created xsi:type="dcterms:W3CDTF">2026-09-07T02:18:13Z</dcterms:created>
  <dcterms:modified xsi:type="dcterms:W3CDTF">2026-09-07T02:18:13Z</dcterms:modified>
</cp:coreProperties>
</file>