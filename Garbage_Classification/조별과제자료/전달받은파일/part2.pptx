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847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김태경 → 이현중.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오탐 7그룹은 서로 다른 칫솔 제품이었습니다. 알고리즘은 후보만 좁히고 최종 판단은 사람이 했다는 점이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진짜 중복, 오른쪽은 오탐입니다. 알고리즘은 후보만 좁히고 최종 판단은 사람이 했다는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204건 = held-out 59 + train OOF 145. 모델이 데이터를 검사한다는 발상이 이 파트의 하이라이트입니다.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사진을 먼저 보여주고 설명하세요. 말로 백 번 설명하는 것보다 이 한 장이 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파일을 건드리지 않았기 때문에 언제든 되돌릴 수 있고, 어떤 파일을 왜 뺐는지 근거가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시험 문제를 미리 본 셈이라는 비유로 설명하세요. 왼쪽이 흔히 하는 방식, 오른쪽이 우리가 쓴 방식입니다.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만든 CNN 0.65에서 미세조정 0.97로 뜁니다. 여기서 왜 lr 5e-5인가는 다음 슬라이드로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실패를 숨기지 않고 방법론을 고쳤다는 점이 이 슬라이드의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모델을 6개 바꿔봐도 clothes→shoes 오분류는 상위권에서 빠지지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모델은 그대로 두고 라벨만 정정했습니다. 오분류 1위 자리가 바뀌었다는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짧은 스윕의 순위가 실제 학습 결과의 순위와 뒤집혔다는 것이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숫자보다 패턴 변화가 더 믿을 수 있는 증거였다는 결론으로 파트를 닫습니다.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7700" y="1714500"/>
            <a:ext cx="859155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114" dirty="0">
                <a:solidFill>
                  <a:srgbClr val="A8C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이현중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647700" y="2222500"/>
            <a:ext cx="8044815" cy="1452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236"/>
              </a:lnSpc>
              <a:buNone/>
            </a:pPr>
            <a:r>
              <a:rPr lang="en-US" sz="4800" b="1" kern="0" spc="-9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폴더만 봐서는 알 수 </a:t>
            </a:r>
            <a:r>
              <a:rPr lang="en-US" sz="4800" b="1" kern="0" spc="-96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없는</a:t>
            </a:r>
            <a:r>
              <a:rPr lang="en-US" sz="4800" b="1" kern="0" spc="-9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800" b="1" kern="0" spc="-96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br>
              <a:rPr lang="en-US" sz="4800" b="1" kern="0" spc="-9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4800" b="1" kern="0" spc="-9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r>
              <a:rPr lang="ko-KR" altLang="en-US" sz="4800" b="1" kern="0" spc="-9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학습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7700" y="3884414"/>
            <a:ext cx="85915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703"/>
              </a:lnSpc>
              <a:buNone/>
            </a:pPr>
            <a:r>
              <a:rPr lang="en-US" sz="1575" dirty="0">
                <a:solidFill>
                  <a:srgbClr val="DC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사진이 여러 장 · 신발 사진이 clothes 폴더에 혼입</a:t>
            </a:r>
            <a:endParaRPr lang="en-US" sz="15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517427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이미지 탐지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28941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1.2억 쌍을 세 단계로 축소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47750" y="1570831"/>
            <a:ext cx="10096500" cy="35226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600" y="5378450"/>
            <a:ext cx="2628900" cy="1060450"/>
          </a:xfrm>
          <a:prstGeom prst="roundRect">
            <a:avLst>
              <a:gd name="adj" fmla="val 12575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02172" y="5556250"/>
            <a:ext cx="1563628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18그룹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359594" y="6026150"/>
            <a:ext cx="1776591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동일 (MD5)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3390900" y="5378450"/>
            <a:ext cx="2628900" cy="1060450"/>
          </a:xfrm>
          <a:prstGeom prst="roundRect">
            <a:avLst>
              <a:gd name="adj" fmla="val 12575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62946" y="5556250"/>
            <a:ext cx="1293439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3그룹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4310162" y="6026150"/>
            <a:ext cx="1277477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라벨이 충돌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6172200" y="5378450"/>
            <a:ext cx="2628900" cy="1060450"/>
          </a:xfrm>
          <a:prstGeom prst="roundRect">
            <a:avLst>
              <a:gd name="adj" fmla="val 12575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64772" y="5556250"/>
            <a:ext cx="1563628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42그룹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7165975" y="6026150"/>
            <a:ext cx="105776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근접 중복</a:t>
            </a:r>
            <a:endParaRPr lang="en-US" sz="1275" dirty="0"/>
          </a:p>
        </p:txBody>
      </p:sp>
      <p:sp>
        <p:nvSpPr>
          <p:cNvPr id="16" name="Shape 13"/>
          <p:cNvSpPr/>
          <p:nvPr/>
        </p:nvSpPr>
        <p:spPr>
          <a:xfrm>
            <a:off x="8953500" y="5378450"/>
            <a:ext cx="2628900" cy="1060450"/>
          </a:xfrm>
          <a:prstGeom prst="roundRect">
            <a:avLst>
              <a:gd name="adj" fmla="val 12575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925546" y="5556250"/>
            <a:ext cx="1293439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7그룹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775627" y="6026150"/>
            <a:ext cx="156389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육안 오탐 제외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9134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 결과를 눈으로 확인한다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49134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알고리즘이 찾은 것과 사람이 판단한 것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95425"/>
            <a:ext cx="5372100" cy="2698651"/>
          </a:xfrm>
          <a:prstGeom prst="roundRect">
            <a:avLst>
              <a:gd name="adj" fmla="val 494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827484" y="1597025"/>
            <a:ext cx="4936232" cy="24954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300" y="1495425"/>
            <a:ext cx="5372100" cy="2698651"/>
          </a:xfrm>
          <a:prstGeom prst="roundRect">
            <a:avLst>
              <a:gd name="adj" fmla="val 494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6428184" y="1597025"/>
            <a:ext cx="4936232" cy="249545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9600" y="4384576"/>
            <a:ext cx="5372100" cy="2054324"/>
          </a:xfrm>
          <a:prstGeom prst="roundRect">
            <a:avLst>
              <a:gd name="adj" fmla="val 6491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3600" y="4600476"/>
            <a:ext cx="53505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진짜 근접 중복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863600" y="5000526"/>
            <a:ext cx="5010023" cy="1218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육안으로는 동일한 사진인데 </a:t>
            </a: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파일은</a:t>
            </a: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3개</a:t>
            </a:r>
          </a:p>
          <a:p>
            <a:pPr marL="0" indent="0" algn="l">
              <a:lnSpc>
                <a:spcPct val="139355"/>
              </a:lnSpc>
              <a:buNone/>
            </a:pP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리사이즈·재저장으로</a:t>
            </a: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바이트가 달라져 MD5 </a:t>
            </a: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로는</a:t>
            </a: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미탐지</a:t>
            </a:r>
            <a:endParaRPr lang="en-US" sz="1350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39355"/>
              </a:lnSpc>
              <a:buNone/>
            </a:pPr>
            <a:r>
              <a:rPr lang="en-US" sz="13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삭제하지 않고 같은 split 에 묶음.</a:t>
            </a:r>
            <a:endParaRPr lang="en-US" sz="1350" b="1" dirty="0"/>
          </a:p>
        </p:txBody>
      </p:sp>
      <p:sp>
        <p:nvSpPr>
          <p:cNvPr id="13" name="Shape 9"/>
          <p:cNvSpPr/>
          <p:nvPr/>
        </p:nvSpPr>
        <p:spPr>
          <a:xfrm>
            <a:off x="6210300" y="4384576"/>
            <a:ext cx="5372100" cy="2054324"/>
          </a:xfrm>
          <a:prstGeom prst="roundRect">
            <a:avLst>
              <a:gd name="adj" fmla="val 649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64300" y="4600476"/>
            <a:ext cx="53505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알고리즘의 오탐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464300" y="5000526"/>
            <a:ext cx="5010023" cy="1154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dHash·픽셀 검증을 모두 통과했으나 실물은 서로 다른 </a:t>
            </a: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칫솔</a:t>
            </a: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</a:t>
            </a:r>
            <a:endParaRPr lang="en-US" sz="1350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흰 배경 + 세로 물체라는 제품 사진 </a:t>
            </a: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구도만</a:t>
            </a: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</a:t>
            </a:r>
            <a:endParaRPr lang="en-US" sz="1350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39355"/>
              </a:lnSpc>
              <a:buNone/>
            </a:pPr>
            <a:r>
              <a:rPr lang="en-US" sz="13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7그룹 30장 제외.</a:t>
            </a:r>
            <a:endParaRPr lang="en-US" sz="135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29337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라벨 오류 진단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2933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모델을 데이터 검사 도구로 역이용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95425"/>
            <a:ext cx="5365750" cy="1654572"/>
          </a:xfrm>
          <a:prstGeom prst="roundRect">
            <a:avLst>
              <a:gd name="adj" fmla="val 8059"/>
            </a:avLst>
          </a:prstGeom>
          <a:solidFill>
            <a:srgbClr val="2A4A33"/>
          </a:solidFill>
          <a:ln/>
        </p:spPr>
      </p:sp>
      <p:sp>
        <p:nvSpPr>
          <p:cNvPr id="7" name="Text 5"/>
          <p:cNvSpPr/>
          <p:nvPr/>
        </p:nvSpPr>
        <p:spPr>
          <a:xfrm>
            <a:off x="876300" y="1704975"/>
            <a:ext cx="531558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38" dirty="0">
                <a:solidFill>
                  <a:srgbClr val="A8C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착안점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876300" y="2035175"/>
            <a:ext cx="5315585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6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모델이 “확신하며 틀린” 예측은 둘 중 하나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876300" y="2437110"/>
            <a:ext cx="5315585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DC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정말 헷갈리는 사진이거나, 원본 라벨이 잘못됐거나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03950" y="1495425"/>
            <a:ext cx="5378450" cy="1654572"/>
          </a:xfrm>
          <a:prstGeom prst="roundRect">
            <a:avLst>
              <a:gd name="adj" fmla="val 8059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7000" y="1711325"/>
            <a:ext cx="53155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두 단계로 나눴나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77000" y="2111375"/>
            <a:ext cx="4977321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은 모델이 라벨을 그대로 암기 → 라벨이 틀려도 그 오답을 재현해 “틀림”으로 미검출. 따라서 2-fold out-of-fold 로 “안 본 상태”의 예측을 별도 생성.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600" y="3321447"/>
            <a:ext cx="10972800" cy="3117453"/>
          </a:xfrm>
          <a:prstGeom prst="roundRect">
            <a:avLst>
              <a:gd name="adj" fmla="val 4278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2"/>
          <p:cNvSpPr/>
          <p:nvPr/>
        </p:nvSpPr>
        <p:spPr>
          <a:xfrm>
            <a:off x="901701" y="3556397"/>
            <a:ext cx="10680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결과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01700" y="4041443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 · held-out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49600" y="4041443"/>
            <a:ext cx="1219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4,655장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97400" y="4041443"/>
            <a:ext cx="17811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오분류 123건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5251" y="4041443"/>
            <a:ext cx="35603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확신도 0.9 이상 59건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01700" y="4422443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 · train OOF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49600" y="4422443"/>
            <a:ext cx="1219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10,838장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97400" y="4422443"/>
            <a:ext cx="17811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오분류 382건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45251" y="4422443"/>
            <a:ext cx="35603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확신도 0.9 이상 145건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1700" y="4838613"/>
            <a:ext cx="10388601" cy="9525"/>
          </a:xfrm>
          <a:prstGeom prst="rect">
            <a:avLst/>
          </a:prstGeom>
          <a:solidFill>
            <a:srgbClr val="CFDCC5"/>
          </a:solidFill>
          <a:ln/>
        </p:spPr>
      </p:sp>
      <p:sp>
        <p:nvSpPr>
          <p:cNvPr id="24" name="Text 22"/>
          <p:cNvSpPr/>
          <p:nvPr/>
        </p:nvSpPr>
        <p:spPr>
          <a:xfrm>
            <a:off x="901700" y="5051828"/>
            <a:ext cx="266521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합계 204건 전수 육안 확인</a:t>
            </a:r>
            <a:endParaRPr lang="en-US" sz="1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0383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어떤 사진이었나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40383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모두 clothes 폴더에 들어 있던 파일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95425"/>
            <a:ext cx="5156200" cy="4943475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1200" y="1779588"/>
            <a:ext cx="4953000" cy="43751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94400" y="1495425"/>
            <a:ext cx="5588000" cy="2251075"/>
          </a:xfrm>
          <a:prstGeom prst="roundRect">
            <a:avLst>
              <a:gd name="adj" fmla="val 5924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81802" y="1711325"/>
            <a:ext cx="172935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315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46장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8267105" y="2187575"/>
            <a:ext cx="18440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정정한 라벨 수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7450" y="2568575"/>
            <a:ext cx="5041900" cy="9525"/>
          </a:xfrm>
          <a:prstGeom prst="rect">
            <a:avLst/>
          </a:prstGeom>
          <a:solidFill>
            <a:srgbClr val="CFDCC5"/>
          </a:solidFill>
          <a:ln/>
        </p:spPr>
      </p:sp>
      <p:sp>
        <p:nvSpPr>
          <p:cNvPr id="12" name="Text 9"/>
          <p:cNvSpPr/>
          <p:nvPr/>
        </p:nvSpPr>
        <p:spPr>
          <a:xfrm>
            <a:off x="7989689" y="2673350"/>
            <a:ext cx="17571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clothes → shoes 43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37215" y="2978150"/>
            <a:ext cx="16524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shoes → clothes 1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85956" y="3282950"/>
            <a:ext cx="10809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색상 · 재질 2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994400" y="3937000"/>
            <a:ext cx="5588000" cy="2501900"/>
          </a:xfrm>
          <a:prstGeom prst="roundRect">
            <a:avLst>
              <a:gd name="adj" fmla="val 5330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7450" y="4473377"/>
            <a:ext cx="55460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중요한가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267450" y="4892477"/>
            <a:ext cx="5193157" cy="635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모델이 clothes 를 shoes 로 </a:t>
            </a:r>
            <a:r>
              <a:rPr lang="en-US" sz="1425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틀렸을</a:t>
            </a: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때</a:t>
            </a:r>
          </a:p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모델의 실수가 아니라 정답이 잘못돼 </a:t>
            </a:r>
            <a:r>
              <a:rPr lang="en-US" sz="1425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있던</a:t>
            </a: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것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6267450" y="5603875"/>
            <a:ext cx="5193157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모델을 개선해도 줄지 </a:t>
            </a:r>
            <a:r>
              <a:rPr lang="en-US" sz="1425" b="1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않던</a:t>
            </a:r>
            <a:r>
              <a:rPr lang="en-US" sz="1425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25" b="1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이유</a:t>
            </a:r>
            <a:endParaRPr lang="en-US" sz="1425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73146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정제 결과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47314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파일을 옮기거나 지우지 않고 manifest 한 장으로 관리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57325"/>
            <a:ext cx="2382738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4790" y="1616075"/>
            <a:ext cx="100845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15,515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51992" y="2003425"/>
            <a:ext cx="37415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3106638" y="1457325"/>
            <a:ext cx="304800" cy="1073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C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49538" y="1457325"/>
            <a:ext cx="2382838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0027" y="1616075"/>
            <a:ext cx="6779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− 31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91930" y="2003425"/>
            <a:ext cx="37415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제외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5946676" y="1457325"/>
            <a:ext cx="304800" cy="1073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C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89576" y="1457325"/>
            <a:ext cx="2382738" cy="1035050"/>
          </a:xfrm>
          <a:prstGeom prst="roundRect">
            <a:avLst>
              <a:gd name="adj" fmla="val 12883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14766" y="1616075"/>
            <a:ext cx="100845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15,484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331968" y="2003425"/>
            <a:ext cx="37415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8786614" y="1457325"/>
            <a:ext cx="2795786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4746" y="1616075"/>
            <a:ext cx="695722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863833" y="2098675"/>
            <a:ext cx="717451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라벨 정정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609600" y="2644775"/>
            <a:ext cx="10972800" cy="2843610"/>
          </a:xfrm>
          <a:prstGeom prst="roundRect">
            <a:avLst>
              <a:gd name="adj" fmla="val 4020"/>
            </a:avLst>
          </a:prstGeom>
          <a:ln w="6350">
            <a:solidFill>
              <a:srgbClr val="E3EA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5950" y="2651125"/>
            <a:ext cx="10960101" cy="471785"/>
          </a:xfrm>
          <a:prstGeom prst="rect">
            <a:avLst/>
          </a:prstGeom>
          <a:solidFill>
            <a:srgbClr val="F0F3EC"/>
          </a:solidFill>
          <a:ln/>
        </p:spPr>
      </p:sp>
      <p:sp>
        <p:nvSpPr>
          <p:cNvPr id="22" name="Text 20"/>
          <p:cNvSpPr/>
          <p:nvPr/>
        </p:nvSpPr>
        <p:spPr>
          <a:xfrm>
            <a:off x="844550" y="2763143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동일 중복 여분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854450" y="2763143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16장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207000" y="2763143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그룹당 1장만 유지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5950" y="3122910"/>
            <a:ext cx="10960101" cy="4718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44550" y="3235028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라벨이 충돌한 중복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854450" y="3235028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6장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207000" y="3235028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사진에 다른 라벨 → 양쪽 모두 제외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5950" y="3594795"/>
            <a:ext cx="10960101" cy="471785"/>
          </a:xfrm>
          <a:prstGeom prst="rect">
            <a:avLst/>
          </a:prstGeom>
          <a:solidFill>
            <a:srgbClr val="F0F3EC"/>
          </a:solidFill>
          <a:ln/>
        </p:spPr>
      </p:sp>
      <p:sp>
        <p:nvSpPr>
          <p:cNvPr id="30" name="Text 28"/>
          <p:cNvSpPr/>
          <p:nvPr/>
        </p:nvSpPr>
        <p:spPr>
          <a:xfrm>
            <a:off x="844550" y="3706813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애매한 경계 사례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854450" y="3706813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3장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207000" y="3706813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봐도 판단이 갈림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15950" y="4066580"/>
            <a:ext cx="10960101" cy="4718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44550" y="4178697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사진이 아닌 이미지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854450" y="4178697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6장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207000" y="4178697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클립아트 · 목업 템플릿 · 스케치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15950" y="4538464"/>
            <a:ext cx="10960101" cy="471785"/>
          </a:xfrm>
          <a:prstGeom prst="rect">
            <a:avLst/>
          </a:prstGeom>
          <a:solidFill>
            <a:srgbClr val="F0F3EC"/>
          </a:solidFill>
          <a:ln/>
        </p:spPr>
      </p:sp>
      <p:sp>
        <p:nvSpPr>
          <p:cNvPr id="38" name="Text 36"/>
          <p:cNvSpPr/>
          <p:nvPr/>
        </p:nvSpPr>
        <p:spPr>
          <a:xfrm>
            <a:off x="844550" y="4650482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라벨 정정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854450" y="4650482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46장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207000" y="4650482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clothes → shoes 43, 그 외 3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15950" y="5010249"/>
            <a:ext cx="10960101" cy="4717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844550" y="5122268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근접 중복 그룹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3854450" y="5122268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25그룹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207000" y="5122268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삭제하지 않고 같은 split 에 배치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09600" y="5640785"/>
            <a:ext cx="10972800" cy="836216"/>
          </a:xfrm>
          <a:custGeom>
            <a:avLst/>
            <a:gdLst/>
            <a:ahLst/>
            <a:cxnLst/>
            <a:rect l="l" t="t" r="r" b="b"/>
            <a:pathLst>
              <a:path w="10972800" h="836216">
                <a:moveTo>
                  <a:pt x="0" y="0"/>
                </a:moveTo>
                <a:lnTo>
                  <a:pt x="10877550" y="0"/>
                </a:lnTo>
                <a:arcTo wR="95250" hR="95250" stAng="16200000" swAng="5400000"/>
                <a:lnTo>
                  <a:pt x="10972800" y="740966"/>
                </a:lnTo>
                <a:arcTo wR="95250" hR="95250" stAng="0" swAng="5400000"/>
                <a:lnTo>
                  <a:pt x="0" y="836216"/>
                </a:lnTo>
                <a:lnTo>
                  <a:pt x="0" y="0"/>
                </a:lnTo>
                <a:close/>
              </a:path>
            </a:pathLst>
          </a:custGeom>
          <a:solidFill>
            <a:srgbClr val="EDF1EA"/>
          </a:solidFill>
          <a:ln/>
        </p:spPr>
      </p:sp>
      <p:sp>
        <p:nvSpPr>
          <p:cNvPr id="46" name="Shape 44"/>
          <p:cNvSpPr/>
          <p:nvPr/>
        </p:nvSpPr>
        <p:spPr>
          <a:xfrm>
            <a:off x="609600" y="5640785"/>
            <a:ext cx="57150" cy="836216"/>
          </a:xfrm>
          <a:prstGeom prst="rect">
            <a:avLst/>
          </a:prstGeom>
          <a:solidFill>
            <a:srgbClr val="3D7A45"/>
          </a:solidFill>
          <a:ln/>
        </p:spPr>
      </p:sp>
      <p:sp>
        <p:nvSpPr>
          <p:cNvPr id="47" name="Text 45"/>
          <p:cNvSpPr/>
          <p:nvPr/>
        </p:nvSpPr>
        <p:spPr>
          <a:xfrm>
            <a:off x="876300" y="5793185"/>
            <a:ext cx="990600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방식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707356" y="5793185"/>
            <a:ext cx="9955459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manifest.csv 한 장 — filepath · orig_label · final_label · group_id · status · reason. 파일 미이동 → </a:t>
            </a:r>
            <a:r>
              <a:rPr lang="en-US" sz="13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언제든 </a:t>
            </a:r>
            <a:r>
              <a:rPr lang="en-US" sz="1350" b="1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복원</a:t>
            </a:r>
            <a:r>
              <a:rPr lang="en-US" sz="13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b="1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가능</a:t>
            </a:r>
            <a:r>
              <a:rPr lang="en-US" sz="13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50" b="1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</a:t>
            </a:r>
            <a:r>
              <a:rPr lang="en-US" sz="13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b="1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남음</a:t>
            </a:r>
            <a:endParaRPr lang="en-US" sz="135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507023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50702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사진이 train·test 로 갈라지면 시험 문제를 미리 본 셈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595735"/>
            <a:ext cx="10972800" cy="322401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600" y="5148660"/>
            <a:ext cx="5372100" cy="1290241"/>
          </a:xfrm>
          <a:prstGeom prst="roundRect">
            <a:avLst>
              <a:gd name="adj" fmla="val 10335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3600" y="5345510"/>
            <a:ext cx="535051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MD5 로는 근접 중복 미탐지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3600" y="5710635"/>
            <a:ext cx="5010023" cy="854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바이트 1비트만 달라도 다른 </a:t>
            </a: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파일로</a:t>
            </a: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인식</a:t>
            </a:r>
            <a:endParaRPr lang="en-US" sz="1350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리사이즈·재저장만으로 해시가 </a:t>
            </a:r>
            <a:r>
              <a:rPr lang="en-US" sz="1350" b="1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완전히</a:t>
            </a:r>
            <a:r>
              <a:rPr lang="en-US" sz="1350" b="1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b="1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</a:t>
            </a:r>
            <a:endParaRPr lang="en-US" sz="1350" b="1" dirty="0"/>
          </a:p>
        </p:txBody>
      </p:sp>
      <p:sp>
        <p:nvSpPr>
          <p:cNvPr id="10" name="Shape 7"/>
          <p:cNvSpPr/>
          <p:nvPr/>
        </p:nvSpPr>
        <p:spPr>
          <a:xfrm>
            <a:off x="6210300" y="5148660"/>
            <a:ext cx="5372100" cy="1290241"/>
          </a:xfrm>
          <a:prstGeom prst="roundRect">
            <a:avLst>
              <a:gd name="adj" fmla="val 10335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300" y="5345510"/>
            <a:ext cx="535051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분할 70 / 15 / 15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64300" y="573921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10,832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64300" y="6005910"/>
            <a:ext cx="77539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7506395" y="5739210"/>
            <a:ext cx="6482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2,318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506395" y="6005910"/>
            <a:ext cx="64829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8421390" y="5739210"/>
            <a:ext cx="6482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2,334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421390" y="6005910"/>
            <a:ext cx="64829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764999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비교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7649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베이스라인 CNN vs 전이학습(freeze/unfreeze) — 128px, 검증셋(val) macro-F1 기준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76375"/>
            <a:ext cx="6311900" cy="4277717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1700" y="2261096"/>
            <a:ext cx="630047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38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macro-F1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901700" y="2692896"/>
            <a:ext cx="1864946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만든 CNN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959277" y="2705596"/>
            <a:ext cx="7463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0.6521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901700" y="3038971"/>
            <a:ext cx="5727700" cy="247650"/>
          </a:xfrm>
          <a:prstGeom prst="roundRect">
            <a:avLst>
              <a:gd name="adj" fmla="val 19231"/>
            </a:avLst>
          </a:prstGeom>
          <a:solidFill>
            <a:srgbClr val="EDF1EA"/>
          </a:solidFill>
          <a:ln/>
        </p:spPr>
      </p:sp>
      <p:sp>
        <p:nvSpPr>
          <p:cNvPr id="11" name="Shape 9"/>
          <p:cNvSpPr/>
          <p:nvPr/>
        </p:nvSpPr>
        <p:spPr>
          <a:xfrm>
            <a:off x="901700" y="3038971"/>
            <a:ext cx="3734395" cy="247650"/>
          </a:xfrm>
          <a:prstGeom prst="roundRect">
            <a:avLst>
              <a:gd name="adj" fmla="val 19231"/>
            </a:avLst>
          </a:prstGeom>
          <a:solidFill>
            <a:srgbClr val="A8CE7E"/>
          </a:solidFill>
          <a:ln/>
        </p:spPr>
      </p:sp>
      <p:sp>
        <p:nvSpPr>
          <p:cNvPr id="12" name="Text 10"/>
          <p:cNvSpPr/>
          <p:nvPr/>
        </p:nvSpPr>
        <p:spPr>
          <a:xfrm>
            <a:off x="901700" y="3534271"/>
            <a:ext cx="248120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EfficientNetV2-S </a:t>
            </a:r>
            <a:r>
              <a:rPr lang="en-US" sz="142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(백본 동결)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959277" y="3546971"/>
            <a:ext cx="7463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0.8089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901700" y="3880346"/>
            <a:ext cx="5727700" cy="247650"/>
          </a:xfrm>
          <a:prstGeom prst="roundRect">
            <a:avLst>
              <a:gd name="adj" fmla="val 19231"/>
            </a:avLst>
          </a:prstGeom>
          <a:solidFill>
            <a:srgbClr val="EDF1EA"/>
          </a:solidFill>
          <a:ln/>
        </p:spPr>
      </p:sp>
      <p:sp>
        <p:nvSpPr>
          <p:cNvPr id="15" name="Shape 13"/>
          <p:cNvSpPr/>
          <p:nvPr/>
        </p:nvSpPr>
        <p:spPr>
          <a:xfrm>
            <a:off x="901700" y="3880346"/>
            <a:ext cx="4633615" cy="247650"/>
          </a:xfrm>
          <a:prstGeom prst="roundRect">
            <a:avLst>
              <a:gd name="adj" fmla="val 19231"/>
            </a:avLst>
          </a:prstGeom>
          <a:solidFill>
            <a:srgbClr val="5C9E5C"/>
          </a:solidFill>
          <a:ln/>
        </p:spPr>
      </p:sp>
      <p:sp>
        <p:nvSpPr>
          <p:cNvPr id="16" name="Text 14"/>
          <p:cNvSpPr/>
          <p:nvPr/>
        </p:nvSpPr>
        <p:spPr>
          <a:xfrm>
            <a:off x="901700" y="4375646"/>
            <a:ext cx="3030835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EfficientNetV2-S </a:t>
            </a:r>
            <a:r>
              <a:rPr lang="en-US" sz="142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(224px 미세조정)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959277" y="4388346"/>
            <a:ext cx="7463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0.9840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901700" y="4721721"/>
            <a:ext cx="5727700" cy="247650"/>
          </a:xfrm>
          <a:prstGeom prst="roundRect">
            <a:avLst>
              <a:gd name="adj" fmla="val 19231"/>
            </a:avLst>
          </a:prstGeom>
          <a:solidFill>
            <a:srgbClr val="EDF1EA"/>
          </a:solidFill>
          <a:ln/>
        </p:spPr>
      </p:sp>
      <p:sp>
        <p:nvSpPr>
          <p:cNvPr id="19" name="Shape 17"/>
          <p:cNvSpPr/>
          <p:nvPr/>
        </p:nvSpPr>
        <p:spPr>
          <a:xfrm>
            <a:off x="901700" y="4721721"/>
            <a:ext cx="5636022" cy="247650"/>
          </a:xfrm>
          <a:prstGeom prst="roundRect">
            <a:avLst>
              <a:gd name="adj" fmla="val 19231"/>
            </a:avLst>
          </a:prstGeom>
          <a:solidFill>
            <a:srgbClr val="2A4A33"/>
          </a:solidFill>
          <a:ln/>
        </p:spPr>
      </p:sp>
      <p:sp>
        <p:nvSpPr>
          <p:cNvPr id="20" name="Shape 18"/>
          <p:cNvSpPr/>
          <p:nvPr/>
        </p:nvSpPr>
        <p:spPr>
          <a:xfrm>
            <a:off x="7150100" y="1476375"/>
            <a:ext cx="4432300" cy="4277717"/>
          </a:xfrm>
          <a:prstGeom prst="roundRect">
            <a:avLst>
              <a:gd name="adj" fmla="val 3117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23150" y="1730375"/>
            <a:ext cx="42748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전이학습의 효과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423150" y="2149475"/>
            <a:ext cx="42748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+0.32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7423150" y="2783781"/>
            <a:ext cx="42748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베이스라인 대비 val macro-F1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23150" y="3183831"/>
            <a:ext cx="4002786" cy="586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 128만 장에서 학습한 특징이 쓰레기 사진에도 그대로 적용됐다.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423150" y="3922812"/>
            <a:ext cx="3886200" cy="9525"/>
          </a:xfrm>
          <a:prstGeom prst="rect">
            <a:avLst/>
          </a:prstGeom>
          <a:solidFill>
            <a:srgbClr val="CFDCC5"/>
          </a:solidFill>
          <a:ln/>
        </p:spPr>
      </p:sp>
      <p:sp>
        <p:nvSpPr>
          <p:cNvPr id="26" name="Text 24"/>
          <p:cNvSpPr/>
          <p:nvPr/>
        </p:nvSpPr>
        <p:spPr>
          <a:xfrm>
            <a:off x="7423150" y="4122837"/>
            <a:ext cx="4274820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</a:t>
            </a:r>
            <a:r>
              <a:rPr lang="ko-KR" altLang="en-US" sz="135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파라메터</a:t>
            </a:r>
            <a:r>
              <a:rPr lang="en-US" sz="135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는 </a:t>
            </a:r>
            <a:r>
              <a:rPr lang="en-US" sz="1350" b="1" dirty="0" err="1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</a:t>
            </a:r>
            <a:r>
              <a:rPr lang="en-US" sz="135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b="1" dirty="0" err="1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골랐을까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09600" y="5906492"/>
            <a:ext cx="10972800" cy="570508"/>
          </a:xfrm>
          <a:custGeom>
            <a:avLst/>
            <a:gdLst/>
            <a:ahLst/>
            <a:cxnLst/>
            <a:rect l="l" t="t" r="r" b="b"/>
            <a:pathLst>
              <a:path w="10972800" h="570508">
                <a:moveTo>
                  <a:pt x="0" y="0"/>
                </a:moveTo>
                <a:lnTo>
                  <a:pt x="10877550" y="0"/>
                </a:lnTo>
                <a:arcTo wR="95250" hR="95250" stAng="16200000" swAng="5400000"/>
                <a:lnTo>
                  <a:pt x="10972800" y="475258"/>
                </a:lnTo>
                <a:arcTo wR="95250" hR="95250" stAng="0" swAng="5400000"/>
                <a:lnTo>
                  <a:pt x="0" y="570508"/>
                </a:lnTo>
                <a:lnTo>
                  <a:pt x="0" y="0"/>
                </a:lnTo>
                <a:close/>
              </a:path>
            </a:pathLst>
          </a:custGeom>
          <a:solidFill>
            <a:srgbClr val="EDF1EA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600" y="5906492"/>
            <a:ext cx="57150" cy="570508"/>
          </a:xfrm>
          <a:prstGeom prst="rect">
            <a:avLst/>
          </a:prstGeom>
          <a:solidFill>
            <a:srgbClr val="3D7A45"/>
          </a:solidFill>
          <a:ln/>
        </p:spPr>
      </p:sp>
      <p:sp>
        <p:nvSpPr>
          <p:cNvPr id="29" name="Text 27"/>
          <p:cNvSpPr/>
          <p:nvPr/>
        </p:nvSpPr>
        <p:spPr>
          <a:xfrm>
            <a:off x="876300" y="6058892"/>
            <a:ext cx="999392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채택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707356" y="6058892"/>
            <a:ext cx="8464074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EfficientNetV2-S unfreeze · lr 5e-5 (128px 기준) — 해상도를 224px로 올리면서 학습률도 </a:t>
            </a: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다시</a:t>
            </a: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92071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시행착오에서 배운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49207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128px에서 최적이던 학습률이 224px에서는 최적이 아님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76375"/>
            <a:ext cx="5372100" cy="4962525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1700" y="1730375"/>
            <a:ext cx="52666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처음 방법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01700" y="2082800"/>
            <a:ext cx="52666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128px 기준으로 선택한 학습률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01700" y="2508250"/>
            <a:ext cx="112395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5e-5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16150" y="2482850"/>
            <a:ext cx="38207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0.9731 </a:t>
            </a:r>
            <a:r>
              <a:rPr lang="en-US" sz="1350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128px 최적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1700" y="2879481"/>
            <a:ext cx="1123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1e-4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16150" y="2879481"/>
            <a:ext cx="38207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1700" y="3257550"/>
            <a:ext cx="1123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3e-4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16150" y="3257550"/>
            <a:ext cx="38207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0.9658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1700" y="3689350"/>
            <a:ext cx="4787900" cy="9525"/>
          </a:xfrm>
          <a:prstGeom prst="rect">
            <a:avLst/>
          </a:prstGeom>
          <a:solidFill>
            <a:srgbClr val="E3EADD"/>
          </a:solidFill>
          <a:ln/>
        </p:spPr>
      </p:sp>
      <p:sp>
        <p:nvSpPr>
          <p:cNvPr id="16" name="Text 14"/>
          <p:cNvSpPr/>
          <p:nvPr/>
        </p:nvSpPr>
        <p:spPr>
          <a:xfrm>
            <a:off x="901700" y="3851275"/>
            <a:ext cx="4931537" cy="933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입력을 224px로 올린 뒤 같은 학습률(5e-5)을 </a:t>
            </a:r>
            <a:r>
              <a:rPr lang="en-US" sz="1425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그대로</a:t>
            </a: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25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</a:t>
            </a:r>
            <a:endParaRPr lang="en-US" sz="1425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val macro-F1 0.9787에 정체. 128px 최적값이 224px에서는 </a:t>
            </a:r>
            <a:r>
              <a:rPr lang="en-US" sz="1425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최적이</a:t>
            </a: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아</a:t>
            </a:r>
            <a:r>
              <a:rPr lang="ko-KR" alt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님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6210300" y="1476375"/>
            <a:ext cx="5372100" cy="4962525"/>
          </a:xfrm>
          <a:prstGeom prst="roundRect">
            <a:avLst>
              <a:gd name="adj" fmla="val 2687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2400" y="1730375"/>
            <a:ext cx="52666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고친 방법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502400" y="2082800"/>
            <a:ext cx="52666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224px에서 학습률 재탐색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02400" y="2508250"/>
            <a:ext cx="102870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1e-4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83500" y="2508250"/>
            <a:ext cx="13620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0.9840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50350" y="2482850"/>
            <a:ext cx="23539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02400" y="2879481"/>
            <a:ext cx="10287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5e-5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83500" y="2879481"/>
            <a:ext cx="13620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0.9787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50350" y="2879725"/>
            <a:ext cx="23539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128px 최적값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02400" y="3257550"/>
            <a:ext cx="10287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3e-4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83500" y="3257550"/>
            <a:ext cx="13620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0.9738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02400" y="3689350"/>
            <a:ext cx="4787900" cy="9525"/>
          </a:xfrm>
          <a:prstGeom prst="rect">
            <a:avLst/>
          </a:prstGeom>
          <a:solidFill>
            <a:srgbClr val="CFDCC5"/>
          </a:solidFill>
          <a:ln/>
        </p:spPr>
      </p:sp>
      <p:sp>
        <p:nvSpPr>
          <p:cNvPr id="29" name="Text 27"/>
          <p:cNvSpPr/>
          <p:nvPr/>
        </p:nvSpPr>
        <p:spPr>
          <a:xfrm>
            <a:off x="6502400" y="3851275"/>
            <a:ext cx="4931537" cy="635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조건이 바뀌면 하이퍼파라미터도 </a:t>
            </a:r>
            <a:r>
              <a:rPr lang="en-US" sz="1425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재선택해야</a:t>
            </a: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25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한다</a:t>
            </a:r>
            <a:endParaRPr lang="en-US" sz="1425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해상도를 바꿨으면 학습률도 다시 탐색해야 </a:t>
            </a:r>
            <a:r>
              <a:rPr lang="en-US" sz="1425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한다는</a:t>
            </a: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83864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모델을 아무리 바꿔도 안 사라진 오류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83864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정제 전 실험 6개 모델(1.ipynb)의 val 혼동행렬을 재계산 — 모델이 바뀌어도 상위권에서 안 빠짐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2028230" y="1476375"/>
            <a:ext cx="8135541" cy="50005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750014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라벨만 고쳤을 뿐인데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75001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모델·같은 설정(unfreeze, lr=5e-5, 128px)으로 라벨 정정 후 데이터만 다시 학습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2307927"/>
            <a:ext cx="5114925" cy="2196405"/>
          </a:xfrm>
          <a:prstGeom prst="roundRect">
            <a:avLst>
              <a:gd name="adj" fmla="val 607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77642" y="2580977"/>
            <a:ext cx="131335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정제 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09527" y="2936577"/>
            <a:ext cx="1666468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0.9629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2647752" y="3532783"/>
            <a:ext cx="11147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macro-F1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123480" y="3951883"/>
            <a:ext cx="229577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clothes→shoes 8건 · 1위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15025" y="3196530"/>
            <a:ext cx="4381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A8C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6467475" y="2307927"/>
            <a:ext cx="5114925" cy="2196405"/>
          </a:xfrm>
          <a:prstGeom prst="roundRect">
            <a:avLst>
              <a:gd name="adj" fmla="val 6071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33804" y="2580977"/>
            <a:ext cx="12959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라벨 정정 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67402" y="2936577"/>
            <a:ext cx="1666468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0.9731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8505627" y="3532783"/>
            <a:ext cx="11147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macro-F1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9643" y="3951883"/>
            <a:ext cx="273964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clothes→shoes 3건 · 공동 3위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600" y="4732933"/>
            <a:ext cx="10972800" cy="874316"/>
          </a:xfrm>
          <a:custGeom>
            <a:avLst/>
            <a:gdLst/>
            <a:ahLst/>
            <a:cxnLst/>
            <a:rect l="l" t="t" r="r" b="b"/>
            <a:pathLst>
              <a:path w="10972800" h="874316">
                <a:moveTo>
                  <a:pt x="0" y="0"/>
                </a:moveTo>
                <a:lnTo>
                  <a:pt x="10877550" y="0"/>
                </a:lnTo>
                <a:arcTo wR="95250" hR="95250" stAng="16200000" swAng="5400000"/>
                <a:lnTo>
                  <a:pt x="10972800" y="779066"/>
                </a:lnTo>
                <a:arcTo wR="95250" hR="95250" stAng="0" swAng="5400000"/>
                <a:lnTo>
                  <a:pt x="0" y="874316"/>
                </a:lnTo>
                <a:lnTo>
                  <a:pt x="0" y="0"/>
                </a:lnTo>
                <a:close/>
              </a:path>
            </a:pathLst>
          </a:custGeom>
          <a:solidFill>
            <a:srgbClr val="EDF1EA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4732933"/>
            <a:ext cx="57150" cy="874316"/>
          </a:xfrm>
          <a:prstGeom prst="rect">
            <a:avLst/>
          </a:prstGeom>
          <a:solidFill>
            <a:srgbClr val="3D7A45"/>
          </a:solidFill>
          <a:ln/>
        </p:spPr>
      </p:sp>
      <p:sp>
        <p:nvSpPr>
          <p:cNvPr id="19" name="Text 17"/>
          <p:cNvSpPr/>
          <p:nvPr/>
        </p:nvSpPr>
        <p:spPr>
          <a:xfrm>
            <a:off x="876300" y="4904383"/>
            <a:ext cx="3314700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모델을 조금도 바꾸지 않고 라벨만 정정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132384" y="4904383"/>
            <a:ext cx="7467931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val(2,318장) 재평가 결과, 다른 오분류 쌍보다 압도적으로 많던 clothes→shoes가 1위 자리를 내주고 공동 3위로 </a:t>
            </a: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내려</a:t>
            </a:r>
            <a:r>
              <a:rPr lang="ko-KR" alt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596027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학습률, 처음엔 잘못 골랐다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59602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4epoch 미니스윕으로 골랐던 lr이, 실제 학습 조건에서는 최하위였다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76375"/>
            <a:ext cx="5372100" cy="4962525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1700" y="1730375"/>
            <a:ext cx="52666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 · 4epoch 미니스윕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01700" y="2082800"/>
            <a:ext cx="52666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스케줄러·조기종료 없이 짧게 비교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01700" y="2482850"/>
            <a:ext cx="1123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5e-5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16150" y="2482850"/>
            <a:ext cx="38207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0.9538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1700" y="2911475"/>
            <a:ext cx="112395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1e-4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16150" y="2886075"/>
            <a:ext cx="38207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0.9629 </a:t>
            </a:r>
            <a:r>
              <a:rPr lang="en-US" sz="1350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스윕 승자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1700" y="3257550"/>
            <a:ext cx="1123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3e-4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16150" y="3257550"/>
            <a:ext cx="38207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0.9479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1700" y="3689350"/>
            <a:ext cx="4787900" cy="9525"/>
          </a:xfrm>
          <a:prstGeom prst="rect">
            <a:avLst/>
          </a:prstGeom>
          <a:solidFill>
            <a:srgbClr val="E3EADD"/>
          </a:solidFill>
          <a:ln/>
        </p:spPr>
      </p:sp>
      <p:sp>
        <p:nvSpPr>
          <p:cNvPr id="16" name="Text 14"/>
          <p:cNvSpPr/>
          <p:nvPr/>
        </p:nvSpPr>
        <p:spPr>
          <a:xfrm>
            <a:off x="901700" y="3851275"/>
            <a:ext cx="4931537" cy="617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182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lr(1e-4)로 실제 최종학습(스케줄러+조기종료 15ep)을 돌리면?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901700" y="4582716"/>
            <a:ext cx="4787900" cy="1268016"/>
          </a:xfrm>
          <a:prstGeom prst="roundRect">
            <a:avLst>
              <a:gd name="adj" fmla="val 9014"/>
            </a:avLst>
          </a:prstGeom>
          <a:solidFill>
            <a:srgbClr val="F7ECE6"/>
          </a:solidFill>
          <a:ln w="6350">
            <a:solidFill>
              <a:srgbClr val="EAD5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7600" y="4760516"/>
            <a:ext cx="47917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6epoch만에 조기종료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17600" y="5141516"/>
            <a:ext cx="4486783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macro-F1 0.9652 — 1.ipynb가 5e-5로 15epoch 완주해 얻은 0.9680보다 낮음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0300" y="1476375"/>
            <a:ext cx="5372100" cy="4962525"/>
          </a:xfrm>
          <a:prstGeom prst="roundRect">
            <a:avLst>
              <a:gd name="adj" fmla="val 2687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2400" y="1730375"/>
            <a:ext cx="52666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 · 후보 3개 전부 완전학습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502400" y="2082800"/>
            <a:ext cx="52666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scheduler+조기종료 15epoch까지 전부 완주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02400" y="2508250"/>
            <a:ext cx="112395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5e-5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816850" y="2482850"/>
            <a:ext cx="38207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0.9731 </a:t>
            </a:r>
            <a:r>
              <a:rPr lang="en-US" sz="1350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진짜 승자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02400" y="2854325"/>
            <a:ext cx="1123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3e-4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16850" y="2854325"/>
            <a:ext cx="38207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0.9658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02400" y="3282950"/>
            <a:ext cx="112395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1e-4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816850" y="3257550"/>
            <a:ext cx="38207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0.9600 </a:t>
            </a:r>
            <a:r>
              <a:rPr lang="en-US" sz="1350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(미니스윕 승자였는데 최하위)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02400" y="3657600"/>
            <a:ext cx="4787900" cy="9525"/>
          </a:xfrm>
          <a:prstGeom prst="rect">
            <a:avLst/>
          </a:prstGeom>
          <a:solidFill>
            <a:srgbClr val="CFDCC5"/>
          </a:solidFill>
          <a:ln/>
        </p:spPr>
      </p:sp>
      <p:sp>
        <p:nvSpPr>
          <p:cNvPr id="30" name="Text 28"/>
          <p:cNvSpPr/>
          <p:nvPr/>
        </p:nvSpPr>
        <p:spPr>
          <a:xfrm>
            <a:off x="6502400" y="3819525"/>
            <a:ext cx="4931537" cy="635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스케줄러·조기종료가 있는 학습에서는, 그 설정을 뺀 짧은 스윕의 순위가 실제 결과의 순위를 </a:t>
            </a:r>
            <a:r>
              <a:rPr lang="en-US" sz="1425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보장하지</a:t>
            </a:r>
            <a:r>
              <a:rPr 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않</a:t>
            </a:r>
            <a:r>
              <a:rPr lang="ko-KR" altLang="en-US" sz="142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</a:t>
            </a:r>
            <a:endParaRPr lang="en-US" sz="14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86876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결과, 얼마나 믿을 수 있나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48687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설정으로 시드 5회 반복해서 확인한 노이즈 기준선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57325"/>
            <a:ext cx="3456384" cy="1007070"/>
          </a:xfrm>
          <a:prstGeom prst="roundRect">
            <a:avLst>
              <a:gd name="adj" fmla="val 1324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550" y="1635125"/>
            <a:ext cx="3285133" cy="394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085"/>
              </a:lnSpc>
              <a:buNone/>
            </a:pPr>
            <a:r>
              <a:rPr lang="en-US" sz="2550" b="1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±0.0046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44550" y="2038945"/>
            <a:ext cx="32851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시드 5회 test macro-F1 표준편차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18384" y="1457325"/>
            <a:ext cx="3456484" cy="1007070"/>
          </a:xfrm>
          <a:prstGeom prst="roundRect">
            <a:avLst>
              <a:gd name="adj" fmla="val 1324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335" y="1635125"/>
            <a:ext cx="3285242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0.9596~0.9699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453335" y="2029420"/>
            <a:ext cx="32852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반복 test macro-F1 범위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27268" y="1457325"/>
            <a:ext cx="3755132" cy="1007070"/>
          </a:xfrm>
          <a:prstGeom prst="roundRect">
            <a:avLst>
              <a:gd name="adj" fmla="val 13241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2218" y="1635125"/>
            <a:ext cx="3613755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폭보다 작은 차이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62218" y="1979910"/>
            <a:ext cx="36137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개선이 아니라 우연일 수 있음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9600" y="2616796"/>
            <a:ext cx="10972800" cy="2871589"/>
          </a:xfrm>
          <a:prstGeom prst="roundRect">
            <a:avLst>
              <a:gd name="adj" fmla="val 3980"/>
            </a:avLst>
          </a:prstGeom>
          <a:ln w="6350">
            <a:solidFill>
              <a:srgbClr val="E3EA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5950" y="2623145"/>
            <a:ext cx="10960101" cy="714673"/>
          </a:xfrm>
          <a:prstGeom prst="rect">
            <a:avLst/>
          </a:prstGeom>
          <a:solidFill>
            <a:srgbClr val="F0F3EC"/>
          </a:solidFill>
          <a:ln/>
        </p:spPr>
      </p:sp>
      <p:sp>
        <p:nvSpPr>
          <p:cNvPr id="17" name="Text 15"/>
          <p:cNvSpPr/>
          <p:nvPr/>
        </p:nvSpPr>
        <p:spPr>
          <a:xfrm>
            <a:off x="844550" y="2856607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정제 전후 test 점수 차이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16400" y="2872482"/>
            <a:ext cx="2200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±0.001~0.003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5250" y="2856607"/>
            <a:ext cx="53924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노이즈 안(±0.0046) → 판단 불가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5950" y="3337818"/>
            <a:ext cx="10960101" cy="714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44550" y="3571379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학습률 5e-5 vs 3e-4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216400" y="3587254"/>
            <a:ext cx="2200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+0.0073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5250" y="3570883"/>
            <a:ext cx="5392420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신뢰구간이 0 포함 → 판단 불가 (5e-5 vs 1e-4는 p=0.024로 유의)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5950" y="4052590"/>
            <a:ext cx="10960101" cy="714673"/>
          </a:xfrm>
          <a:prstGeom prst="rect">
            <a:avLst/>
          </a:prstGeom>
          <a:solidFill>
            <a:srgbClr val="F0F3EC"/>
          </a:solidFill>
          <a:ln/>
        </p:spPr>
      </p:sp>
      <p:sp>
        <p:nvSpPr>
          <p:cNvPr id="25" name="Text 23"/>
          <p:cNvSpPr/>
          <p:nvPr/>
        </p:nvSpPr>
        <p:spPr>
          <a:xfrm>
            <a:off x="844550" y="4286052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224px 3lr 앙상블 vs 단일모델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216400" y="4301927"/>
            <a:ext cx="2200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45250" y="4286052"/>
            <a:ext cx="53924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노이즈보다 훨씬 작음 → 판단 불가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15950" y="4767263"/>
            <a:ext cx="10960101" cy="714772"/>
          </a:xfrm>
          <a:prstGeom prst="rect">
            <a:avLst/>
          </a:prstGeom>
          <a:solidFill>
            <a:srgbClr val="F0F6EA"/>
          </a:solidFill>
          <a:ln/>
        </p:spPr>
      </p:sp>
      <p:sp>
        <p:nvSpPr>
          <p:cNvPr id="29" name="Text 27"/>
          <p:cNvSpPr/>
          <p:nvPr/>
        </p:nvSpPr>
        <p:spPr>
          <a:xfrm>
            <a:off x="844550" y="5000824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clothes→shoes 오분류 감소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216400" y="4984949"/>
            <a:ext cx="22002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20건대 → 2~4건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45250" y="5000327"/>
            <a:ext cx="5392420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노이즈보다 훨씬 큼 · 3번의 독립 실행 모두 재현 → 진짜 효과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09600" y="5640785"/>
            <a:ext cx="10972800" cy="836216"/>
          </a:xfrm>
          <a:custGeom>
            <a:avLst/>
            <a:gdLst/>
            <a:ahLst/>
            <a:cxnLst/>
            <a:rect l="l" t="t" r="r" b="b"/>
            <a:pathLst>
              <a:path w="10972800" h="836216">
                <a:moveTo>
                  <a:pt x="0" y="0"/>
                </a:moveTo>
                <a:lnTo>
                  <a:pt x="10877550" y="0"/>
                </a:lnTo>
                <a:arcTo wR="95250" hR="95250" stAng="16200000" swAng="5400000"/>
                <a:lnTo>
                  <a:pt x="10972800" y="740966"/>
                </a:lnTo>
                <a:arcTo wR="95250" hR="95250" stAng="0" swAng="5400000"/>
                <a:lnTo>
                  <a:pt x="0" y="836216"/>
                </a:lnTo>
                <a:lnTo>
                  <a:pt x="0" y="0"/>
                </a:lnTo>
                <a:close/>
              </a:path>
            </a:pathLst>
          </a:custGeom>
          <a:solidFill>
            <a:srgbClr val="EDF1EA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600" y="5640785"/>
            <a:ext cx="57150" cy="836216"/>
          </a:xfrm>
          <a:prstGeom prst="rect">
            <a:avLst/>
          </a:prstGeom>
          <a:solidFill>
            <a:srgbClr val="3D7A45"/>
          </a:solidFill>
          <a:ln/>
        </p:spPr>
      </p:sp>
      <p:sp>
        <p:nvSpPr>
          <p:cNvPr id="34" name="Text 32"/>
          <p:cNvSpPr/>
          <p:nvPr/>
        </p:nvSpPr>
        <p:spPr>
          <a:xfrm>
            <a:off x="876300" y="5793185"/>
            <a:ext cx="1433413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최종 결론은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2385913" y="5793185"/>
            <a:ext cx="9256545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‘정확도가 올랐다’가 아니라 ‘오분류 패턴이 라벨오류성에서 재질혼동성으로 </a:t>
            </a: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바뀌었다’는</a:t>
            </a: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것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숫자보다</a:t>
            </a: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패턴 변화가 더 믿을 수 </a:t>
            </a: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있는</a:t>
            </a: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1179</Words>
  <Application>Microsoft Office PowerPoint</Application>
  <PresentationFormat>와이드스크린</PresentationFormat>
  <Paragraphs>233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KDS10</cp:lastModifiedBy>
  <cp:revision>14</cp:revision>
  <dcterms:created xsi:type="dcterms:W3CDTF">2026-09-07T15:45:03Z</dcterms:created>
  <dcterms:modified xsi:type="dcterms:W3CDTF">2026-09-07T23:55:30Z</dcterms:modified>
</cp:coreProperties>
</file>