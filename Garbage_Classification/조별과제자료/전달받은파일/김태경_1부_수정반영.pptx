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3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5" r:id="rId9"/>
    <p:sldId id="264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이미지 수</c:v>
                </c:pt>
              </c:strCache>
            </c:strRef>
          </c:tx>
          <c:spPr>
            <a:solidFill>
              <a:srgbClr val="C156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27-4395-BB84-62EE4AA79A04}"/>
              </c:ext>
            </c:extLst>
          </c:dPt>
          <c:dPt>
            <c:idx val="1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27-4395-BB84-62EE4AA79A04}"/>
              </c:ext>
            </c:extLst>
          </c:dPt>
          <c:dPt>
            <c:idx val="2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27-4395-BB84-62EE4AA79A04}"/>
              </c:ext>
            </c:extLst>
          </c:dPt>
          <c:dPt>
            <c:idx val="3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D27-4395-BB84-62EE4AA79A04}"/>
              </c:ext>
            </c:extLst>
          </c:dPt>
          <c:dPt>
            <c:idx val="4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D27-4395-BB84-62EE4AA79A04}"/>
              </c:ext>
            </c:extLst>
          </c:dPt>
          <c:dPt>
            <c:idx val="5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D27-4395-BB84-62EE4AA79A04}"/>
              </c:ext>
            </c:extLst>
          </c:dPt>
          <c:dPt>
            <c:idx val="6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D27-4395-BB84-62EE4AA79A04}"/>
              </c:ext>
            </c:extLst>
          </c:dPt>
          <c:dPt>
            <c:idx val="7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D27-4395-BB84-62EE4AA79A04}"/>
              </c:ext>
            </c:extLst>
          </c:dPt>
          <c:dPt>
            <c:idx val="8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D27-4395-BB84-62EE4AA79A04}"/>
              </c:ext>
            </c:extLst>
          </c:dPt>
          <c:dPt>
            <c:idx val="9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D27-4395-BB84-62EE4AA79A04}"/>
              </c:ext>
            </c:extLst>
          </c:dPt>
          <c:dPt>
            <c:idx val="10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D27-4395-BB84-62EE4AA79A04}"/>
              </c:ext>
            </c:extLst>
          </c:dPt>
          <c:dPt>
            <c:idx val="11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D27-4395-BB84-62EE4AA79A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660"/>
                    </a:solidFill>
                    <a:latin typeface="Noto Sans CJK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clothes</c:v>
                </c:pt>
                <c:pt idx="1">
                  <c:v>shoes</c:v>
                </c:pt>
                <c:pt idx="2">
                  <c:v>paper</c:v>
                </c:pt>
                <c:pt idx="3">
                  <c:v>biological</c:v>
                </c:pt>
                <c:pt idx="4">
                  <c:v>battery</c:v>
                </c:pt>
                <c:pt idx="5">
                  <c:v>cardboard</c:v>
                </c:pt>
                <c:pt idx="6">
                  <c:v>plastic</c:v>
                </c:pt>
                <c:pt idx="7">
                  <c:v>white-glass</c:v>
                </c:pt>
                <c:pt idx="8">
                  <c:v>metal</c:v>
                </c:pt>
                <c:pt idx="9">
                  <c:v>trash</c:v>
                </c:pt>
                <c:pt idx="10">
                  <c:v>green-glass</c:v>
                </c:pt>
                <c:pt idx="11">
                  <c:v>brown-glass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D27-4395-BB84-62EE4AA79A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63F"/>
                </a:solidFill>
                <a:latin typeface="Noto Sans CJK KR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b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9F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macro-F1</c:v>
                </c:pt>
              </c:strCache>
            </c:strRef>
          </c:tx>
          <c:spPr>
            <a:solidFill>
              <a:srgbClr val="8FA6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54-4861-9A16-126CE29655A8}"/>
              </c:ext>
            </c:extLst>
          </c:dPt>
          <c:dPt>
            <c:idx val="1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54-4861-9A16-126CE29655A8}"/>
              </c:ext>
            </c:extLst>
          </c:dPt>
          <c:dPt>
            <c:idx val="2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54-4861-9A16-126CE29655A8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3B463F"/>
                    </a:solidFill>
                    <a:latin typeface="Noto Sans CJK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직접 만든 CNN</c:v>
                </c:pt>
                <c:pt idx="1">
                  <c:v>EfficientNetV2-S
(백본 동결)</c:v>
                </c:pt>
                <c:pt idx="2">
                  <c:v>EfficientNetV2-S
(224px 미세조정)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0.65210000000000001</c:v>
                </c:pt>
                <c:pt idx="1">
                  <c:v>0.80889999999999995</c:v>
                </c:pt>
                <c:pt idx="2">
                  <c:v>0.98399999999999999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54-4861-9A16-126CE29655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63F"/>
                </a:solidFill>
                <a:latin typeface="Noto Sans CJK KR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9F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463F"/>
                </a:solidFill>
                <a:latin typeface="Noto Sans CJK KR"/>
              </a:defRPr>
            </a:pPr>
            <a:r>
              <a:rPr sz="1300" b="0" i="0" u="none" strike="noStrike">
                <a:solidFill>
                  <a:srgbClr val="3B463F"/>
                </a:solidFill>
                <a:latin typeface="Noto Sans CJK KR"/>
              </a:rPr>
              <a:t>클래스별 F1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C156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A3-41F4-9C59-1A98166443B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5A3-41F4-9C59-1A98166443BC}"/>
              </c:ext>
            </c:extLst>
          </c:dPt>
          <c:dPt>
            <c:idx val="2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A3-41F4-9C59-1A98166443BC}"/>
              </c:ext>
            </c:extLst>
          </c:dPt>
          <c:dPt>
            <c:idx val="3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A3-41F4-9C59-1A98166443BC}"/>
              </c:ext>
            </c:extLst>
          </c:dPt>
          <c:dPt>
            <c:idx val="4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A3-41F4-9C59-1A98166443BC}"/>
              </c:ext>
            </c:extLst>
          </c:dPt>
          <c:dPt>
            <c:idx val="5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5A3-41F4-9C59-1A98166443BC}"/>
              </c:ext>
            </c:extLst>
          </c:dPt>
          <c:dPt>
            <c:idx val="6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5A3-41F4-9C59-1A98166443BC}"/>
              </c:ext>
            </c:extLst>
          </c:dPt>
          <c:dPt>
            <c:idx val="7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5A3-41F4-9C59-1A98166443BC}"/>
              </c:ext>
            </c:extLst>
          </c:dPt>
          <c:dPt>
            <c:idx val="8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5A3-41F4-9C59-1A98166443BC}"/>
              </c:ext>
            </c:extLst>
          </c:dPt>
          <c:dPt>
            <c:idx val="9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5A3-41F4-9C59-1A98166443BC}"/>
              </c:ext>
            </c:extLst>
          </c:dPt>
          <c:dPt>
            <c:idx val="10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5A3-41F4-9C59-1A98166443BC}"/>
              </c:ext>
            </c:extLst>
          </c:dPt>
          <c:dPt>
            <c:idx val="11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55A3-41F4-9C59-1A98166443BC}"/>
              </c:ext>
            </c:extLst>
          </c:dPt>
          <c:cat>
            <c:strRef>
              <c:f>Sheet1!$A$2:$A$13</c:f>
              <c:strCache>
                <c:ptCount val="12"/>
                <c:pt idx="0">
                  <c:v>plastic</c:v>
                </c:pt>
                <c:pt idx="1">
                  <c:v>white-glass</c:v>
                </c:pt>
                <c:pt idx="2">
                  <c:v>metal</c:v>
                </c:pt>
                <c:pt idx="3">
                  <c:v>trash</c:v>
                </c:pt>
                <c:pt idx="4">
                  <c:v>cardboard</c:v>
                </c:pt>
                <c:pt idx="5">
                  <c:v>brown-glass</c:v>
                </c:pt>
                <c:pt idx="6">
                  <c:v>battery</c:v>
                </c:pt>
                <c:pt idx="7">
                  <c:v>green-glass</c:v>
                </c:pt>
                <c:pt idx="8">
                  <c:v>biological</c:v>
                </c:pt>
                <c:pt idx="9">
                  <c:v>paper</c:v>
                </c:pt>
                <c:pt idx="10">
                  <c:v>shoes</c:v>
                </c:pt>
                <c:pt idx="11">
                  <c:v>clothes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0.93179999999999996</c:v>
                </c:pt>
                <c:pt idx="1">
                  <c:v>0.94779999999999998</c:v>
                </c:pt>
                <c:pt idx="2">
                  <c:v>0.97070000000000001</c:v>
                </c:pt>
                <c:pt idx="3">
                  <c:v>0.98099999999999998</c:v>
                </c:pt>
                <c:pt idx="4">
                  <c:v>0.98109999999999997</c:v>
                </c:pt>
                <c:pt idx="5">
                  <c:v>0.98380000000000001</c:v>
                </c:pt>
                <c:pt idx="6">
                  <c:v>0.98599999999999999</c:v>
                </c:pt>
                <c:pt idx="7">
                  <c:v>0.98909999999999998</c:v>
                </c:pt>
                <c:pt idx="8">
                  <c:v>0.99</c:v>
                </c:pt>
                <c:pt idx="9">
                  <c:v>0.99039999999999995</c:v>
                </c:pt>
                <c:pt idx="10">
                  <c:v>0.99339999999999995</c:v>
                </c:pt>
                <c:pt idx="11">
                  <c:v>0.99939999999999996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55A3-41F4-9C59-1A9816644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63F"/>
                </a:solidFill>
                <a:latin typeface="Noto Sans CJK KR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79F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35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15분 발표, 3인 분담. 이 프로젝트의 핵심 메시지는 '모델보다 데이터 품질이 먼저였다'입니다.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파트별 5분씩. 세 파트가 '문제 발견 → 해결 → 검증'으로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 전체를 한 장으로 보여주고, 앞쪽 절반이 데이터 품질이라는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소개하되, 마지막 항목(중복·라벨 오류)이 이 발표의 핵심 축임을 미리 던져둡니다.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clothes 하나가 전체의 3분의 1입니다. 이 숫자가 다음 슬라이드의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'왜 macro-F1인가'의 답입니다. 유비가 아니라 우리 데이터에서 직접 측정한 반례라는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색이 정답 신호이므로 증강에서 색상을 흔들면 정답을 지우는 셈입니다. 감이 아니라 측정해서 정했다는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색이 정답 신호이므로 증강에서 색상을 흔들면 정답을 지우는 셈입니다. 감이 아니라 측정해서 정했다는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32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슬라이드의 판단을 통계로 뒷받침하는 자리입니다. 표준편차 16배는 사실상 겹치지 않는다는 뜻이라고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항목 모두 '감이 아니라 측정해서 정했다'는 점이 중요합니다. 특히 P 모드 34장은 실제로 세어본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김태경 → 이현중.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오탐 7그룹은 서로 다른 칫솔 제품이었습니다. 알고리즘은 후보만 좁히고 최종 판단은 사람이 했다는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진짜 중복, 오른쪽은 오탐입니다. 알고리즘은 후보만 좁히고 최종 판단은 사람이 했다는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204건 = held-out 59 + train OOF 145. 모델이 데이터를 검사한다는 발상이 이 파트의 하이라이트입니다.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사진을 먼저 보여주고 설명하세요. 말로 백 번 설명하는 것보다 이 한 장이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파일을 건드리지 않았기 때문에 언제든 되돌릴 수 있고, 어떤 파일을 왜 뺐는지 근거가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'시험 문제를 미리 본 셈'이라는 비유로 설명하세요. 왼쪽이 흔히 하는 방식, 오른쪽이 우리가 쓴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CNN 0.65에서 224px 미세조정 0.98로 뜁니다. '왜 lr 1e-4인가'는 다음 슬라이드로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않고 방법론을 고쳤다는 점이 이 슬라이드의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않고 방법론을 고쳤다는 점이 이 슬라이드의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이현중 → 박병찬.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0.9859보다 macro-F1 0.9787을 앞세워 말하세요. 앞에서 지표를 정한 근거와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6에서 말한 '정확도가 소수 클래스 실패를 가린다'가 최종 모델에서도 통계적으로 확인됐다는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대각선이 진하다는 것부터 말하고, 남은 오분류가 어디에 몰려 있는지로 넘어가세요.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혼동행렬의 숫자 9건을 사진으로 바꿔 보여주는 자리입니다. 왼쪽 위 한 장만 짚어도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단계의 기술통계가 모델링 단계의 실패를 예측했다는 점이 이 슬라이드의 하이라이트입니다.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확신도 분포가 갈린다는 사실이 '자신 없으면 사람에게 넘긴다'는 규칙을 가능하게 합니다. 다음 파트로 자연스럽게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정직하게 보고하는 자리입니다. '기법이 통했다'보다 '적용할 여지가 없음을 확인했다'가 방법론적으로 더 값어치 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0.3% 라는 비율을 사진 여덟 장으로 바꿔 보여줍니다. 기저귀 한 장을 짚으면 라벨 오류까지 걸러냈다는 이야기로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한 문장과 한계를 함께 보여주고 끝냅니다. '뭘 했다'가 아니라 '뭘 했고 뭘 못 했는지 안다'로 마무리하세요.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5C9E5C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A8CE7E">
              <a:alpha val="3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KDT-17  3rd Team Project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쓰레기 이미지 12종 분류</a:t>
            </a:r>
            <a:endParaRPr lang="en-US" sz="5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데이터 품질에서 시작한 딥러닝 이미지 분류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463040" cy="32004"/>
          </a:xfrm>
          <a:prstGeom prst="rect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3조  (김이박)</a:t>
            </a:r>
            <a:endParaRPr lang="en-US" sz="1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팀장  이현중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팀원  김태경 · 박병찬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발표 구성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15분 · 3인 분담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96112" y="1874520"/>
            <a:ext cx="457200" cy="457200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961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1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4630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김태경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4630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데이터 이해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9611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원본 데이터 현황과 클래스 불균형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이미지 품질 점검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정확도만 보면 안 되는 이유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9611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5분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99432" y="1874520"/>
            <a:ext cx="457200" cy="457200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994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2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1663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이현중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16636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정제와 모델링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59943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중복 이미지 3단계 탐지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라벨 오류 진단과 정정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모델 비교와 하이퍼파라미터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59943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5분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302752" y="1874520"/>
            <a:ext cx="457200" cy="457200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30275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696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박병찬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8696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평가와 해석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30275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최종 성능과 클래스별 분석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오분류 패턴이 말하는 것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가설검정 · 운영 임계값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30275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5분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1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전체 파이프라인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네 단계 중 앞의 절반이 데이터 품질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Image 0" descr="/home/claude/deck/img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10881360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617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32688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데이터 품질 단계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32688" y="5084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원본을 그대로 학습에 투입하지 않음. 중복·라벨 오류를 먼저 탐지하고 근거를 문서화.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17920" y="4617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510528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모델링·검증 단계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510528" y="5084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정제 데이터 위에서 모델 비교 · 성능 수치의 신뢰성을 통계로 검증.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2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데이터 현황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재활용 쓰레기 사진을 12개 클래스로 자동 분류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65255" y="2044417"/>
            <a:ext cx="4019609" cy="35136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465255" y="159395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눈에 보이는 문제점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061442E3-1386-7B8A-D2E5-79FD1D8AE2EB}"/>
              </a:ext>
            </a:extLst>
          </p:cNvPr>
          <p:cNvSpPr txBox="1"/>
          <p:nvPr/>
        </p:nvSpPr>
        <p:spPr>
          <a:xfrm>
            <a:off x="7711440" y="2237157"/>
            <a:ext cx="1585943" cy="29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① </a:t>
            </a:r>
            <a:r>
              <a:rPr lang="en-US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</a:t>
            </a:r>
            <a:r>
              <a:rPr 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불균형</a:t>
            </a:r>
            <a:endParaRPr lang="en-US" sz="1400" b="1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2BF27F1-55D5-AD5D-476A-444195486BA5}"/>
              </a:ext>
            </a:extLst>
          </p:cNvPr>
          <p:cNvSpPr txBox="1"/>
          <p:nvPr/>
        </p:nvSpPr>
        <p:spPr>
          <a:xfrm>
            <a:off x="7975210" y="4273568"/>
            <a:ext cx="3097237" cy="83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white,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green,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brown-glass</a:t>
            </a: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	→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형태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동일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,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색만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상이</a:t>
            </a:r>
            <a:endParaRPr lang="en-US" altLang="ko-KR" sz="14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b="1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9942DE0-582C-9301-F6E8-0101F875BA4B}"/>
              </a:ext>
            </a:extLst>
          </p:cNvPr>
          <p:cNvSpPr/>
          <p:nvPr/>
        </p:nvSpPr>
        <p:spPr>
          <a:xfrm>
            <a:off x="410308" y="1714199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Clothes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34.1 %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BD5FAF2-7C76-5124-5555-8B4CF96B71DC}"/>
              </a:ext>
            </a:extLst>
          </p:cNvPr>
          <p:cNvSpPr/>
          <p:nvPr/>
        </p:nvSpPr>
        <p:spPr>
          <a:xfrm>
            <a:off x="2525151" y="1714199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shoes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13.0 %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0BAAE64-6E79-3320-FE0A-926F20C2A9CE}"/>
              </a:ext>
            </a:extLst>
          </p:cNvPr>
          <p:cNvSpPr/>
          <p:nvPr/>
        </p:nvSpPr>
        <p:spPr>
          <a:xfrm>
            <a:off x="4642605" y="1714198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paper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6.8 %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576723-5C4D-21A5-F298-30023D35DE0C}"/>
              </a:ext>
            </a:extLst>
          </p:cNvPr>
          <p:cNvSpPr/>
          <p:nvPr/>
        </p:nvSpPr>
        <p:spPr>
          <a:xfrm>
            <a:off x="410308" y="2647071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biological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6.3 %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2404763-E06D-B918-0976-1BA77CA87EDD}"/>
              </a:ext>
            </a:extLst>
          </p:cNvPr>
          <p:cNvSpPr/>
          <p:nvPr/>
        </p:nvSpPr>
        <p:spPr>
          <a:xfrm>
            <a:off x="2525151" y="2647071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battery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6.1 %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8AEA459-744E-2F3C-7B24-F8CEAA6F41BA}"/>
              </a:ext>
            </a:extLst>
          </p:cNvPr>
          <p:cNvSpPr/>
          <p:nvPr/>
        </p:nvSpPr>
        <p:spPr>
          <a:xfrm>
            <a:off x="4642605" y="2647070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cardboard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5.8 %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DB9AFFD-EEB4-1A20-69F9-8FFC6A0FC02A}"/>
              </a:ext>
            </a:extLst>
          </p:cNvPr>
          <p:cNvSpPr/>
          <p:nvPr/>
        </p:nvSpPr>
        <p:spPr>
          <a:xfrm>
            <a:off x="410308" y="3579944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plastic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5.6 %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3706F36-23FD-AD45-228E-F603B5545394}"/>
              </a:ext>
            </a:extLst>
          </p:cNvPr>
          <p:cNvSpPr/>
          <p:nvPr/>
        </p:nvSpPr>
        <p:spPr>
          <a:xfrm>
            <a:off x="2525151" y="3579944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white-glass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5.0 %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FFE026F-16DF-0EBD-BE9F-E2D46CE53FE9}"/>
              </a:ext>
            </a:extLst>
          </p:cNvPr>
          <p:cNvSpPr/>
          <p:nvPr/>
        </p:nvSpPr>
        <p:spPr>
          <a:xfrm>
            <a:off x="4642605" y="3579943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metal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5.0 %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CCD0E7-3483-35A2-8E44-4B9B80639E8F}"/>
              </a:ext>
            </a:extLst>
          </p:cNvPr>
          <p:cNvSpPr/>
          <p:nvPr/>
        </p:nvSpPr>
        <p:spPr>
          <a:xfrm>
            <a:off x="410308" y="4512816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trash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4.5 %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FDA3E88-F8F8-3930-1F95-9B94D01ACA48}"/>
              </a:ext>
            </a:extLst>
          </p:cNvPr>
          <p:cNvSpPr/>
          <p:nvPr/>
        </p:nvSpPr>
        <p:spPr>
          <a:xfrm>
            <a:off x="2525151" y="4512816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green-glass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4.0 %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001B5DB-5525-5EA1-3D3A-CCA142643F51}"/>
              </a:ext>
            </a:extLst>
          </p:cNvPr>
          <p:cNvSpPr/>
          <p:nvPr/>
        </p:nvSpPr>
        <p:spPr>
          <a:xfrm>
            <a:off x="4642605" y="4512815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brown-glass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3.9 %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FCDFECFE-1BF4-92AF-5B67-610E609F1E41}"/>
              </a:ext>
            </a:extLst>
          </p:cNvPr>
          <p:cNvSpPr txBox="1"/>
          <p:nvPr/>
        </p:nvSpPr>
        <p:spPr>
          <a:xfrm>
            <a:off x="7975210" y="2714089"/>
            <a:ext cx="2452468" cy="7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Clothes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클래스 하나가 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34.1%</a:t>
            </a: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최소 클래스의 약 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8-9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배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F8B9710-B59D-F634-E98E-160A305C30EB}"/>
              </a:ext>
            </a:extLst>
          </p:cNvPr>
          <p:cNvSpPr txBox="1"/>
          <p:nvPr/>
        </p:nvSpPr>
        <p:spPr>
          <a:xfrm>
            <a:off x="7711440" y="3786068"/>
            <a:ext cx="3097237" cy="39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② 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종 구분</a:t>
            </a:r>
            <a:endParaRPr lang="en-US" sz="14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3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눈에 보이는 문제 </a:t>
            </a:r>
            <a:r>
              <a:rPr lang="en-US" altLang="ko-KR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① : </a:t>
            </a:r>
            <a:r>
              <a:rPr lang="ko-KR" alt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클래스 불균형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클래스별 이미지 수 — 최다·최소 8.77배 차이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589028935"/>
              </p:ext>
            </p:extLst>
          </p:nvPr>
        </p:nvGraphicFramePr>
        <p:xfrm>
          <a:off x="288915" y="1586042"/>
          <a:ext cx="7189888" cy="3909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82354" y="1517904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8419514" y="17922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34.3%</a:t>
            </a:r>
            <a:endParaRPr 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9514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clothes 한 클래스가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전체에서 차지하는 비중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739554" y="3505434"/>
            <a:ext cx="2377440" cy="18288"/>
          </a:xfrm>
          <a:prstGeom prst="rect">
            <a:avLst/>
          </a:prstGeom>
          <a:solidFill>
            <a:srgbClr val="D5DE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8419514" y="37353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8.77배</a:t>
            </a:r>
            <a:endParaRPr 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419514" y="459814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최다 / 최소 클래스 비율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3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눈에 보이는 문제 </a:t>
            </a:r>
            <a:r>
              <a:rPr lang="en-US" altLang="ko-KR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① : </a:t>
            </a:r>
            <a:r>
              <a:rPr lang="ko-KR" alt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클래스 불균형</a:t>
            </a:r>
            <a:endParaRPr lang="en-US" altLang="ko-KR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정확도만 보면 안되는 이유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단순 </a:t>
            </a:r>
            <a:r>
              <a:rPr lang="en-US" sz="1300" b="1" dirty="0" err="1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기준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60120" y="2176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모든 입력을 clothes 라고만 답하는 모델</a:t>
            </a:r>
            <a:endParaRPr lang="en-US" sz="1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학습 없음 · 파라미터 0개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60120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931920" y="3794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0.3398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960120" y="4453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balanced accuracy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931920" y="4453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0.0833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60120" y="51114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macro-F1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931920" y="51114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0.0423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5532120" cy="3840480"/>
          </a:xfrm>
          <a:prstGeom prst="roundRect">
            <a:avLst>
              <a:gd name="adj" fmla="val 1905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355080" y="1965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</a:t>
            </a:r>
            <a:r>
              <a:rPr lang="en-US" sz="27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: 34%</a:t>
            </a:r>
            <a:endParaRPr lang="en-US" sz="2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macro-F1 : 0.042</a:t>
            </a:r>
            <a:endParaRPr lang="en-US" sz="2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355080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약 8배 차이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35508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다수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하나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로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만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예측 </a:t>
            </a:r>
            <a:r>
              <a:rPr lang="en-US" altLang="ko-KR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→ 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 ↑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152A45AB-3BA8-A114-9324-863BA3947DF1}"/>
              </a:ext>
            </a:extLst>
          </p:cNvPr>
          <p:cNvSpPr txBox="1"/>
          <p:nvPr/>
        </p:nvSpPr>
        <p:spPr>
          <a:xfrm>
            <a:off x="6364224" y="4981253"/>
            <a:ext cx="4937760" cy="39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목적 </a:t>
            </a:r>
            <a:r>
              <a:rPr lang="en-US" altLang="ko-KR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=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모든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종류를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고르게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맞히기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5644CFD-FF12-8311-D027-53DD963ADFD3}"/>
              </a:ext>
            </a:extLst>
          </p:cNvPr>
          <p:cNvSpPr txBox="1"/>
          <p:nvPr/>
        </p:nvSpPr>
        <p:spPr>
          <a:xfrm>
            <a:off x="6364224" y="4173416"/>
            <a:ext cx="4937760" cy="6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macro-F1 : 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모든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클래스의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F1 을 동등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가중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평균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altLang="ko-KR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              →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나머지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11개를 전부 틀리면 즉시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붕괴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.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4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눈에 보이는 문제 </a:t>
            </a:r>
            <a:r>
              <a:rPr lang="en-US" altLang="ko-KR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② : </a:t>
            </a:r>
            <a:r>
              <a:rPr lang="ko-KR" alt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색상 분류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형태가 같은 세 클래스를 가르는 단서는 색뿐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A806A9-0A22-19E9-A755-5CC0D653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704" y="1946580"/>
            <a:ext cx="2736240" cy="27362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555B80-F948-1720-712A-2A003F3E3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1914600"/>
            <a:ext cx="1680429" cy="302879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63E2847-5451-3244-1C9D-718EAB04E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169" y="2244235"/>
            <a:ext cx="3540369" cy="26552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A90095-365B-A474-B32E-B81628F0B7F9}"/>
              </a:ext>
            </a:extLst>
          </p:cNvPr>
          <p:cNvSpPr txBox="1"/>
          <p:nvPr/>
        </p:nvSpPr>
        <p:spPr>
          <a:xfrm>
            <a:off x="1507350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CJK KR"/>
                <a:ea typeface="Noto Sans CJK KR"/>
                <a:cs typeface="Noto Sans CJK KR"/>
              </a:rPr>
              <a:t>Brown-glass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3015B-3FE3-A365-3820-D857FA5A1380}"/>
              </a:ext>
            </a:extLst>
          </p:cNvPr>
          <p:cNvSpPr txBox="1"/>
          <p:nvPr/>
        </p:nvSpPr>
        <p:spPr>
          <a:xfrm>
            <a:off x="4360492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CJK KR"/>
                <a:ea typeface="Noto Sans CJK KR"/>
                <a:cs typeface="Noto Sans CJK KR"/>
              </a:rPr>
              <a:t>Green-glass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B435D6-5DC1-DEF2-8DFB-3B7E85346FA3}"/>
              </a:ext>
            </a:extLst>
          </p:cNvPr>
          <p:cNvSpPr txBox="1"/>
          <p:nvPr/>
        </p:nvSpPr>
        <p:spPr>
          <a:xfrm>
            <a:off x="8264277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CJK KR"/>
                <a:ea typeface="Noto Sans CJK KR"/>
                <a:cs typeface="Noto Sans CJK KR"/>
              </a:rPr>
              <a:t>White-glass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4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눈에 보이는 문제 </a:t>
            </a:r>
            <a:r>
              <a:rPr lang="en-US" altLang="ko-KR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② :</a:t>
            </a:r>
            <a:r>
              <a:rPr lang="en-US" altLang="ko-KR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ko-KR" alt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색상 분류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형태가 같은 세 클래스를 가르는 단서는 색뿐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Image 0" descr="/home/claude/deck/img/glass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572768"/>
            <a:ext cx="10378440" cy="3758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측정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클래스당 250장 표본 · HSV 변환 후 채도 40 미만 · 명도 30 미만 픽셀 제외 (배경·그림자 노이즈 차단)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결정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색이 정답 신호 → 증강에서 hue = 0.0 · saturation = 0.05 로 색 조작 최소화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656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5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검정 ① : 색 차이는 우연이 아닌가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겹침 계수는 기술통계 — 우연의 가능성은 설명하지 못함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가설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199339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B05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H0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세 클래스의 색상 분포 동일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H1  세 클래스의 색상 분포 상이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1554480"/>
            <a:ext cx="7406640" cy="1417320"/>
          </a:xfrm>
          <a:prstGeom prst="roundRect">
            <a:avLst>
              <a:gd name="adj" fmla="val 5161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방법 — 순열검정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389120" y="199339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라벨을 무작위로 섞어 "차이 없는 세상"을 5,000회 생성 → 그 세상에서 관측만큼의 분리가 나올 확률을 계수. 분포 가정 불필요 → 정규분포와 거리가 먼 색상값에 적합.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Image 0" descr="/home/claude/deck/img/perm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3108960"/>
            <a:ext cx="7635240" cy="273405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823960" y="3108960"/>
            <a:ext cx="2743200" cy="2734056"/>
          </a:xfrm>
          <a:prstGeom prst="roundRect">
            <a:avLst>
              <a:gd name="adj" fmla="val 290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9099452" y="3291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결론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9099452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p = 0.0002</a:t>
            </a:r>
            <a:endParaRPr lang="en-US" sz="2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9099452" y="4069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H0 기각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9099452" y="465968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유리 클래스마다 색이 다름</a:t>
            </a:r>
            <a:endParaRPr lang="en-US" sz="1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61565ED-C9A4-FBC4-2658-2A400366BE6A}"/>
              </a:ext>
            </a:extLst>
          </p:cNvPr>
          <p:cNvSpPr txBox="1"/>
          <p:nvPr/>
        </p:nvSpPr>
        <p:spPr>
          <a:xfrm>
            <a:off x="9099452" y="5162608"/>
            <a:ext cx="2084832" cy="27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→ </a:t>
            </a:r>
            <a:r>
              <a:rPr lang="en-US" sz="115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증강에서</a:t>
            </a:r>
            <a:r>
              <a:rPr 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색 </a:t>
            </a:r>
            <a:r>
              <a:rPr lang="en-US" sz="115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조작</a:t>
            </a:r>
            <a:r>
              <a:rPr 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X</a:t>
            </a:r>
            <a:endParaRPr lang="en-US" sz="1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6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이미지 품질 점검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학습 착수 전 확인 항목 4가지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915668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20985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손상 파일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32688" y="23911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0건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9397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PIL verify 전수 검사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학습 중 크래시 위험 없음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919185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537960" y="2102065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팔레트(P) 모드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37960" y="2394673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34장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60" y="2943313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채널이 3이 아니라 배치 파손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convert("RGB") 필수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288536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96012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해상도 산포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60120" y="4764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51 ~ 888px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60120" y="5312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종횡비도 제각각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resize 필요 (128 → 224)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9B8370F8-DE58-173C-65D7-6F94979278C0}"/>
              </a:ext>
            </a:extLst>
          </p:cNvPr>
          <p:cNvSpPr/>
          <p:nvPr/>
        </p:nvSpPr>
        <p:spPr>
          <a:xfrm>
            <a:off x="6217920" y="4288536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66F6A14-75A0-6D46-CFB7-F2A54B21061D}"/>
              </a:ext>
            </a:extLst>
          </p:cNvPr>
          <p:cNvSpPr txBox="1"/>
          <p:nvPr/>
        </p:nvSpPr>
        <p:spPr>
          <a:xfrm>
            <a:off x="653796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색상 정보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BBFF0BEF-F5CE-F65D-1BF3-B8A2CD011DCC}"/>
              </a:ext>
            </a:extLst>
          </p:cNvPr>
          <p:cNvSpPr txBox="1"/>
          <p:nvPr/>
        </p:nvSpPr>
        <p:spPr>
          <a:xfrm>
            <a:off x="6537960" y="4764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</a:t>
            </a:r>
            <a:r>
              <a:rPr lang="en-US" altLang="ko-KR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</a:t>
            </a:r>
            <a:r>
              <a:rPr lang="ko-KR" altLang="en-US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종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86AA7040-DB85-E489-1130-72A198C9C40A}"/>
              </a:ext>
            </a:extLst>
          </p:cNvPr>
          <p:cNvSpPr txBox="1"/>
          <p:nvPr/>
        </p:nvSpPr>
        <p:spPr>
          <a:xfrm>
            <a:off x="6537960" y="5312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유일한 단서 </a:t>
            </a:r>
            <a:r>
              <a:rPr lang="en-US" altLang="ko-KR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= </a:t>
            </a:r>
            <a:r>
              <a:rPr lang="ko-KR" alt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</a:t>
            </a:r>
            <a:endParaRPr lang="en-US" altLang="ko-KR" sz="1300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증강 시 건드리면 안됨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이현중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폴더만 봐서는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 수 없는 문제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사진이 여러 장 · 신발 사진이 clothes 폴더에 혼입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0" y="1097280"/>
            <a:ext cx="4023360" cy="4023360"/>
          </a:xfrm>
          <a:prstGeom prst="ellipse">
            <a:avLst/>
          </a:prstGeom>
          <a:solidFill>
            <a:srgbClr val="5C9E5C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이미지 탐지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1.2억 쌍을 세 단계로 축소</a:t>
            </a:r>
            <a:endParaRPr lang="en-US" sz="2200" dirty="0"/>
          </a:p>
        </p:txBody>
      </p:sp>
      <p:pic>
        <p:nvPicPr>
          <p:cNvPr id="6" name="Image 0" descr="/home/claude/deck/img/dup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08760"/>
            <a:ext cx="10241280" cy="35753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2120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40080" y="5321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18그룹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779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(MD5)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52120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3429000" y="5321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3그룹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5779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라벨이 충돌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52120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6217920" y="5321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42그룹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5779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근접 중복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006840" y="52120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9006840" y="5321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7그룹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006840" y="5779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육안 오탐 제외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결과를 눈으로 확인한다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알고리즘이 찾은 것과 사람이 판단한 것</a:t>
            </a:r>
            <a:endParaRPr lang="en-US" sz="2200" dirty="0"/>
          </a:p>
        </p:txBody>
      </p:sp>
      <p:pic>
        <p:nvPicPr>
          <p:cNvPr id="6" name="Image 0" descr="/home/claude/deck/img/img_near_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349240" cy="2706624"/>
          </a:xfrm>
          <a:prstGeom prst="rect">
            <a:avLst/>
          </a:prstGeom>
        </p:spPr>
      </p:pic>
      <p:pic>
        <p:nvPicPr>
          <p:cNvPr id="7" name="Image 1" descr="/home/claude/deck/img/img_false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257800" cy="26609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315968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 txBox="1"/>
          <p:nvPr/>
        </p:nvSpPr>
        <p:spPr>
          <a:xfrm>
            <a:off x="932688" y="45079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근접 중복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932688" y="482803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육안으로는 동일한 사진인데 파일은 세 개. 리사이즈·재저장으로 바이트가 달라져 MD5 로는 미탐지 → 삭제하지 않고 같은 split 에 묶음.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63640" y="4315968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6556248" y="45079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알고리즘의 오탐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56248" y="482803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dHash·픽셀 검증을 모두 통과했으나 실물은 서로 다른 칫솔 제품. 흰 배경 + 세로 물체라는 제품 사진 구도만 동일 → 7그룹 30장 제외.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오류 진단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데이터 검사 도구로 역이용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17830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착안점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57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"확신하며 틀린" 예측은 둘 중 하나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34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정말 헷갈리는 사진이거나,  원본 라벨이 잘못됐거나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9224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두 단계로 나눴나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488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 은 모델이 라벨을 그대로 암기 → 라벨이 틀려도 그 오답을 재현해 "틀림"으로 미검출. 따라서 2-fold out-of-fold 로 "안 본 상태"의 예측을 별도 생성.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881360" cy="2423160"/>
          </a:xfrm>
          <a:prstGeom prst="roundRect">
            <a:avLst>
              <a:gd name="adj" fmla="val 3019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00584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결과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   held-out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4370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4,655장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오분류 123건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370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0.9 이상  59건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   train OOF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4937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10,838장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오분류 382건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0.9 이상  145건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5840" y="5532120"/>
            <a:ext cx="10149840" cy="18288"/>
          </a:xfrm>
          <a:prstGeom prst="rect">
            <a:avLst/>
          </a:prstGeom>
          <a:solidFill>
            <a:srgbClr val="D5DE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1005840" y="56235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합계 204건 전수 육안 확인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56052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추출은 후보 생성까지 · 정정 판정은 전부 사람이 직접 확인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 어떤 사진이었나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모두 clothes 폴더에 들어 있던 파일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25400">
            <a:solidFill>
              <a:srgbClr val="B9CCB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deck/img/img_label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99616"/>
            <a:ext cx="5257800" cy="46451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417320"/>
            <a:ext cx="5715000" cy="2194560"/>
          </a:xfrm>
          <a:prstGeom prst="roundRect">
            <a:avLst>
              <a:gd name="adj" fmla="val 3333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035040" y="1600200"/>
            <a:ext cx="5715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2258568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정정한 라벨 수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670048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 43</a:t>
            </a:r>
            <a:endParaRPr lang="en-US" sz="16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shoes → clothes  1</a:t>
            </a:r>
            <a:endParaRPr lang="en-US" sz="16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 · 재질  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35040" y="3794760"/>
            <a:ext cx="5715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635508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중요한가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443484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clothes 를 shoes 로 틀렸을 때 — 모델의 실수가 아니라 정답이 잘못돼 있던 것.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개선해도 줄지 않던 이유.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결과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파일을 옮기거나 지우지 않고 manifest 한 장으로 관리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15,515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42900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− 31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50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21792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15,484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450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06840" y="164592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900684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10881360" cy="420624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822960" y="32004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중복 여분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2004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16장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320040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그룹당 1장만 유지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60273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라벨이 충돌한 중복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36027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6장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360273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사진에 다른 라벨 → 양쪽 모두 제외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005072"/>
            <a:ext cx="10881360" cy="420624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822960" y="40050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애매한 경계 사례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40050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3장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400507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봐도 판단이 갈림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40740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사진이 아닌 이미지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44074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6장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760720" y="440740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클립아트 · 목업 템플릿 · 스케치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4809744"/>
            <a:ext cx="10881360" cy="420624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822960" y="480974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206240" y="480974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760720" y="480974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43,  그 외 3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2120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근접 중복 그룹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4206240" y="52120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25그룹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760720" y="521208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삭제하지 않고 같은 split 에 배치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 방식</a:t>
            </a: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manifest.csv 한 장 — filepath · orig_label · final_label · group_id · status · reason. 파일 미이동 → 언제든 복원 가능하고 근거가 남음.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분할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사진이 train·test 로 갈라지면 시험 문제를 미리 본 셈</a:t>
            </a:r>
            <a:endParaRPr lang="en-US" sz="2200" dirty="0"/>
          </a:p>
        </p:txBody>
      </p:sp>
      <p:pic>
        <p:nvPicPr>
          <p:cNvPr id="6" name="Image 0" descr="/home/claude/deck/img/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0881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9377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32688" y="50840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MD5 로는 근접 중복 미탐지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394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바이트 1비트만 달라도 다른 파일로 인식 → 리사이즈·재저장만으로 해시가 완전히 변경.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49377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464808" y="50840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분할  70 / 15 / 15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64808" y="5394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10,832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64808" y="5779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065008" y="5394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2,318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065008" y="5779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9665208" y="5394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2,334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665208" y="5779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비교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밑바닥 학습 vs 전이학습 — 검증셋 macro-F1 기준 · 입력 224px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00200"/>
          <a:ext cx="66751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60020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909560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전이학습의 효과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103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+0.33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ImageNet 128만 장에서 학습한 특징이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 사진에도 그대로 적용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35240" y="365760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7909560" y="3840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학습률 비교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46085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4608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0.9787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49926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4992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0.9738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5376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3개를 전부 끝까지 학습해 비교했다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채택</a:t>
            </a: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EfficientNetV2-S unfreeze · 입력 224px · lr 1e-4. 밑바닥 학습 대비 +0.33 → 사전학습 특징이 그대로 전이됨.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시행착오에서 배운 것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에서 최적이던 학습률이 224px 에서는 최적이 아님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180136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 방법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305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기준으로 선택한 학습률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157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715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157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최적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1729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172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0.9600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6301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630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0.9658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0120" y="4178808"/>
            <a:ext cx="4709160" cy="18288"/>
          </a:xfrm>
          <a:prstGeom prst="rect">
            <a:avLst/>
          </a:prstGeom>
          <a:solidFill>
            <a:srgbClr val="D5DE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60120" y="43434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입력을 224px 로 올린 뒤 같은 학습률을 그대로 적용 → val macro-F1 0.9787 에 정체. 128px 최적값이 224px 에서는 최적이 아님.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92240" y="180136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고친 방법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1305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 에서 학습률 재탐색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7157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2715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27157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채택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1729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172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0.9787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31729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최적값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6301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3630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0.9738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492240" y="4178808"/>
            <a:ext cx="4709160" cy="18288"/>
          </a:xfrm>
          <a:prstGeom prst="rect">
            <a:avLst/>
          </a:prstGeom>
          <a:solidFill>
            <a:srgbClr val="D5DE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6492240" y="43434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조건이 바뀌면 하이퍼파라미터도 재선택 필요. 해상도를 바꿨으면 학습률도 다시 탐색해야 한다는 뜻.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시행착오에서 배운 것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에서 최적이던 학습률이 224px 에서는 최적이 아님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 방법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기준으로 선택한 학습률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43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0.9731  ← 128px 최적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127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127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0.9600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5112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0.9658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069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입력을 224px 로 올린 뒤 같은 학습률을 그대로 적용 → val macro-F1 0.9787 에 정체. 128px 최적값이 224px 에서는 최적이 아님.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629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고친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 에서 학습률 재탐색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743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7432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7432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채택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182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182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31821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최적값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6210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6210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36210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조건이 바뀌면 하이퍼파라미터도 재선택 필요. 해상도를 바꿨으면 학습률도 다시 탐색해야 한다는 뜻.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박병찬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숫자의 신뢰성을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확인하는 단계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는 여기서 단 한 번만 사용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875520" y="3108960"/>
            <a:ext cx="3474720" cy="3474720"/>
          </a:xfrm>
          <a:prstGeom prst="ellipse">
            <a:avLst/>
          </a:prstGeom>
          <a:solidFill>
            <a:srgbClr val="A8CE7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성능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(unfreeze, 224px, lr 1e-4) · test 2,334장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008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4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0.9859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accuracy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42900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macro-F1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1792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4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0.9790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macro-recall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0684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00684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4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0.9998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macro-AUC</a:t>
            </a:r>
            <a:endParaRPr lang="en-US" sz="15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40080" y="3337560"/>
          <a:ext cx="69494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7818120" y="3337560"/>
            <a:ext cx="3749040" cy="2240280"/>
          </a:xfrm>
          <a:prstGeom prst="roundRect">
            <a:avLst>
              <a:gd name="adj" fmla="val 3265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809244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약한 세 클래스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393192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plastic  0.932   (정밀도 0.918)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 0.948   (재현율 0.940)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metal  0.971   (정밀도 0.943)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재질 경계가 모호한 클래스.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정제로 해결되는 문제가 아님.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선정 규칙</a:t>
            </a: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모델 선정은 검증셋 macro-F1 으로만 · test 는 이 한 번뿐. 남은 약점은 재질 경계가 모호한 클래스에 집중.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② 두 지표의 격차는 유의한가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accuracy 0.9859 · macro-F1 0.9787 의 차이가 표본 변동일 가능성 검토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9339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H0  두 지표의 차이는 0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H1  accuracy 가 더 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155448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방법 — 부트스트랩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9933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2,334장에서 복원추출로 동일 크기 표본을 2,000회 생성 → 각 표본에서 두 지표의 차이를 계산. 95% 신뢰구간이 0을 포함하지 않으면 H0 기각.</a:t>
            </a:r>
            <a:endParaRPr lang="en-US" sz="1250" dirty="0"/>
          </a:p>
        </p:txBody>
      </p:sp>
      <p:pic>
        <p:nvPicPr>
          <p:cNvPr id="12" name="Image 0" descr="/home/claude/deck/img/boots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8412480" cy="26791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15400" y="3063240"/>
            <a:ext cx="2651760" cy="2679192"/>
          </a:xfrm>
          <a:prstGeom prst="roundRect">
            <a:avLst>
              <a:gd name="adj" fmla="val 275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91440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하한 0.0046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H0 기각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4407408"/>
            <a:ext cx="2221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2,000회 재표본 중 두 지표가 뒤집힌 사례 없음.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정확도가 macro-F1 보다 큰 것은 우연이 아닌 구조적 차이.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무엇으로 틀렸나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2,334장 중 33건 · 대각선이 정답, 나머지가 오분류</a:t>
            </a:r>
            <a:endParaRPr lang="en-US" sz="2200" dirty="0"/>
          </a:p>
        </p:txBody>
      </p:sp>
      <p:pic>
        <p:nvPicPr>
          <p:cNvPr id="6" name="Image 0" descr="/home/claude/deck/img/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029200" cy="5202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46304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26364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읽는 법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084832"/>
            <a:ext cx="50292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= 실제 라벨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 = 모델 예측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진할수록 그 행에서 차지하는 비중이 큼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대각선 밖 숫자가 오분류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3931920"/>
            <a:ext cx="56692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2636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눈에 띄는 것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59028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대각선이 압도적으로 진함.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793장 전량 정답.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남은 33건은 재질·색상 혼동에 집중.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↔ plastic 이 9건으로 최다이고,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나머지는 대부분 metal 관련.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무엇이 헷갈렸나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많은 조합 9건 중 확신도 상위 6장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25400">
            <a:solidFill>
              <a:srgbClr val="B9CCB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deck/img/img_confusion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6080760" cy="4727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95160" y="141732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7315200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투명 유리 vs 투명 페트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103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사진만으로는 사람도 구분하기 어렵다. 왼쪽 위는 실제 유리병인데 모델이 확신도 0.95 로 plastic 이라고 답했다.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95160" y="397764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7315200" y="4187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남은 오류의 성격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4645152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정제로 해결되는 문제가 아니다.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라벨도 맞고 사진도 정상이다.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재질 자체가 시각적으로 구분되지 않는 경우 — 문제의 본질적 난이도.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오분류 패턴이 말하는 것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효과는 정확도 수치가 아니라 틀리는 방식에서 확인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가 실험 내내 1위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20건대를 계속 유지 · 모델을 개선해도 감소하지 않음 → 원인이 모델이 아니라 원본 라벨이었기 때문.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3657600"/>
            <a:ext cx="4754880" cy="18288"/>
          </a:xfrm>
          <a:prstGeom prst="rect">
            <a:avLst/>
          </a:prstGeom>
          <a:solidFill>
            <a:srgbClr val="D5DE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6012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후 상위 오분류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→ plastic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5건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507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plastic → white-glass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507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4건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809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cardboard → metal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809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2건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111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→ metal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5111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2건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413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0건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629400" y="1920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 단계에서 이미 확인한 위험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채도 / 유효 색상 픽셀 비율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brown-glass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60.85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0.37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green-glass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63.68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19.78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43891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 에서 white-glass 의 채도가 다른 유리의 3분의 1임을 확인. 색 정보 부재 → 질감·반사에 의존 → 금속 광택과 중첩 가능. 이 위험을 사전 파악한 상태로 모델링에 착수했고, 실제 오분류가 예상과 일치.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모델은 얼마나 확신하는가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분포가 운영 임계값 결정의 근거</a:t>
            </a:r>
            <a:endParaRPr lang="en-US" sz="2200" dirty="0"/>
          </a:p>
        </p:txBody>
      </p:sp>
      <p:pic>
        <p:nvPicPr>
          <p:cNvPr id="6" name="Image 0" descr="/home/claude/deck/img/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08813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2578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32688" y="5394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정답과 오답의 분포가 갈림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687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2,301장은 확신도 1.0 근처에 집중 · 오답 33건은 넓게 분산.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52578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464808" y="5394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운영으로 옮기면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64808" y="5687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0.3%(8장)만 사람이 확인 → 나머지는 98.8% 정확도로 자동 분류.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③④ 임계값 조정은 효과가 있었나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선택은 검증셋에서 · 적용은 test 에 한 번만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32688" y="1719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③   클래스별 가중 argmax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0848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소수 클래스에 유리한 가중치를 곱해 argmax 를 이동. 검증셋에서 선택된 최적 계수는 0.00.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조정 맞음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조정 틀림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맞음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32888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2,301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33088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틀림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532888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33088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84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불일치 0쌍 — 예측 변화 없음 → 검정 자체가 성립하지 않음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554480"/>
            <a:ext cx="5349240" cy="2450592"/>
          </a:xfrm>
          <a:prstGeom prst="roundRect">
            <a:avLst>
              <a:gd name="adj" fmla="val 2985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464808" y="1719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④   확신도 기반 판단 보류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20848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확신도가 tau 미만이면 사람에게 이관. 자동 처리 구간의 정확도가 전체보다 유의하게 높은지 부트스트랩으로 검증.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761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정확도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2761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0.9859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3044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처리 정확도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30449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0.9884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64808" y="33284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차이  95% CI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3284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[0.0008, 0.0047]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3584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0을 포함하지 않음 — H0 기각 · 보류 규칙 작동 확인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133088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1005840" y="4297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여기서 가장 중요한 것은 ③ 이 실패했다는 사실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791456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검증셋에서는 가중치가 macro-F1 을 상승시켰으나 test 에서는 예측 변화 0장 → 이득이 검증셋에 과적합되어 있었다는 뜻.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2120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확률에서 임계값을 골랐다면 반드시 미세한 개선이 나왔을 것이고 그 개선은 허구. 검증셋에서 고르고 test 에 한 번만 적용했기에 확인 가능.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사람에게 넘어가는 8장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0.53 미만 · 전체의 0.3%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7772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25400">
            <a:solidFill>
              <a:srgbClr val="B9CCB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deck/img/img_low_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7498080" cy="4370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146304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8686800" y="16642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보류가 곧 오답은 아니다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3774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초록 테두리 2장은 정답인데도 확신도가 낮아 보류됐다. 자신 없으면 맞았어도 넘긴다는 것이 이 규칙의 설계다.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3913632"/>
            <a:ext cx="3154680" cy="2258568"/>
          </a:xfrm>
          <a:prstGeom prst="roundRect">
            <a:avLst>
              <a:gd name="adj" fmla="val 323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868680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오류까지 걸러냈다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82803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오른쪽 위 기저귀는 trash 로 라벨돼 있지만 clothes 가 맞다고 이미 판정된 파일이다. 모델이 확신하지 못한 이유가 라벨 오류였던 셈이다.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했고 · 무엇을 못 했는가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989320" cy="4114800"/>
          </a:xfrm>
          <a:prstGeom prst="roundRect">
            <a:avLst>
              <a:gd name="adj" fmla="val 1778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0584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1031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바꾸는 것보다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고치는 것이 먼저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29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0.652  →  0.984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바꿔서 얻은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434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53건  →  33건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892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해상도를 올려서 얻은 것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349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오분류 — 데이터 정정만으로 20건대 → 0건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1554480"/>
            <a:ext cx="46634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1780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못 한 것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78040" y="2322576"/>
            <a:ext cx="310896" cy="310896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17804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07808" y="22860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임계값은 임의값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07808" y="265176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Hamming 5 · 픽셀차 0.05 는 시행착오로 결정. 값 변경 시 매번 재학습 필요.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3438144"/>
            <a:ext cx="310896" cy="310896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717804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07808" y="34015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검수 범위가 고르지 않음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07808" y="376732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확신하며 틀린 것만 후보로 추출 → 못 배우는 유형의 오류는 미검출.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78040" y="4553712"/>
            <a:ext cx="310896" cy="310896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717804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07808" y="451713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시드 · 단일 학습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07808" y="488289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0.005 안팎의 차이는 실행 간 변동 폭 이내일 수 있음.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 원칙</a:t>
            </a: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주요 주장 4개에 통계 검정을 적용 · 그중 1개는 효과 없음으로 판정 → 그것도 결과로 보고. 감추면 나머지 3개의 신뢰도도 무너지기 때문.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2584</Words>
  <Application>Microsoft Office PowerPoint</Application>
  <PresentationFormat>와이드스크린</PresentationFormat>
  <Paragraphs>515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HY견고딕</vt:lpstr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쓰레기 이미지 12종 분류</dc:title>
  <dc:subject>PptxGenJS Presentation</dc:subject>
  <dc:creator>3조 (김이박)</dc:creator>
  <cp:lastModifiedBy>태경 김</cp:lastModifiedBy>
  <cp:revision>8</cp:revision>
  <dcterms:created xsi:type="dcterms:W3CDTF">2026-09-07T07:13:26Z</dcterms:created>
  <dcterms:modified xsi:type="dcterms:W3CDTF">2026-09-07T08:50:23Z</dcterms:modified>
</cp:coreProperties>
</file>