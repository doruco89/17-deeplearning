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58" r:id="rId5"/>
    <p:sldId id="260" r:id="rId6"/>
    <p:sldId id="261" r:id="rId7"/>
    <p:sldId id="263" r:id="rId8"/>
    <p:sldId id="265" r:id="rId9"/>
    <p:sldId id="264" r:id="rId10"/>
    <p:sldId id="262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이미지 수</c:v>
                </c:pt>
              </c:strCache>
            </c:strRef>
          </c:tx>
          <c:spPr>
            <a:solidFill>
              <a:srgbClr val="C1562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D0CF-42F7-9CE4-0CCE38D87EF2}"/>
              </c:ext>
            </c:extLst>
          </c:dPt>
          <c:dPt>
            <c:idx val="1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D0CF-42F7-9CE4-0CCE38D87EF2}"/>
              </c:ext>
            </c:extLst>
          </c:dPt>
          <c:dPt>
            <c:idx val="2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D0CF-42F7-9CE4-0CCE38D87EF2}"/>
              </c:ext>
            </c:extLst>
          </c:dPt>
          <c:dPt>
            <c:idx val="3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D0CF-42F7-9CE4-0CCE38D87EF2}"/>
              </c:ext>
            </c:extLst>
          </c:dPt>
          <c:dPt>
            <c:idx val="4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D0CF-42F7-9CE4-0CCE38D87EF2}"/>
              </c:ext>
            </c:extLst>
          </c:dPt>
          <c:dPt>
            <c:idx val="5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A-D0CF-42F7-9CE4-0CCE38D87EF2}"/>
              </c:ext>
            </c:extLst>
          </c:dPt>
          <c:dPt>
            <c:idx val="6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C-D0CF-42F7-9CE4-0CCE38D87EF2}"/>
              </c:ext>
            </c:extLst>
          </c:dPt>
          <c:dPt>
            <c:idx val="7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E-D0CF-42F7-9CE4-0CCE38D87EF2}"/>
              </c:ext>
            </c:extLst>
          </c:dPt>
          <c:dPt>
            <c:idx val="8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0-D0CF-42F7-9CE4-0CCE38D87EF2}"/>
              </c:ext>
            </c:extLst>
          </c:dPt>
          <c:dPt>
            <c:idx val="9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2-D0CF-42F7-9CE4-0CCE38D87EF2}"/>
              </c:ext>
            </c:extLst>
          </c:dPt>
          <c:dPt>
            <c:idx val="10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4-D0CF-42F7-9CE4-0CCE38D87EF2}"/>
              </c:ext>
            </c:extLst>
          </c:dPt>
          <c:dPt>
            <c:idx val="11"/>
            <c:invertIfNegative val="0"/>
            <c:bubble3D val="0"/>
            <c:spPr>
              <a:solidFill>
                <a:srgbClr val="E0A3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6-D0CF-42F7-9CE4-0CCE38D87EF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5B6660"/>
                    </a:solidFill>
                    <a:latin typeface="Noto Sans CJK KR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clothes</c:v>
                </c:pt>
                <c:pt idx="1">
                  <c:v>shoes</c:v>
                </c:pt>
                <c:pt idx="2">
                  <c:v>paper</c:v>
                </c:pt>
                <c:pt idx="3">
                  <c:v>biological</c:v>
                </c:pt>
                <c:pt idx="4">
                  <c:v>battery</c:v>
                </c:pt>
                <c:pt idx="5">
                  <c:v>cardboard</c:v>
                </c:pt>
                <c:pt idx="6">
                  <c:v>plastic</c:v>
                </c:pt>
                <c:pt idx="7">
                  <c:v>white-glass</c:v>
                </c:pt>
                <c:pt idx="8">
                  <c:v>metal</c:v>
                </c:pt>
                <c:pt idx="9">
                  <c:v>trash</c:v>
                </c:pt>
                <c:pt idx="10">
                  <c:v>green-glass</c:v>
                </c:pt>
                <c:pt idx="11">
                  <c:v>brown-glass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5325</c:v>
                </c:pt>
                <c:pt idx="1">
                  <c:v>1977</c:v>
                </c:pt>
                <c:pt idx="2">
                  <c:v>1050</c:v>
                </c:pt>
                <c:pt idx="3">
                  <c:v>985</c:v>
                </c:pt>
                <c:pt idx="4">
                  <c:v>945</c:v>
                </c:pt>
                <c:pt idx="5">
                  <c:v>891</c:v>
                </c:pt>
                <c:pt idx="6">
                  <c:v>865</c:v>
                </c:pt>
                <c:pt idx="7">
                  <c:v>775</c:v>
                </c:pt>
                <c:pt idx="8">
                  <c:v>769</c:v>
                </c:pt>
                <c:pt idx="9">
                  <c:v>697</c:v>
                </c:pt>
                <c:pt idx="10">
                  <c:v>629</c:v>
                </c:pt>
                <c:pt idx="11">
                  <c:v>607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7-D0CF-42F7-9CE4-0CCE38D87E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63F"/>
                </a:solidFill>
                <a:latin typeface="Noto Sans CJK KR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00"/>
          <c:min val="0"/>
        </c:scaling>
        <c:delete val="0"/>
        <c:axPos val="b"/>
        <c:majorGridlines>
          <c:spPr>
            <a:ln w="12700" cap="flat">
              <a:solidFill>
                <a:srgbClr val="E6EB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79F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이미지 수</c:v>
                </c:pt>
              </c:strCache>
            </c:strRef>
          </c:tx>
          <c:spPr>
            <a:solidFill>
              <a:srgbClr val="C1562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1562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D27-4395-BB84-62EE4AA79A04}"/>
              </c:ext>
            </c:extLst>
          </c:dPt>
          <c:dPt>
            <c:idx val="1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D27-4395-BB84-62EE4AA79A04}"/>
              </c:ext>
            </c:extLst>
          </c:dPt>
          <c:dPt>
            <c:idx val="2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D27-4395-BB84-62EE4AA79A04}"/>
              </c:ext>
            </c:extLst>
          </c:dPt>
          <c:dPt>
            <c:idx val="3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D27-4395-BB84-62EE4AA79A04}"/>
              </c:ext>
            </c:extLst>
          </c:dPt>
          <c:dPt>
            <c:idx val="4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D27-4395-BB84-62EE4AA79A04}"/>
              </c:ext>
            </c:extLst>
          </c:dPt>
          <c:dPt>
            <c:idx val="5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D27-4395-BB84-62EE4AA79A04}"/>
              </c:ext>
            </c:extLst>
          </c:dPt>
          <c:dPt>
            <c:idx val="6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D27-4395-BB84-62EE4AA79A04}"/>
              </c:ext>
            </c:extLst>
          </c:dPt>
          <c:dPt>
            <c:idx val="7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D27-4395-BB84-62EE4AA79A04}"/>
              </c:ext>
            </c:extLst>
          </c:dPt>
          <c:dPt>
            <c:idx val="8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FD27-4395-BB84-62EE4AA79A04}"/>
              </c:ext>
            </c:extLst>
          </c:dPt>
          <c:dPt>
            <c:idx val="9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FD27-4395-BB84-62EE4AA79A04}"/>
              </c:ext>
            </c:extLst>
          </c:dPt>
          <c:dPt>
            <c:idx val="10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FD27-4395-BB84-62EE4AA79A04}"/>
              </c:ext>
            </c:extLst>
          </c:dPt>
          <c:dPt>
            <c:idx val="11"/>
            <c:invertIfNegative val="0"/>
            <c:bubble3D val="0"/>
            <c:spPr>
              <a:solidFill>
                <a:srgbClr val="E0A3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FD27-4395-BB84-62EE4AA79A0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5B6660"/>
                    </a:solidFill>
                    <a:latin typeface="Noto Sans CJK KR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clothes</c:v>
                </c:pt>
                <c:pt idx="1">
                  <c:v>shoes</c:v>
                </c:pt>
                <c:pt idx="2">
                  <c:v>paper</c:v>
                </c:pt>
                <c:pt idx="3">
                  <c:v>biological</c:v>
                </c:pt>
                <c:pt idx="4">
                  <c:v>battery</c:v>
                </c:pt>
                <c:pt idx="5">
                  <c:v>cardboard</c:v>
                </c:pt>
                <c:pt idx="6">
                  <c:v>plastic</c:v>
                </c:pt>
                <c:pt idx="7">
                  <c:v>white-glass</c:v>
                </c:pt>
                <c:pt idx="8">
                  <c:v>metal</c:v>
                </c:pt>
                <c:pt idx="9">
                  <c:v>trash</c:v>
                </c:pt>
                <c:pt idx="10">
                  <c:v>green-glass</c:v>
                </c:pt>
                <c:pt idx="11">
                  <c:v>brown-glass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5325</c:v>
                </c:pt>
                <c:pt idx="1">
                  <c:v>1977</c:v>
                </c:pt>
                <c:pt idx="2">
                  <c:v>1050</c:v>
                </c:pt>
                <c:pt idx="3">
                  <c:v>985</c:v>
                </c:pt>
                <c:pt idx="4">
                  <c:v>945</c:v>
                </c:pt>
                <c:pt idx="5">
                  <c:v>891</c:v>
                </c:pt>
                <c:pt idx="6">
                  <c:v>865</c:v>
                </c:pt>
                <c:pt idx="7">
                  <c:v>775</c:v>
                </c:pt>
                <c:pt idx="8">
                  <c:v>769</c:v>
                </c:pt>
                <c:pt idx="9">
                  <c:v>697</c:v>
                </c:pt>
                <c:pt idx="10">
                  <c:v>629</c:v>
                </c:pt>
                <c:pt idx="11">
                  <c:v>607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FD27-4395-BB84-62EE4AA79A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63F"/>
                </a:solidFill>
                <a:latin typeface="Noto Sans CJK KR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00"/>
          <c:min val="0"/>
        </c:scaling>
        <c:delete val="0"/>
        <c:axPos val="b"/>
        <c:majorGridlines>
          <c:spPr>
            <a:ln w="12700" cap="flat">
              <a:solidFill>
                <a:srgbClr val="E6EB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79F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8357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15분 발표, 3인 분담. 이 프로젝트의 핵심 메시지는 '모델보다 데이터 품질이 먼저였다'입니다.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파트별 5분씩. 세 파트가 '문제 발견 → 해결 → 검증'으로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파이프라인 전체를 한 장으로 보여주고, 앞쪽 절반이 데이터 품질이라는 점을 강조합니다.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문제를 소개하되, 마지막 항목(중복·라벨 오류)이 이 발표의 핵심 축임을 미리 던져둡니다.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clothes 하나가 전체의 3분의 1입니다. 이 숫자가 다음 슬라이드의 출발점입니다.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'왜 macro-F1인가'의 답입니다. 유비가 아니라 우리 데이터에서 직접 측정한 반례라는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색이 정답 신호이므로 증강에서 색상을 흔들면 정답을 지우는 셈입니다. 감이 아니라 측정해서 정했다는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색이 정답 신호이므로 증강에서 색상을 흔들면 정답을 지우는 셈입니다. 감이 아니라 측정해서 정했다는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2327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앞 슬라이드의 판단을 통계로 뒷받침하는 자리입니다. 표준편차 16배는 사실상 겹치지 않는다는 뜻이라고 설명하세요.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항목 모두 '감이 아니라 측정해서 정했다'는 점이 중요합니다. 특히 P 모드 34장은 실제로 세어본 값입니다.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4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5C9E5C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2926080" cy="2926080"/>
          </a:xfrm>
          <a:prstGeom prst="ellipse">
            <a:avLst/>
          </a:prstGeom>
          <a:solidFill>
            <a:srgbClr val="A8CE7E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A8CE7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KDT-17  3rd Team Project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쓰레기 이미지 12종 분류</a:t>
            </a:r>
            <a:endParaRPr lang="en-US" sz="5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데이터 품질에서 시작한 딥러닝 이미지 분류</a:t>
            </a:r>
            <a:endParaRPr lang="en-US" sz="19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1463040" cy="32004"/>
          </a:xfrm>
          <a:prstGeom prst="rect">
            <a:avLst/>
          </a:prstGeom>
          <a:solidFill>
            <a:srgbClr val="A8CE7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3조  (김이박)</a:t>
            </a:r>
            <a:endParaRPr lang="en-US" sz="17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0080" y="43891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팀장  이현중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팀원  김태경 · 박병찬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0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28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발표 구성</a:t>
            </a:r>
            <a:endParaRPr 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66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15분 · 3인 분담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4290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1874520"/>
            <a:ext cx="457200" cy="457200"/>
          </a:xfrm>
          <a:prstGeom prst="ellipse">
            <a:avLst/>
          </a:prstGeom>
          <a:solidFill>
            <a:srgbClr val="A8CE7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28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1</a:t>
            </a:r>
            <a:endParaRPr lang="en-US" sz="1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46304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562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김태경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46304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3A28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데이터 이해</a:t>
            </a:r>
            <a:endParaRPr lang="en-US" sz="19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96112" y="2743200"/>
            <a:ext cx="29260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원본 데이터 현황과 클래스 불균형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이미지 품질 점검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정확도만 보면 안 되는 이유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96112" y="4224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6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5분</a:t>
            </a:r>
            <a:endParaRPr lang="en-US" sz="1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343400" y="1600200"/>
            <a:ext cx="34290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99432" y="1874520"/>
            <a:ext cx="457200" cy="457200"/>
          </a:xfrm>
          <a:prstGeom prst="ellipse">
            <a:avLst/>
          </a:prstGeom>
          <a:solidFill>
            <a:srgbClr val="A8CE7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9943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28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2</a:t>
            </a:r>
            <a:endParaRPr lang="en-US" sz="1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516636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562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이현중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516636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3A28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정제와 모델링</a:t>
            </a:r>
            <a:endParaRPr lang="en-US" sz="19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4599432" y="2743200"/>
            <a:ext cx="29260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중복 이미지 3단계 탐지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라벨 오류 진단과 정정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모델 비교와 하이퍼파라미터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4599432" y="4224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6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5분</a:t>
            </a:r>
            <a:endParaRPr lang="en-US" sz="1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046720" y="1600200"/>
            <a:ext cx="34290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02752" y="1874520"/>
            <a:ext cx="457200" cy="457200"/>
          </a:xfrm>
          <a:prstGeom prst="ellipse">
            <a:avLst/>
          </a:prstGeom>
          <a:solidFill>
            <a:srgbClr val="A8CE7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0275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28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3</a:t>
            </a:r>
            <a:endParaRPr lang="en-US" sz="1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886968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562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박병찬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886968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3A28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평가와 해석</a:t>
            </a:r>
            <a:endParaRPr lang="en-US" sz="19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8302752" y="2743200"/>
            <a:ext cx="29260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최종 성능과 클래스별 분석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오분류 패턴이 말하는 것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가설검정 · 운영 임계값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8302752" y="4224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6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5분</a:t>
            </a:r>
            <a:endParaRPr lang="en-US" sz="1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28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전체 파이프라인</a:t>
            </a:r>
            <a:endParaRPr 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66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네 단계 중 앞의 절반이 데이터 품질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6" name="Image 0" descr="/home/claude/deck/img/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20240"/>
            <a:ext cx="10881360" cy="23225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461772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32688" y="47823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562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데이터 품질 단계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932688" y="508406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원본을 그대로 학습에 투입하지 않음. 중복·라벨 오류를 먼저 탐지하고 근거를 문서화.</a:t>
            </a:r>
            <a:endParaRPr lang="en-US" sz="12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217920" y="461772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10528" y="47823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7A45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모델링·검증 단계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6510528" y="508406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정제 데이터 위에서 모델 비교 · 성능 수치의 신뢰성을 통계로 검증.</a:t>
            </a:r>
            <a:endParaRPr lang="en-US" sz="12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E3A28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데이터 현황</a:t>
            </a:r>
            <a:endParaRPr 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66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재활용 쓰레기 사진을 12개 클래스로 자동 분류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65255" y="1826456"/>
            <a:ext cx="4019609" cy="35136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92086" y="1394159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1E3A28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눈에 보이는 문제점</a:t>
            </a:r>
            <a:endParaRPr 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aphicFrame>
        <p:nvGraphicFramePr>
          <p:cNvPr id="17" name="Chart 0">
            <a:extLst>
              <a:ext uri="{FF2B5EF4-FFF2-40B4-BE49-F238E27FC236}">
                <a16:creationId xmlns:a16="http://schemas.microsoft.com/office/drawing/2014/main" id="{F1350DEB-3F7B-DD98-29D4-FC30CEFBD4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8044381"/>
              </p:ext>
            </p:extLst>
          </p:nvPr>
        </p:nvGraphicFramePr>
        <p:xfrm>
          <a:off x="288915" y="1586042"/>
          <a:ext cx="7189888" cy="39095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9">
            <a:extLst>
              <a:ext uri="{FF2B5EF4-FFF2-40B4-BE49-F238E27FC236}">
                <a16:creationId xmlns:a16="http://schemas.microsoft.com/office/drawing/2014/main" id="{061442E3-1386-7B8A-D2E5-79FD1D8AE2EB}"/>
              </a:ext>
            </a:extLst>
          </p:cNvPr>
          <p:cNvSpPr txBox="1"/>
          <p:nvPr/>
        </p:nvSpPr>
        <p:spPr>
          <a:xfrm>
            <a:off x="7711440" y="2412720"/>
            <a:ext cx="1585943" cy="396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0"/>
              </a:lnSpc>
              <a:spcAft>
                <a:spcPts val="800"/>
              </a:spcAft>
              <a:buSzPct val="100000"/>
            </a:pPr>
            <a:r>
              <a:rPr lang="en-US" sz="140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1) </a:t>
            </a:r>
            <a:r>
              <a:rPr lang="en-US" sz="1400" dirty="0" err="1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클래스</a:t>
            </a:r>
            <a:r>
              <a:rPr lang="en-US" sz="140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 </a:t>
            </a:r>
            <a:r>
              <a:rPr lang="en-US" sz="1400" dirty="0" err="1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불균형</a:t>
            </a:r>
            <a:endParaRPr lang="en-US" sz="1400" dirty="0">
              <a:solidFill>
                <a:srgbClr val="26312B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Noto Sans CJK KR" pitchFamily="34" charset="-120"/>
            </a:endParaRPr>
          </a:p>
          <a:p>
            <a:pPr>
              <a:lnSpc>
                <a:spcPts val="2200"/>
              </a:lnSpc>
              <a:spcAft>
                <a:spcPts val="800"/>
              </a:spcAft>
              <a:buSzPct val="100000"/>
            </a:pP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D2BF27F1-55D5-AD5D-476A-444195486BA5}"/>
              </a:ext>
            </a:extLst>
          </p:cNvPr>
          <p:cNvSpPr txBox="1"/>
          <p:nvPr/>
        </p:nvSpPr>
        <p:spPr>
          <a:xfrm>
            <a:off x="7711440" y="3540793"/>
            <a:ext cx="3097237" cy="396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0"/>
              </a:lnSpc>
              <a:spcAft>
                <a:spcPts val="800"/>
              </a:spcAft>
              <a:buSzPct val="100000"/>
            </a:pPr>
            <a:r>
              <a:rPr lang="en-US" sz="140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2) </a:t>
            </a:r>
            <a:r>
              <a:rPr lang="en-US" altLang="ko-KR" sz="1400" dirty="0" err="1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유리</a:t>
            </a:r>
            <a:r>
              <a:rPr lang="en-US" altLang="ko-KR" sz="140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 3종은 </a:t>
            </a:r>
            <a:r>
              <a:rPr lang="en-US" altLang="ko-KR" sz="1400" dirty="0" err="1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형태</a:t>
            </a:r>
            <a:r>
              <a:rPr lang="en-US" altLang="ko-KR" sz="140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 </a:t>
            </a:r>
            <a:r>
              <a:rPr lang="en-US" altLang="ko-KR" sz="1400" dirty="0" err="1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동일</a:t>
            </a:r>
            <a:r>
              <a:rPr lang="en-US" altLang="ko-KR" sz="140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, </a:t>
            </a:r>
            <a:r>
              <a:rPr lang="en-US" altLang="ko-KR" sz="1400" dirty="0" err="1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색만</a:t>
            </a:r>
            <a:r>
              <a:rPr lang="en-US" altLang="ko-KR" sz="140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 </a:t>
            </a:r>
            <a:r>
              <a:rPr lang="en-US" altLang="ko-KR" sz="1400" dirty="0" err="1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상이</a:t>
            </a:r>
            <a:endParaRPr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ts val="2200"/>
              </a:lnSpc>
              <a:spcAft>
                <a:spcPts val="800"/>
              </a:spcAft>
              <a:buSzPct val="100000"/>
            </a:pPr>
            <a:endParaRPr lang="en-US" sz="1400" dirty="0">
              <a:solidFill>
                <a:srgbClr val="26312B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Noto Sans CJK KR" pitchFamily="34" charset="-120"/>
            </a:endParaRPr>
          </a:p>
          <a:p>
            <a:pPr>
              <a:lnSpc>
                <a:spcPts val="2200"/>
              </a:lnSpc>
              <a:spcAft>
                <a:spcPts val="800"/>
              </a:spcAft>
              <a:buSzPct val="100000"/>
            </a:pP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3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E3A28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눈에 보이는 문제 </a:t>
            </a:r>
            <a:r>
              <a:rPr lang="en-US" altLang="ko-KR" sz="3000" b="1" dirty="0">
                <a:solidFill>
                  <a:srgbClr val="1E3A28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① : </a:t>
            </a:r>
            <a:r>
              <a:rPr lang="ko-KR" altLang="en-US" sz="3000" b="1" dirty="0">
                <a:solidFill>
                  <a:srgbClr val="1E3A28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클래스 불균형</a:t>
            </a:r>
            <a:endParaRPr 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66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클래스별 이미지 수 — 최다·최소 8.77배 차이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589028935"/>
              </p:ext>
            </p:extLst>
          </p:nvPr>
        </p:nvGraphicFramePr>
        <p:xfrm>
          <a:off x="288915" y="1586042"/>
          <a:ext cx="7189888" cy="39095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282354" y="1517904"/>
            <a:ext cx="3291840" cy="3977640"/>
          </a:xfrm>
          <a:prstGeom prst="roundRect">
            <a:avLst>
              <a:gd name="adj" fmla="val 2222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19514" y="1792224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B3562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34.3%</a:t>
            </a:r>
            <a:endParaRPr lang="en-US" sz="4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8419514" y="26609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66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clothes 한 클래스가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5B666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전체에서 차지하는 비중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739554" y="3505434"/>
            <a:ext cx="2377440" cy="18288"/>
          </a:xfrm>
          <a:prstGeom prst="rect">
            <a:avLst/>
          </a:prstGeom>
          <a:solidFill>
            <a:srgbClr val="D5DED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419514" y="3735324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D7A45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8.77배</a:t>
            </a:r>
            <a:endParaRPr lang="en-US" sz="4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8419514" y="459814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66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최다 / 최소 클래스 비율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3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E3A28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눈에 보이는 문제 </a:t>
            </a:r>
            <a:r>
              <a:rPr lang="en-US" altLang="ko-KR" sz="3000" b="1" dirty="0">
                <a:solidFill>
                  <a:srgbClr val="1E3A28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① : </a:t>
            </a:r>
            <a:r>
              <a:rPr lang="ko-KR" altLang="en-US" sz="3000" b="1" dirty="0">
                <a:solidFill>
                  <a:srgbClr val="1E3A28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클래스 불균형</a:t>
            </a:r>
            <a:endParaRPr lang="en-US" altLang="ko-KR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5B666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정확도만 보면 안되는 이유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029200" cy="1920240"/>
          </a:xfrm>
          <a:prstGeom prst="roundRect">
            <a:avLst>
              <a:gd name="adj" fmla="val 3810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8745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B3562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단순 </a:t>
            </a:r>
            <a:r>
              <a:rPr lang="en-US" sz="1300" b="1" dirty="0" err="1">
                <a:solidFill>
                  <a:srgbClr val="B3562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기준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960120" y="21762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E3A28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모든 입력을 clothes 라고만 답하는 모델</a:t>
            </a:r>
            <a:endParaRPr lang="en-US" sz="17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960120" y="2971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6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학습 없음 · 파라미터 0개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794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정확도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931920" y="37947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B3562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0.3398</a:t>
            </a:r>
            <a:endParaRPr 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4453128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44531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balanced accuracy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3931920" y="44531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5B666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0.0833</a:t>
            </a:r>
            <a:endParaRPr 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5111496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511149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macro-F1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3931920" y="511149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D7A45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0.0423</a:t>
            </a:r>
            <a:endParaRPr 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35040" y="1691640"/>
            <a:ext cx="5532120" cy="3840480"/>
          </a:xfrm>
          <a:prstGeom prst="roundRect">
            <a:avLst>
              <a:gd name="adj" fmla="val 1905"/>
            </a:avLst>
          </a:prstGeom>
          <a:solidFill>
            <a:srgbClr val="2A4A33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19659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700" b="1" dirty="0" err="1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정확도</a:t>
            </a:r>
            <a:r>
              <a:rPr lang="en-US" sz="2700" b="1" dirty="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 : 34%</a:t>
            </a:r>
            <a:endParaRPr lang="en-US" sz="27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lnSpc>
                <a:spcPts val="36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macro-F1 : 0.042</a:t>
            </a:r>
            <a:endParaRPr lang="en-US" sz="27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355080" y="31272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A8CE7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약 8배 차이</a:t>
            </a:r>
            <a:endParaRPr lang="en-US" sz="1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35508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 err="1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다수</a:t>
            </a:r>
            <a:r>
              <a:rPr lang="en-US" sz="1400" dirty="0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 </a:t>
            </a:r>
            <a:r>
              <a:rPr lang="en-US" sz="1400" dirty="0" err="1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클래스</a:t>
            </a:r>
            <a:r>
              <a:rPr lang="en-US" sz="1400" dirty="0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 </a:t>
            </a:r>
            <a:r>
              <a:rPr lang="en-US" sz="1400" dirty="0" err="1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하나</a:t>
            </a:r>
            <a:r>
              <a:rPr lang="ko-KR" altLang="en-US" sz="1400" dirty="0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로</a:t>
            </a:r>
            <a:r>
              <a:rPr lang="en-US" sz="1400" dirty="0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만</a:t>
            </a:r>
            <a:r>
              <a:rPr lang="ko-KR" altLang="en-US" sz="1400" dirty="0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 예측 </a:t>
            </a:r>
            <a:r>
              <a:rPr lang="en-US" altLang="ko-KR" sz="1400" dirty="0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→ </a:t>
            </a:r>
            <a:r>
              <a:rPr lang="ko-KR" altLang="en-US" sz="1400" dirty="0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정확도 ↑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152A45AB-3BA8-A114-9324-863BA3947DF1}"/>
              </a:ext>
            </a:extLst>
          </p:cNvPr>
          <p:cNvSpPr txBox="1"/>
          <p:nvPr/>
        </p:nvSpPr>
        <p:spPr>
          <a:xfrm>
            <a:off x="6364224" y="4981253"/>
            <a:ext cx="4937760" cy="397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ko-KR" altLang="en-US" sz="1400" dirty="0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목적 </a:t>
            </a:r>
            <a:r>
              <a:rPr lang="en-US" altLang="ko-KR" sz="1400" dirty="0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= </a:t>
            </a:r>
            <a:r>
              <a:rPr lang="en-US" sz="1400" dirty="0" err="1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모든</a:t>
            </a:r>
            <a:r>
              <a:rPr lang="en-US" sz="1400" dirty="0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 종류를 </a:t>
            </a:r>
            <a:r>
              <a:rPr lang="en-US" sz="1400" dirty="0" err="1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고르게</a:t>
            </a:r>
            <a:r>
              <a:rPr lang="en-US" sz="1400" dirty="0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 </a:t>
            </a:r>
            <a:r>
              <a:rPr lang="en-US" sz="1400" dirty="0" err="1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맞히기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C5644CFD-FF12-8311-D027-53DD963ADFD3}"/>
              </a:ext>
            </a:extLst>
          </p:cNvPr>
          <p:cNvSpPr txBox="1"/>
          <p:nvPr/>
        </p:nvSpPr>
        <p:spPr>
          <a:xfrm>
            <a:off x="6364224" y="4173416"/>
            <a:ext cx="4937760" cy="654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macro-F1 : </a:t>
            </a:r>
            <a:r>
              <a:rPr lang="ko-KR" altLang="en-US" sz="1400" dirty="0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모든 </a:t>
            </a:r>
            <a:r>
              <a:rPr lang="en-US" sz="1400" dirty="0" err="1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클래스의</a:t>
            </a:r>
            <a:r>
              <a:rPr lang="en-US" sz="1400" dirty="0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 F1 을 동등 </a:t>
            </a:r>
            <a:r>
              <a:rPr lang="en-US" sz="1400" dirty="0" err="1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가중</a:t>
            </a:r>
            <a:r>
              <a:rPr lang="en-US" sz="1400" dirty="0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 </a:t>
            </a:r>
            <a:r>
              <a:rPr lang="en-US" sz="1400" dirty="0" err="1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평균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en-US" altLang="ko-KR" sz="1400" dirty="0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                → </a:t>
            </a:r>
            <a:r>
              <a:rPr lang="en-US" sz="1400" dirty="0" err="1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나머지</a:t>
            </a:r>
            <a:r>
              <a:rPr lang="en-US" sz="1400" dirty="0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 11개를 전부 틀리면 즉시 </a:t>
            </a:r>
            <a:r>
              <a:rPr lang="en-US" sz="1400" dirty="0" err="1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붕괴</a:t>
            </a:r>
            <a:r>
              <a:rPr lang="en-US" sz="1400" dirty="0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.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4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E3A28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눈에 보이는 문제 </a:t>
            </a:r>
            <a:r>
              <a:rPr lang="en-US" altLang="ko-KR" sz="3000" b="1" dirty="0">
                <a:solidFill>
                  <a:srgbClr val="1E3A28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② : </a:t>
            </a:r>
            <a:r>
              <a:rPr lang="ko-KR" altLang="en-US" sz="3000" b="1" dirty="0">
                <a:solidFill>
                  <a:srgbClr val="1E3A28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유리 색상 분류</a:t>
            </a:r>
            <a:endParaRPr 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66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형태가 같은 세 클래스를 가르는 단서는 색뿐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9A806A9-0A22-19E9-A755-5CC0D653D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0704" y="1946580"/>
            <a:ext cx="2736240" cy="273624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C555B80-F948-1720-712A-2A003F3E3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" y="1914600"/>
            <a:ext cx="1680429" cy="302879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63E2847-5451-3244-1C9D-718EAB04E6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1169" y="2244235"/>
            <a:ext cx="3540369" cy="265527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FA90095-365B-A474-B32E-B81628F0B7F9}"/>
              </a:ext>
            </a:extLst>
          </p:cNvPr>
          <p:cNvSpPr txBox="1"/>
          <p:nvPr/>
        </p:nvSpPr>
        <p:spPr>
          <a:xfrm>
            <a:off x="1507350" y="5257800"/>
            <a:ext cx="141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Brown-glass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73015B-3FE3-A365-3820-D857FA5A1380}"/>
              </a:ext>
            </a:extLst>
          </p:cNvPr>
          <p:cNvSpPr txBox="1"/>
          <p:nvPr/>
        </p:nvSpPr>
        <p:spPr>
          <a:xfrm>
            <a:off x="4360492" y="5257800"/>
            <a:ext cx="141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Green-glass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B435D6-5DC1-DEF2-8DFB-3B7E85346FA3}"/>
              </a:ext>
            </a:extLst>
          </p:cNvPr>
          <p:cNvSpPr txBox="1"/>
          <p:nvPr/>
        </p:nvSpPr>
        <p:spPr>
          <a:xfrm>
            <a:off x="8264277" y="5257800"/>
            <a:ext cx="141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White-glass</a:t>
            </a:r>
            <a:endParaRPr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500" b="1" dirty="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4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E3A28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눈에 보이는 문제 </a:t>
            </a:r>
            <a:r>
              <a:rPr lang="en-US" altLang="ko-KR" sz="3000" b="1" dirty="0">
                <a:solidFill>
                  <a:srgbClr val="1E3A28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② :</a:t>
            </a:r>
            <a:r>
              <a:rPr lang="en-US" altLang="ko-KR" sz="3000" b="1" dirty="0">
                <a:solidFill>
                  <a:srgbClr val="1E3A28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 </a:t>
            </a:r>
            <a:r>
              <a:rPr lang="ko-KR" altLang="en-US" sz="3000" b="1" dirty="0">
                <a:solidFill>
                  <a:srgbClr val="1E3A28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유리 색상 분류</a:t>
            </a:r>
            <a:endParaRPr 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66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형태가 같은 세 클래스를 가르는 단서는 색뿐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6" name="Image 0" descr="/home/claude/deck/img/glass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1572768"/>
            <a:ext cx="10378440" cy="37581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5897880"/>
            <a:ext cx="10881360" cy="731520"/>
          </a:xfrm>
          <a:prstGeom prst="rect">
            <a:avLst/>
          </a:prstGeom>
          <a:solidFill>
            <a:srgbClr val="EDF1EA"/>
          </a:solidFill>
          <a:ln w="9525">
            <a:solidFill>
              <a:srgbClr val="DCE4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5897880"/>
            <a:ext cx="64008" cy="731520"/>
          </a:xfrm>
          <a:prstGeom prst="rect">
            <a:avLst/>
          </a:prstGeom>
          <a:solidFill>
            <a:srgbClr val="3D7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32688" y="58978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3D7A45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측정</a:t>
            </a:r>
            <a:r>
              <a:rPr lang="en-US" sz="125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  클래스당 250장 표본 · HSV 변환 후 채도 40 미만 · 명도 30 미만 픽셀 제외 (배경·그림자 노이즈 차단)</a:t>
            </a:r>
            <a:endParaRPr lang="en-US" sz="12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3D7A45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결정</a:t>
            </a:r>
            <a:r>
              <a:rPr lang="en-US" sz="125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  색이 정답 신호 → 증강에서 hue = 0.0 · saturation = 0.05 로 색 조작 최소화</a:t>
            </a:r>
            <a:endParaRPr lang="en-US" sz="12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6566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5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28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검정 ① : 색 차이는 우연이 아닌가</a:t>
            </a:r>
            <a:endParaRPr 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66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겹침 계수는 기술통계 — 우연의 가능성은 설명하지 못함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562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가설</a:t>
            </a:r>
            <a:endParaRPr lang="en-US" sz="1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914400" y="1993392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H0</a:t>
            </a:r>
            <a:r>
              <a:rPr lang="en-US" sz="125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  세 클래스의 색상 분포 동일</a:t>
            </a:r>
            <a:endParaRPr lang="en-US" sz="12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H1  세 클래스의 색상 분포 상이</a:t>
            </a:r>
            <a:endParaRPr lang="en-US" sz="12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14800" y="1554480"/>
            <a:ext cx="7406640" cy="1417320"/>
          </a:xfrm>
          <a:prstGeom prst="roundRect">
            <a:avLst>
              <a:gd name="adj" fmla="val 5161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8912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7A45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방법 — 순열검정</a:t>
            </a:r>
            <a:endParaRPr lang="en-US" sz="1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389120" y="199339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라벨을 무작위로 섞어 "차이 없는 세상"을 5,000회 생성 → 그 세상에서 관측만큼의 분리가 나올 확률을 계수. 분포 가정 불필요 → 정규분포와 거리가 먼 색상값에 적합.</a:t>
            </a:r>
            <a:endParaRPr lang="en-US" sz="12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Image 0" descr="/home/claude/deck/img/perm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" y="3108960"/>
            <a:ext cx="7635240" cy="2734056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823960" y="3108960"/>
            <a:ext cx="2743200" cy="2734056"/>
          </a:xfrm>
          <a:prstGeom prst="roundRect">
            <a:avLst>
              <a:gd name="adj" fmla="val 2909"/>
            </a:avLst>
          </a:prstGeom>
          <a:solidFill>
            <a:srgbClr val="2A4A33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099452" y="32918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CE7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결론</a:t>
            </a:r>
            <a:endParaRPr lang="en-US" sz="1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9099452" y="3611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p = 0.0002</a:t>
            </a:r>
            <a:endParaRPr lang="en-US" sz="2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9099452" y="4069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CE7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H0 기각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9099452" y="465968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유리 클래스마다 색이 다름</a:t>
            </a:r>
            <a:endParaRPr lang="en-US" sz="11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B61565ED-C9A4-FBC4-2658-2A400366BE6A}"/>
              </a:ext>
            </a:extLst>
          </p:cNvPr>
          <p:cNvSpPr txBox="1"/>
          <p:nvPr/>
        </p:nvSpPr>
        <p:spPr>
          <a:xfrm>
            <a:off x="9099452" y="5162608"/>
            <a:ext cx="2084832" cy="274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→ </a:t>
            </a:r>
            <a:r>
              <a:rPr lang="en-US" sz="1150" dirty="0" err="1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증강에서</a:t>
            </a:r>
            <a:r>
              <a:rPr lang="en-US" sz="1150" dirty="0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 색 </a:t>
            </a:r>
            <a:r>
              <a:rPr lang="en-US" sz="1150" dirty="0" err="1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조작</a:t>
            </a:r>
            <a:r>
              <a:rPr lang="en-US" sz="1150" dirty="0">
                <a:solidFill>
                  <a:srgbClr val="DCE8D6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 X</a:t>
            </a:r>
            <a:endParaRPr lang="en-US" sz="11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6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28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이미지 품질 점검</a:t>
            </a:r>
            <a:endParaRPr 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66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학습 착수 전 확인 항목 4가지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915668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0985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66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손상 파일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932688" y="239115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7A45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0건</a:t>
            </a:r>
            <a:endParaRPr 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960120" y="29397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PIL verify 전수 검사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학습 중 크래시 위험 없음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1919185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102065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66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팔레트(P) 모드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537960" y="2394673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3562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34장</a:t>
            </a:r>
            <a:endParaRPr 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537960" y="2943313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채널이 3이 아니라 배치 파손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convert("RGB") 필수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" y="4288536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44714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66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해상도 산포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960120" y="47640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7A45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51 ~ 888px</a:t>
            </a:r>
            <a:endParaRPr 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960120" y="531266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종횡비도 제각각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resize 필요 (128 → 224)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9B8370F8-DE58-173C-65D7-6F94979278C0}"/>
              </a:ext>
            </a:extLst>
          </p:cNvPr>
          <p:cNvSpPr/>
          <p:nvPr/>
        </p:nvSpPr>
        <p:spPr>
          <a:xfrm>
            <a:off x="6217920" y="4288536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B66F6A14-75A0-6D46-CFB7-F2A54B21061D}"/>
              </a:ext>
            </a:extLst>
          </p:cNvPr>
          <p:cNvSpPr txBox="1"/>
          <p:nvPr/>
        </p:nvSpPr>
        <p:spPr>
          <a:xfrm>
            <a:off x="6537960" y="44714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5B666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색상 정보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BBFF0BEF-F5CE-F65D-1BF3-B8A2CD011DCC}"/>
              </a:ext>
            </a:extLst>
          </p:cNvPr>
          <p:cNvSpPr txBox="1"/>
          <p:nvPr/>
        </p:nvSpPr>
        <p:spPr>
          <a:xfrm>
            <a:off x="6537960" y="47640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B3562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유리 </a:t>
            </a:r>
            <a:r>
              <a:rPr lang="en-US" altLang="ko-KR" sz="2400" b="1" dirty="0">
                <a:solidFill>
                  <a:srgbClr val="B3562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3</a:t>
            </a:r>
            <a:r>
              <a:rPr lang="ko-KR" altLang="en-US" sz="2400" b="1" dirty="0">
                <a:solidFill>
                  <a:srgbClr val="B3562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종</a:t>
            </a:r>
            <a:endParaRPr lang="en-US" altLang="ko-KR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86AA7040-DB85-E489-1130-72A198C9C40A}"/>
              </a:ext>
            </a:extLst>
          </p:cNvPr>
          <p:cNvSpPr txBox="1"/>
          <p:nvPr/>
        </p:nvSpPr>
        <p:spPr>
          <a:xfrm>
            <a:off x="6537960" y="531266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ko-KR" altLang="en-US" sz="130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유일한 단서 </a:t>
            </a:r>
            <a:r>
              <a:rPr lang="en-US" altLang="ko-KR" sz="130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= </a:t>
            </a:r>
            <a:r>
              <a:rPr lang="ko-KR" altLang="en-US" sz="130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색</a:t>
            </a:r>
            <a:endParaRPr lang="en-US" altLang="ko-KR" sz="1300" dirty="0">
              <a:solidFill>
                <a:srgbClr val="26312B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Noto Sans CJK KR" pitchFamily="34" charset="-120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ko-KR" altLang="en-US" sz="1300" dirty="0">
                <a:latin typeface="HY견고딕" panose="02030600000101010101" pitchFamily="18" charset="-127"/>
                <a:ea typeface="HY견고딕" panose="02030600000101010101" pitchFamily="18" charset="-127"/>
              </a:rPr>
              <a:t>증강 시 건드리면 안됨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682</Words>
  <Application>Microsoft Office PowerPoint</Application>
  <PresentationFormat>와이드스크린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HY견고딕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쓰레기 이미지 12종 분류</dc:title>
  <dc:subject>PptxGenJS Presentation</dc:subject>
  <dc:creator>3조 (김이박)</dc:creator>
  <cp:lastModifiedBy>태경 김</cp:lastModifiedBy>
  <cp:revision>7</cp:revision>
  <dcterms:created xsi:type="dcterms:W3CDTF">2026-09-07T07:13:26Z</dcterms:created>
  <dcterms:modified xsi:type="dcterms:W3CDTF">2026-09-07T08:20:24Z</dcterms:modified>
</cp:coreProperties>
</file>