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rts/chart2.xml" ContentType="application/vnd.openxmlformats-officedocument.drawingml.chart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9" r:id="rId3"/>
    <p:sldId id="258" r:id="rId4"/>
    <p:sldId id="260" r:id="rId5"/>
    <p:sldId id="261" r:id="rId6"/>
    <p:sldId id="263" r:id="rId7"/>
    <p:sldId id="265" r:id="rId8"/>
    <p:sldId id="264" r:id="rId9"/>
    <p:sldId id="262" r:id="rId10"/>
    <p:sldId id="300" r:id="rId11"/>
    <p:sldId id="301" r:id="rId12"/>
    <p:sldId id="302" r:id="rId13"/>
    <p:sldId id="303" r:id="rId14"/>
    <p:sldId id="304" r:id="rId15"/>
    <p:sldId id="305" r:id="rId16"/>
    <p:sldId id="306" r:id="rId17"/>
    <p:sldId id="307" r:id="rId18"/>
    <p:sldId id="308" r:id="rId19"/>
    <p:sldId id="309" r:id="rId20"/>
    <p:sldId id="310" r:id="rId21"/>
    <p:sldId id="311" r:id="rId22"/>
    <p:sldId id="312" r:id="rId23"/>
    <p:sldId id="313" r:id="rId24"/>
    <p:sldId id="314" r:id="rId25"/>
    <p:sldId id="315" r:id="rId26"/>
    <p:sldId id="316" r:id="rId27"/>
    <p:sldId id="317" r:id="rId28"/>
    <p:sldId id="318" r:id="rId29"/>
    <p:sldId id="319" r:id="rId30"/>
    <p:sldId id="320" r:id="rId31"/>
    <p:sldId id="321" r:id="rId32"/>
    <p:sldId id="322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이미지 수</c:v>
                </c:pt>
              </c:strCache>
            </c:strRef>
          </c:tx>
          <c:spPr>
            <a:solidFill>
              <a:srgbClr val="C1562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D27-4395-BB84-62EE4AA79A04}"/>
              </c:ext>
            </c:extLst>
          </c:dPt>
          <c:dPt>
            <c:idx val="1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D27-4395-BB84-62EE4AA79A04}"/>
              </c:ext>
            </c:extLst>
          </c:dPt>
          <c:dPt>
            <c:idx val="2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D27-4395-BB84-62EE4AA79A04}"/>
              </c:ext>
            </c:extLst>
          </c:dPt>
          <c:dPt>
            <c:idx val="3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D27-4395-BB84-62EE4AA79A04}"/>
              </c:ext>
            </c:extLst>
          </c:dPt>
          <c:dPt>
            <c:idx val="4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D27-4395-BB84-62EE4AA79A04}"/>
              </c:ext>
            </c:extLst>
          </c:dPt>
          <c:dPt>
            <c:idx val="5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D27-4395-BB84-62EE4AA79A04}"/>
              </c:ext>
            </c:extLst>
          </c:dPt>
          <c:dPt>
            <c:idx val="6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FD27-4395-BB84-62EE4AA79A04}"/>
              </c:ext>
            </c:extLst>
          </c:dPt>
          <c:dPt>
            <c:idx val="7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FD27-4395-BB84-62EE4AA79A04}"/>
              </c:ext>
            </c:extLst>
          </c:dPt>
          <c:dPt>
            <c:idx val="8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FD27-4395-BB84-62EE4AA79A04}"/>
              </c:ext>
            </c:extLst>
          </c:dPt>
          <c:dPt>
            <c:idx val="9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FD27-4395-BB84-62EE4AA79A04}"/>
              </c:ext>
            </c:extLst>
          </c:dPt>
          <c:dPt>
            <c:idx val="10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FD27-4395-BB84-62EE4AA79A04}"/>
              </c:ext>
            </c:extLst>
          </c:dPt>
          <c:dPt>
            <c:idx val="11"/>
            <c:invertIfNegative val="0"/>
            <c:bubble3D val="0"/>
            <c:spPr>
              <a:solidFill>
                <a:srgbClr val="E0A3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FD27-4395-BB84-62EE4AA79A0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5B6660"/>
                    </a:solidFill>
                    <a:latin typeface="Noto Sans CJK KR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clothes</c:v>
                </c:pt>
                <c:pt idx="1">
                  <c:v>shoes</c:v>
                </c:pt>
                <c:pt idx="2">
                  <c:v>paper</c:v>
                </c:pt>
                <c:pt idx="3">
                  <c:v>biological</c:v>
                </c:pt>
                <c:pt idx="4">
                  <c:v>battery</c:v>
                </c:pt>
                <c:pt idx="5">
                  <c:v>cardboard</c:v>
                </c:pt>
                <c:pt idx="6">
                  <c:v>plastic</c:v>
                </c:pt>
                <c:pt idx="7">
                  <c:v>white-glass</c:v>
                </c:pt>
                <c:pt idx="8">
                  <c:v>metal</c:v>
                </c:pt>
                <c:pt idx="9">
                  <c:v>trash</c:v>
                </c:pt>
                <c:pt idx="10">
                  <c:v>green-glass</c:v>
                </c:pt>
                <c:pt idx="11">
                  <c:v>brown-glass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5325</c:v>
                </c:pt>
                <c:pt idx="1">
                  <c:v>1977</c:v>
                </c:pt>
                <c:pt idx="2">
                  <c:v>1050</c:v>
                </c:pt>
                <c:pt idx="3">
                  <c:v>985</c:v>
                </c:pt>
                <c:pt idx="4">
                  <c:v>945</c:v>
                </c:pt>
                <c:pt idx="5">
                  <c:v>891</c:v>
                </c:pt>
                <c:pt idx="6">
                  <c:v>865</c:v>
                </c:pt>
                <c:pt idx="7">
                  <c:v>775</c:v>
                </c:pt>
                <c:pt idx="8">
                  <c:v>769</c:v>
                </c:pt>
                <c:pt idx="9">
                  <c:v>697</c:v>
                </c:pt>
                <c:pt idx="10">
                  <c:v>629</c:v>
                </c:pt>
                <c:pt idx="11">
                  <c:v>607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FD27-4395-BB84-62EE4AA79A0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463F"/>
                </a:solidFill>
                <a:latin typeface="Noto Sans CJK KR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00"/>
          <c:min val="0"/>
        </c:scaling>
        <c:delete val="0"/>
        <c:axPos val="b"/>
        <c:majorGridlines>
          <c:spPr>
            <a:ln w="12700" cap="flat">
              <a:solidFill>
                <a:srgbClr val="E6EB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79F"/>
                </a:solidFill>
                <a:latin typeface="Arial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B463F"/>
                </a:solidFill>
                <a:latin typeface="Noto Sans CJK KR"/>
              </a:defRPr>
            </a:pPr>
            <a:r>
              <a:rPr lang="ko-KR" altLang="en-US" sz="1300" b="0" i="0" u="none" strike="noStrike">
                <a:solidFill>
                  <a:srgbClr val="3B463F"/>
                </a:solidFill>
                <a:latin typeface="Noto Sans CJK KR"/>
              </a:rPr>
              <a:t>클래스별 </a:t>
            </a:r>
            <a:r>
              <a:rPr lang="en-US" sz="1300" b="0" i="0" u="none" strike="noStrike">
                <a:solidFill>
                  <a:srgbClr val="3B463F"/>
                </a:solidFill>
                <a:latin typeface="Noto Sans CJK KR"/>
              </a:rPr>
              <a:t>F1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F1</c:v>
                </c:pt>
              </c:strCache>
            </c:strRef>
          </c:tx>
          <c:spPr>
            <a:solidFill>
              <a:srgbClr val="C1562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5A3-41F4-9C59-1A98166443B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5A3-41F4-9C59-1A98166443BC}"/>
              </c:ext>
            </c:extLst>
          </c:dPt>
          <c:dPt>
            <c:idx val="2"/>
            <c:invertIfNegative val="0"/>
            <c:bubble3D val="0"/>
            <c:spPr>
              <a:solidFill>
                <a:srgbClr val="E0A3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5A3-41F4-9C59-1A98166443BC}"/>
              </c:ext>
            </c:extLst>
          </c:dPt>
          <c:dPt>
            <c:idx val="3"/>
            <c:invertIfNegative val="0"/>
            <c:bubble3D val="0"/>
            <c:spPr>
              <a:solidFill>
                <a:srgbClr val="E0A3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5A3-41F4-9C59-1A98166443BC}"/>
              </c:ext>
            </c:extLst>
          </c:dPt>
          <c:dPt>
            <c:idx val="4"/>
            <c:invertIfNegative val="0"/>
            <c:bubble3D val="0"/>
            <c:spPr>
              <a:solidFill>
                <a:srgbClr val="E0A3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5A3-41F4-9C59-1A98166443BC}"/>
              </c:ext>
            </c:extLst>
          </c:dPt>
          <c:dPt>
            <c:idx val="5"/>
            <c:invertIfNegative val="0"/>
            <c:bubble3D val="0"/>
            <c:spPr>
              <a:solidFill>
                <a:srgbClr val="E0A3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5A3-41F4-9C59-1A98166443BC}"/>
              </c:ext>
            </c:extLst>
          </c:dPt>
          <c:dPt>
            <c:idx val="6"/>
            <c:invertIfNegative val="0"/>
            <c:bubble3D val="0"/>
            <c:spPr>
              <a:solidFill>
                <a:srgbClr val="E0A3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55A3-41F4-9C59-1A98166443BC}"/>
              </c:ext>
            </c:extLst>
          </c:dPt>
          <c:dPt>
            <c:idx val="7"/>
            <c:invertIfNegative val="0"/>
            <c:bubble3D val="0"/>
            <c:spPr>
              <a:solidFill>
                <a:srgbClr val="E0A3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55A3-41F4-9C59-1A98166443BC}"/>
              </c:ext>
            </c:extLst>
          </c:dPt>
          <c:dPt>
            <c:idx val="8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55A3-41F4-9C59-1A98166443BC}"/>
              </c:ext>
            </c:extLst>
          </c:dPt>
          <c:dPt>
            <c:idx val="9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55A3-41F4-9C59-1A98166443BC}"/>
              </c:ext>
            </c:extLst>
          </c:dPt>
          <c:dPt>
            <c:idx val="10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55A3-41F4-9C59-1A98166443BC}"/>
              </c:ext>
            </c:extLst>
          </c:dPt>
          <c:dPt>
            <c:idx val="11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55A3-41F4-9C59-1A98166443BC}"/>
              </c:ext>
            </c:extLst>
          </c:dPt>
          <c:cat>
            <c:strRef>
              <c:f>Sheet1!$A$2:$A$13</c:f>
              <c:strCache>
                <c:ptCount val="12"/>
                <c:pt idx="0">
                  <c:v>plastic</c:v>
                </c:pt>
                <c:pt idx="1">
                  <c:v>white-glass</c:v>
                </c:pt>
                <c:pt idx="2">
                  <c:v>metal</c:v>
                </c:pt>
                <c:pt idx="3">
                  <c:v>trash</c:v>
                </c:pt>
                <c:pt idx="4">
                  <c:v>cardboard</c:v>
                </c:pt>
                <c:pt idx="5">
                  <c:v>brown-glass</c:v>
                </c:pt>
                <c:pt idx="6">
                  <c:v>battery</c:v>
                </c:pt>
                <c:pt idx="7">
                  <c:v>green-glass</c:v>
                </c:pt>
                <c:pt idx="8">
                  <c:v>biological</c:v>
                </c:pt>
                <c:pt idx="9">
                  <c:v>paper</c:v>
                </c:pt>
                <c:pt idx="10">
                  <c:v>shoes</c:v>
                </c:pt>
                <c:pt idx="11">
                  <c:v>clothes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0.93179999999999996</c:v>
                </c:pt>
                <c:pt idx="1">
                  <c:v>0.94779999999999998</c:v>
                </c:pt>
                <c:pt idx="2">
                  <c:v>0.97070000000000001</c:v>
                </c:pt>
                <c:pt idx="3">
                  <c:v>0.98099999999999998</c:v>
                </c:pt>
                <c:pt idx="4">
                  <c:v>0.98109999999999997</c:v>
                </c:pt>
                <c:pt idx="5">
                  <c:v>0.98380000000000001</c:v>
                </c:pt>
                <c:pt idx="6">
                  <c:v>0.98599999999999999</c:v>
                </c:pt>
                <c:pt idx="7">
                  <c:v>0.98909999999999998</c:v>
                </c:pt>
                <c:pt idx="8">
                  <c:v>0.99</c:v>
                </c:pt>
                <c:pt idx="9">
                  <c:v>0.99039999999999995</c:v>
                </c:pt>
                <c:pt idx="10">
                  <c:v>0.99339999999999995</c:v>
                </c:pt>
                <c:pt idx="11">
                  <c:v>0.99939999999999996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55A3-41F4-9C59-1A98166443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63F"/>
                </a:solidFill>
                <a:latin typeface="Noto Sans CJK KR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9"/>
        </c:scaling>
        <c:delete val="0"/>
        <c:axPos val="l"/>
        <c:majorGridlines>
          <c:spPr>
            <a:ln w="12700" cap="flat">
              <a:solidFill>
                <a:srgbClr val="E6EB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79F"/>
                </a:solidFill>
                <a:latin typeface="Arial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8357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15분 발표, 3인 분담. 이 프로젝트의 핵심 메시지는 '모델보다 데이터 품질이 먼저였다'입니다.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파이프라인 전체를 한 장으로 보여주고, 앞쪽 절반이 데이터 품질이라는 점을 강조합니다.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문제를 소개하되, 마지막 항목(중복·라벨 오류)이 이 발표의 핵심 축임을 미리 던져둡니다.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clothes 하나가 전체의 3분의 1입니다. 이 숫자가 다음 슬라이드의 출발점입니다.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'왜 macro-F1인가'의 답입니다. 유비가 아니라 우리 데이터에서 직접 측정한 반례라는 점을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색이 정답 신호이므로 증강에서 색상을 흔들면 정답을 지우는 셈입니다. 감이 아니라 측정해서 정했다는 점을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색이 정답 신호이므로 증강에서 색상을 흔들면 정답을 지우는 셈입니다. 감이 아니라 측정해서 정했다는 점을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2327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앞 슬라이드의 판단을 통계로 뒷받침하는 자리입니다. 표준편차 16배는 사실상 겹치지 않는다는 뜻이라고 설명하세요.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항목 모두 '감이 아니라 측정해서 정했다'는 점이 중요합니다. 특히 P 모드 34장은 실제로 세어본 값입니다.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파트 전환. 김태경 → 이현중.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오탐 7그룹은 서로 다른 칫솔 제품이었습니다. 알고리즘은 후보만 좁히고 최종 판단은 사람이 했다는 점이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왼쪽은 진짜 중복, 오른쪽은 오탐입니다. 알고리즘은 후보만 좁히고 최종 판단은 사람이 했다는 근거입니다.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모델을 6개 바꿔봐도 clothes→shoes 오분류는 상위권에서 빠지지 않았습니다.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204건 = held-out 59 + train OOF 145. 모델이 데이터를 검사한다는 발상이 이 파트의 하이라이트입니다.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사진을 먼저 보여주고 설명하세요. 말로 백 번 설명하는 것보다 이 한 장이 빠릅니다.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 파일을 건드리지 않았기 때문에 언제든 되돌릴 수 있고, 어떤 파일을 왜 뺐는지 근거가 남습니다.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모델은 그대로 두고 라벨만 정정했습니다. 오분류 1위 자리가 바뀌었다는 점을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직접 만든 CNN 0.65에서 미세조정 0.97로 뜁니다. 여기서 왜 lr 5e-5인가는 다음 슬라이드로 이어집니다.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직접 만든 CNN 0.65에서 미세조정 0.97로 뜁니다. 여기서 왜 lr 5e-5인가는 다음 슬라이드로 이어집니다.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105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실패를 숨기지 않고 방법론을 고쳤다는 점이 이 슬라이드의 메시지입니다.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숫자보다 패턴 변화가 더 믿을 수 있는 증거였다는 결론으로 파트를 닫습니다.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파트 전환. 이현중 → 박병찬.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정확도 0.9859보다 macro-F1 0.9787을 앞세워 말하세요. 앞에서 지표를 정한 근거와 이어집니다.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6에서 말한 '정확도가 소수 클래스 실패를 가린다'가 최종 모델에서도 통계적으로 확인됐다는 흐름입니다.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대각선이 진하다는 것부터 말하고, 남은 오분류가 어디에 몰려 있는지로 넘어가세요.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혼동행렬의 숫자 9건을 사진으로 바꿔 보여주는 자리입니다. 왼쪽 위 한 장만 짚어도 충분합니다.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EDA 단계의 기술통계가 모델링 단계의 실패를 예측했다는 점이 이 슬라이드의 하이라이트입니다.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확신도 분포가 갈린다는 사실이 '자신 없으면 사람에게 넘긴다'는 규칙을 가능하게 합니다. 다음 파트로 자연스럽게 이어집니다.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실패를 정직하게 보고하는 자리입니다. '기법이 통했다'보다 '적용할 여지가 없음을 확인했다'가 방법론적으로 더 값어치 있다는 점을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0.3% 라는 비율을 사진 여덟 장으로 바꿔 보여줍니다. 기저귀 한 장을 짚으면 라벨 오류까지 걸러냈다는 이야기로 넘어갑니다.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결론 한 문장과 한계를 함께 보여주고 끝냅니다. '뭘 했다'가 아니라 '뭘 했고 뭘 못 했는지 안다'로 마무리하세요.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4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5C9E5C">
              <a:alpha val="5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607040" y="4023360"/>
            <a:ext cx="2926080" cy="2926080"/>
          </a:xfrm>
          <a:prstGeom prst="ellipse">
            <a:avLst/>
          </a:prstGeom>
          <a:solidFill>
            <a:srgbClr val="A8CE7E">
              <a:alpha val="3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A8CE7E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KDT-17  3rd Team Project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쓰레기 이미지 12종 분류</a:t>
            </a:r>
            <a:endParaRPr lang="en-US" sz="5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2788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데이터 품질에서 시작한 딥러닝 이미지 분류</a:t>
            </a:r>
            <a:endParaRPr lang="en-US" sz="19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1463040" cy="32004"/>
          </a:xfrm>
          <a:prstGeom prst="rect">
            <a:avLst/>
          </a:prstGeom>
          <a:solidFill>
            <a:srgbClr val="A8CE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640080" y="3977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3조  (김이박)</a:t>
            </a:r>
            <a:endParaRPr lang="en-US" sz="17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0080" y="43891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팀장  이현중</a:t>
            </a:r>
            <a:endParaRPr lang="en-US" sz="1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팀원  김태경 · 박병찬</a:t>
            </a:r>
            <a:endParaRPr lang="en-US" sz="1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1</a:t>
            </a:r>
            <a:endParaRPr lang="en-US" sz="1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243584" y="45720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전체 파이프라인</a:t>
            </a:r>
            <a:endParaRPr 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243584" y="987552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네 단계 중 앞의 절반이 데이터 품질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6" name="Image 0" descr="/home/claude/deck/img/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20240"/>
            <a:ext cx="10881360" cy="23225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4617720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932688" y="47823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562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데이터 품질 단계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932688" y="508406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원본을 그대로 학습에 투입하지 않음. 중복·라벨 오류를 먼저 탐지하고 근거를 문서화.</a:t>
            </a:r>
            <a:endParaRPr lang="en-US" sz="125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217920" y="4617720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F0F6EA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 txBox="1"/>
          <p:nvPr/>
        </p:nvSpPr>
        <p:spPr>
          <a:xfrm>
            <a:off x="6510528" y="47823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7A45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모델링·검증 단계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6510528" y="508406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정제 데이터 위에서 모델 비교 · 성능 수치의 신뢰성을 통계로 검증.</a:t>
            </a:r>
            <a:endParaRPr lang="en-US" sz="125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2</a:t>
            </a:r>
            <a:endParaRPr lang="en-US" sz="1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243584" y="45720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2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데이터 현황</a:t>
            </a:r>
            <a:endParaRPr 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243584" y="987552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재활용 쓰레기 사진을 12개 클래스로 자동 분류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465255" y="2044417"/>
            <a:ext cx="4019609" cy="35136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7465255" y="159395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0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눈에 보이는 문제점</a:t>
            </a:r>
            <a:endParaRPr lang="en-US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061442E3-1386-7B8A-D2E5-79FD1D8AE2EB}"/>
              </a:ext>
            </a:extLst>
          </p:cNvPr>
          <p:cNvSpPr txBox="1"/>
          <p:nvPr/>
        </p:nvSpPr>
        <p:spPr>
          <a:xfrm>
            <a:off x="7711440" y="2237157"/>
            <a:ext cx="1585943" cy="29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00"/>
              </a:lnSpc>
              <a:spcAft>
                <a:spcPts val="800"/>
              </a:spcAft>
              <a:buSzPct val="100000"/>
            </a:pPr>
            <a:r>
              <a:rPr lang="en-US" sz="1400" b="1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① </a:t>
            </a:r>
            <a:r>
              <a:rPr lang="en-US" sz="1400" b="1" dirty="0" err="1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클래스</a:t>
            </a:r>
            <a:r>
              <a:rPr lang="en-US" sz="1400" b="1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</a:t>
            </a:r>
            <a:r>
              <a:rPr lang="en-US" sz="1400" b="1" dirty="0" err="1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불균형</a:t>
            </a:r>
            <a:endParaRPr lang="en-US" sz="1400" b="1" dirty="0">
              <a:solidFill>
                <a:srgbClr val="26312B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Noto Sans CJK KR" pitchFamily="34" charset="-120"/>
            </a:endParaRPr>
          </a:p>
          <a:p>
            <a:pPr>
              <a:lnSpc>
                <a:spcPts val="2200"/>
              </a:lnSpc>
              <a:spcAft>
                <a:spcPts val="800"/>
              </a:spcAft>
              <a:buSzPct val="100000"/>
            </a:pP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D2BF27F1-55D5-AD5D-476A-444195486BA5}"/>
              </a:ext>
            </a:extLst>
          </p:cNvPr>
          <p:cNvSpPr txBox="1"/>
          <p:nvPr/>
        </p:nvSpPr>
        <p:spPr>
          <a:xfrm>
            <a:off x="7975210" y="4273568"/>
            <a:ext cx="3097237" cy="837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00"/>
              </a:lnSpc>
              <a:spcAft>
                <a:spcPts val="800"/>
              </a:spcAft>
              <a:buSzPct val="100000"/>
            </a:pPr>
            <a:r>
              <a:rPr lang="en-US" altLang="ko-KR" sz="1400" b="1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white,</a:t>
            </a:r>
            <a:r>
              <a:rPr lang="ko-KR" altLang="en-US" sz="1400" b="1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</a:t>
            </a:r>
            <a:r>
              <a:rPr lang="en-US" altLang="ko-KR" sz="1400" b="1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green,</a:t>
            </a:r>
            <a:r>
              <a:rPr lang="ko-KR" altLang="en-US" sz="1400" b="1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</a:t>
            </a:r>
            <a:r>
              <a:rPr lang="en-US" altLang="ko-KR" sz="1400" b="1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brown-glass</a:t>
            </a:r>
          </a:p>
          <a:p>
            <a:pPr>
              <a:lnSpc>
                <a:spcPts val="2200"/>
              </a:lnSpc>
              <a:spcAft>
                <a:spcPts val="800"/>
              </a:spcAft>
              <a:buSzPct val="100000"/>
            </a:pPr>
            <a:r>
              <a:rPr lang="en-US" altLang="ko-KR" sz="1400" b="1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	→ </a:t>
            </a:r>
            <a:r>
              <a:rPr lang="en-US" altLang="ko-KR" sz="1400" b="1" dirty="0" err="1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형태</a:t>
            </a:r>
            <a:r>
              <a:rPr lang="en-US" altLang="ko-KR" sz="1400" b="1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</a:t>
            </a:r>
            <a:r>
              <a:rPr lang="en-US" altLang="ko-KR" sz="1400" b="1" dirty="0" err="1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동일</a:t>
            </a:r>
            <a:r>
              <a:rPr lang="en-US" altLang="ko-KR" sz="1400" b="1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, </a:t>
            </a:r>
            <a:r>
              <a:rPr lang="en-US" altLang="ko-KR" sz="1400" b="1" dirty="0" err="1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색만</a:t>
            </a:r>
            <a:r>
              <a:rPr lang="en-US" altLang="ko-KR" sz="1400" b="1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</a:t>
            </a:r>
            <a:r>
              <a:rPr lang="en-US" altLang="ko-KR" sz="1400" b="1" dirty="0" err="1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상이</a:t>
            </a:r>
            <a:endParaRPr lang="en-US" altLang="ko-KR" sz="14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ts val="2200"/>
              </a:lnSpc>
              <a:spcAft>
                <a:spcPts val="800"/>
              </a:spcAft>
              <a:buSzPct val="100000"/>
            </a:pPr>
            <a:endParaRPr lang="en-US" sz="1400" b="1" dirty="0">
              <a:solidFill>
                <a:srgbClr val="26312B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Noto Sans CJK KR" pitchFamily="34" charset="-120"/>
            </a:endParaRPr>
          </a:p>
          <a:p>
            <a:pPr>
              <a:lnSpc>
                <a:spcPts val="2200"/>
              </a:lnSpc>
              <a:spcAft>
                <a:spcPts val="800"/>
              </a:spcAft>
              <a:buSzPct val="100000"/>
            </a:pPr>
            <a:endParaRPr lang="en-US" sz="14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9942DE0-582C-9301-F6E8-0101F875BA4B}"/>
              </a:ext>
            </a:extLst>
          </p:cNvPr>
          <p:cNvSpPr/>
          <p:nvPr/>
        </p:nvSpPr>
        <p:spPr>
          <a:xfrm>
            <a:off x="410308" y="1714199"/>
            <a:ext cx="1524000" cy="78192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Noto Sans CJK KR"/>
                <a:ea typeface="Noto Sans CJK KR"/>
                <a:cs typeface="Noto Sans CJK KR"/>
              </a:rPr>
              <a:t>clothes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Noto Sans CJK KR"/>
                <a:ea typeface="Noto Sans CJK KR"/>
                <a:cs typeface="Noto Sans CJK KR"/>
              </a:rPr>
              <a:t>34.3 %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BD5FAF2-7C76-5124-5555-8B4CF96B71DC}"/>
              </a:ext>
            </a:extLst>
          </p:cNvPr>
          <p:cNvSpPr/>
          <p:nvPr/>
        </p:nvSpPr>
        <p:spPr>
          <a:xfrm>
            <a:off x="2525151" y="1714199"/>
            <a:ext cx="1524000" cy="78192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Noto Sans CJK KR"/>
                <a:ea typeface="Noto Sans CJK KR"/>
                <a:cs typeface="Noto Sans CJK KR"/>
              </a:rPr>
              <a:t>shoes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Noto Sans CJK KR"/>
                <a:ea typeface="Noto Sans CJK KR"/>
                <a:cs typeface="Noto Sans CJK KR"/>
              </a:rPr>
              <a:t>13.0 %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0BAAE64-6E79-3320-FE0A-926F20C2A9CE}"/>
              </a:ext>
            </a:extLst>
          </p:cNvPr>
          <p:cNvSpPr/>
          <p:nvPr/>
        </p:nvSpPr>
        <p:spPr>
          <a:xfrm>
            <a:off x="4642605" y="1714198"/>
            <a:ext cx="1524000" cy="78192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Noto Sans CJK KR"/>
                <a:ea typeface="Noto Sans CJK KR"/>
                <a:cs typeface="Noto Sans CJK KR"/>
              </a:rPr>
              <a:t>paper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Noto Sans CJK KR"/>
                <a:ea typeface="Noto Sans CJK KR"/>
                <a:cs typeface="Noto Sans CJK KR"/>
              </a:rPr>
              <a:t>6.8 %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6576723-5C4D-21A5-F298-30023D35DE0C}"/>
              </a:ext>
            </a:extLst>
          </p:cNvPr>
          <p:cNvSpPr/>
          <p:nvPr/>
        </p:nvSpPr>
        <p:spPr>
          <a:xfrm>
            <a:off x="410308" y="2647071"/>
            <a:ext cx="1524000" cy="78192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Noto Sans CJK KR"/>
                <a:ea typeface="Noto Sans CJK KR"/>
                <a:cs typeface="Noto Sans CJK KR"/>
              </a:rPr>
              <a:t>biological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Noto Sans CJK KR"/>
                <a:ea typeface="Noto Sans CJK KR"/>
                <a:cs typeface="Noto Sans CJK KR"/>
              </a:rPr>
              <a:t>6.3 %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2404763-E06D-B918-0976-1BA77CA87EDD}"/>
              </a:ext>
            </a:extLst>
          </p:cNvPr>
          <p:cNvSpPr/>
          <p:nvPr/>
        </p:nvSpPr>
        <p:spPr>
          <a:xfrm>
            <a:off x="2525151" y="2647071"/>
            <a:ext cx="1524000" cy="78192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Noto Sans CJK KR"/>
                <a:ea typeface="Noto Sans CJK KR"/>
                <a:cs typeface="Noto Sans CJK KR"/>
              </a:rPr>
              <a:t>battery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Noto Sans CJK KR"/>
                <a:ea typeface="Noto Sans CJK KR"/>
                <a:cs typeface="Noto Sans CJK KR"/>
              </a:rPr>
              <a:t>6.1 %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58AEA459-744E-2F3C-7B24-F8CEAA6F41BA}"/>
              </a:ext>
            </a:extLst>
          </p:cNvPr>
          <p:cNvSpPr/>
          <p:nvPr/>
        </p:nvSpPr>
        <p:spPr>
          <a:xfrm>
            <a:off x="4642605" y="2647070"/>
            <a:ext cx="1524000" cy="78192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Noto Sans CJK KR"/>
                <a:ea typeface="Noto Sans CJK KR"/>
                <a:cs typeface="Noto Sans CJK KR"/>
              </a:rPr>
              <a:t>cardboard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Noto Sans CJK KR"/>
                <a:ea typeface="Noto Sans CJK KR"/>
                <a:cs typeface="Noto Sans CJK KR"/>
              </a:rPr>
              <a:t>5.8 %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2DB9AFFD-EEB4-1A20-69F9-8FFC6A0FC02A}"/>
              </a:ext>
            </a:extLst>
          </p:cNvPr>
          <p:cNvSpPr/>
          <p:nvPr/>
        </p:nvSpPr>
        <p:spPr>
          <a:xfrm>
            <a:off x="410308" y="3579944"/>
            <a:ext cx="1524000" cy="78192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Noto Sans CJK KR"/>
                <a:ea typeface="Noto Sans CJK KR"/>
                <a:cs typeface="Noto Sans CJK KR"/>
              </a:rPr>
              <a:t>plastic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Noto Sans CJK KR"/>
                <a:ea typeface="Noto Sans CJK KR"/>
                <a:cs typeface="Noto Sans CJK KR"/>
              </a:rPr>
              <a:t>5.6 %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73706F36-23FD-AD45-228E-F603B5545394}"/>
              </a:ext>
            </a:extLst>
          </p:cNvPr>
          <p:cNvSpPr/>
          <p:nvPr/>
        </p:nvSpPr>
        <p:spPr>
          <a:xfrm>
            <a:off x="2525151" y="3579944"/>
            <a:ext cx="1524000" cy="78192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Noto Sans CJK KR"/>
                <a:ea typeface="Noto Sans CJK KR"/>
                <a:cs typeface="Noto Sans CJK KR"/>
              </a:rPr>
              <a:t>white-glass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Noto Sans CJK KR"/>
                <a:ea typeface="Noto Sans CJK KR"/>
                <a:cs typeface="Noto Sans CJK KR"/>
              </a:rPr>
              <a:t>5.0 %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6FFE026F-16DF-0EBD-BE9F-E2D46CE53FE9}"/>
              </a:ext>
            </a:extLst>
          </p:cNvPr>
          <p:cNvSpPr/>
          <p:nvPr/>
        </p:nvSpPr>
        <p:spPr>
          <a:xfrm>
            <a:off x="4642605" y="3579943"/>
            <a:ext cx="1524000" cy="78192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Noto Sans CJK KR"/>
                <a:ea typeface="Noto Sans CJK KR"/>
                <a:cs typeface="Noto Sans CJK KR"/>
              </a:rPr>
              <a:t>metal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Noto Sans CJK KR"/>
                <a:ea typeface="Noto Sans CJK KR"/>
                <a:cs typeface="Noto Sans CJK KR"/>
              </a:rPr>
              <a:t>5.0 %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7CCD0E7-3483-35A2-8E44-4B9B80639E8F}"/>
              </a:ext>
            </a:extLst>
          </p:cNvPr>
          <p:cNvSpPr/>
          <p:nvPr/>
        </p:nvSpPr>
        <p:spPr>
          <a:xfrm>
            <a:off x="410308" y="4512816"/>
            <a:ext cx="1524000" cy="78192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Noto Sans CJK KR"/>
                <a:ea typeface="Noto Sans CJK KR"/>
                <a:cs typeface="Noto Sans CJK KR"/>
              </a:rPr>
              <a:t>trash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Noto Sans CJK KR"/>
                <a:ea typeface="Noto Sans CJK KR"/>
                <a:cs typeface="Noto Sans CJK KR"/>
              </a:rPr>
              <a:t>4.5 %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FFDA3E88-F8F8-3930-1F95-9B94D01ACA48}"/>
              </a:ext>
            </a:extLst>
          </p:cNvPr>
          <p:cNvSpPr/>
          <p:nvPr/>
        </p:nvSpPr>
        <p:spPr>
          <a:xfrm>
            <a:off x="2525151" y="4512816"/>
            <a:ext cx="1524000" cy="78192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Noto Sans CJK KR"/>
                <a:ea typeface="Noto Sans CJK KR"/>
                <a:cs typeface="Noto Sans CJK KR"/>
              </a:rPr>
              <a:t>green-glass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Noto Sans CJK KR"/>
                <a:ea typeface="Noto Sans CJK KR"/>
                <a:cs typeface="Noto Sans CJK KR"/>
              </a:rPr>
              <a:t>4.0 %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001B5DB-5525-5EA1-3D3A-CCA142643F51}"/>
              </a:ext>
            </a:extLst>
          </p:cNvPr>
          <p:cNvSpPr/>
          <p:nvPr/>
        </p:nvSpPr>
        <p:spPr>
          <a:xfrm>
            <a:off x="4642605" y="4512815"/>
            <a:ext cx="1524000" cy="78192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Noto Sans CJK KR"/>
                <a:ea typeface="Noto Sans CJK KR"/>
                <a:cs typeface="Noto Sans CJK KR"/>
              </a:rPr>
              <a:t>brown-glass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Noto Sans CJK KR"/>
                <a:ea typeface="Noto Sans CJK KR"/>
                <a:cs typeface="Noto Sans CJK KR"/>
              </a:rPr>
              <a:t>3.9 %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FCDFECFE-1BF4-92AF-5B67-610E609F1E41}"/>
              </a:ext>
            </a:extLst>
          </p:cNvPr>
          <p:cNvSpPr txBox="1"/>
          <p:nvPr/>
        </p:nvSpPr>
        <p:spPr>
          <a:xfrm>
            <a:off x="7975210" y="2714089"/>
            <a:ext cx="2452468" cy="773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00"/>
              </a:lnSpc>
              <a:spcAft>
                <a:spcPts val="800"/>
              </a:spcAft>
              <a:buSzPct val="100000"/>
            </a:pPr>
            <a:r>
              <a:rPr lang="en-US" altLang="ko-KR" sz="1200" b="1" dirty="0"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Clothes </a:t>
            </a:r>
            <a:r>
              <a:rPr lang="ko-KR" altLang="en-US" sz="1200" b="1" dirty="0"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클래스 하나가 </a:t>
            </a:r>
            <a:r>
              <a:rPr lang="en-US" altLang="ko-KR" sz="1200" b="1" dirty="0"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34.3%</a:t>
            </a:r>
          </a:p>
          <a:p>
            <a:pPr>
              <a:lnSpc>
                <a:spcPts val="2200"/>
              </a:lnSpc>
              <a:spcAft>
                <a:spcPts val="800"/>
              </a:spcAft>
              <a:buSzPct val="100000"/>
            </a:pPr>
            <a:r>
              <a:rPr lang="ko-KR" altLang="en-US" sz="1200" b="1" dirty="0"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최소 클래스의 약 </a:t>
            </a:r>
            <a:r>
              <a:rPr lang="en-US" altLang="ko-KR" sz="1200" b="1" dirty="0"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8-9</a:t>
            </a:r>
            <a:r>
              <a:rPr lang="ko-KR" altLang="en-US" sz="1200" b="1" dirty="0"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배</a:t>
            </a:r>
            <a:endParaRPr lang="en-US" sz="12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AF8B9710-B59D-F634-E98E-160A305C30EB}"/>
              </a:ext>
            </a:extLst>
          </p:cNvPr>
          <p:cNvSpPr txBox="1"/>
          <p:nvPr/>
        </p:nvSpPr>
        <p:spPr>
          <a:xfrm>
            <a:off x="7711440" y="3786068"/>
            <a:ext cx="3097237" cy="396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00"/>
              </a:lnSpc>
              <a:spcAft>
                <a:spcPts val="800"/>
              </a:spcAft>
              <a:buSzPct val="100000"/>
            </a:pPr>
            <a:r>
              <a:rPr lang="en-US" sz="1400" b="1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② </a:t>
            </a:r>
            <a:r>
              <a:rPr lang="ko-KR" altLang="en-US" sz="1400" b="1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유리 </a:t>
            </a:r>
            <a:r>
              <a:rPr lang="en-US" altLang="ko-KR" sz="1400" b="1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3</a:t>
            </a:r>
            <a:r>
              <a:rPr lang="ko-KR" altLang="en-US" sz="1400" b="1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종 구분</a:t>
            </a:r>
            <a:endParaRPr lang="en-US" sz="14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3</a:t>
            </a:r>
            <a:endParaRPr lang="en-US" sz="1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243584" y="45720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2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눈에 보이는 문제 </a:t>
            </a:r>
            <a:r>
              <a:rPr lang="en-US" altLang="ko-KR" sz="32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① : </a:t>
            </a:r>
            <a:r>
              <a:rPr lang="ko-KR" altLang="en-US" sz="32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클래스 불균형</a:t>
            </a:r>
            <a:endParaRPr 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243584" y="987552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클래스별 이미지 수 — 최다·최소 8.77배 차이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589028935"/>
              </p:ext>
            </p:extLst>
          </p:nvPr>
        </p:nvGraphicFramePr>
        <p:xfrm>
          <a:off x="288915" y="1586042"/>
          <a:ext cx="7189888" cy="39095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8282354" y="1517904"/>
            <a:ext cx="3291840" cy="3977640"/>
          </a:xfrm>
          <a:prstGeom prst="roundRect">
            <a:avLst>
              <a:gd name="adj" fmla="val 2222"/>
            </a:avLst>
          </a:prstGeom>
          <a:solidFill>
            <a:srgbClr val="F0F6EA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8419514" y="1792224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B3562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34.3%</a:t>
            </a:r>
            <a:endParaRPr lang="en-US" sz="4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8419514" y="266090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clothes 한 클래스가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전체에서 차지하는 비중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739554" y="3505434"/>
            <a:ext cx="2377440" cy="18288"/>
          </a:xfrm>
          <a:prstGeom prst="rect">
            <a:avLst/>
          </a:prstGeom>
          <a:solidFill>
            <a:srgbClr val="D5DE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8"/>
          <p:cNvSpPr txBox="1"/>
          <p:nvPr/>
        </p:nvSpPr>
        <p:spPr>
          <a:xfrm>
            <a:off x="8419514" y="3735324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D7A45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8.77배</a:t>
            </a:r>
            <a:endParaRPr lang="en-US" sz="4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8419514" y="459814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최다 / 최소 클래스 비율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3</a:t>
            </a:r>
            <a:endParaRPr lang="en-US" sz="1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243584" y="45720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2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눈에 보이는 문제 </a:t>
            </a:r>
            <a:r>
              <a:rPr lang="en-US" altLang="ko-KR" sz="32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① : </a:t>
            </a:r>
            <a:r>
              <a:rPr lang="ko-KR" altLang="en-US" sz="32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클래스 불균형</a:t>
            </a:r>
            <a:endParaRPr lang="en-US" altLang="ko-KR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243584" y="987552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2000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정확도만 보면 안되는 이유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029200" cy="1920240"/>
          </a:xfrm>
          <a:prstGeom prst="roundRect">
            <a:avLst>
              <a:gd name="adj" fmla="val 3810"/>
            </a:avLst>
          </a:prstGeom>
          <a:solidFill>
            <a:srgbClr val="F0F6EA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960120" y="18745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B3562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단순 </a:t>
            </a:r>
            <a:r>
              <a:rPr lang="en-US" sz="1300" b="1" dirty="0" err="1">
                <a:solidFill>
                  <a:srgbClr val="B3562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기준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960120" y="217627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모든 입력을 clothes 라고만 답하는 모델</a:t>
            </a:r>
            <a:endParaRPr lang="en-US" sz="17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960120" y="2971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학습 없음 · 파라미터 0개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50292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960120" y="3794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정확도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3931920" y="37947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B3562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0.3398</a:t>
            </a:r>
            <a:endParaRPr lang="en-US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" y="4453128"/>
            <a:ext cx="50292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960120" y="44531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balanced accuracy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3931920" y="44531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0.0833</a:t>
            </a:r>
            <a:endParaRPr lang="en-US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5111496"/>
            <a:ext cx="50292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960120" y="511149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macro-F1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3931920" y="511149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3D7A45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0.0423</a:t>
            </a:r>
            <a:endParaRPr lang="en-US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35040" y="1691640"/>
            <a:ext cx="5532120" cy="3840480"/>
          </a:xfrm>
          <a:prstGeom prst="roundRect">
            <a:avLst>
              <a:gd name="adj" fmla="val 1905"/>
            </a:avLst>
          </a:prstGeom>
          <a:solidFill>
            <a:srgbClr val="2A4A33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6355080" y="19659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700" b="1" dirty="0" err="1">
                <a:solidFill>
                  <a:srgbClr val="FFFFF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정확도</a:t>
            </a:r>
            <a:r>
              <a:rPr lang="en-US" sz="2700" b="1" dirty="0">
                <a:solidFill>
                  <a:srgbClr val="FFFFF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: 34%</a:t>
            </a:r>
            <a:endParaRPr lang="en-US" sz="27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>
              <a:lnSpc>
                <a:spcPts val="36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macro-F1 : 0.042</a:t>
            </a:r>
            <a:endParaRPr lang="en-US" sz="27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355080" y="31272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CE7E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약 8배 차이</a:t>
            </a:r>
            <a:endParaRPr lang="en-US" sz="16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6355080" y="3611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 err="1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다수</a:t>
            </a:r>
            <a:r>
              <a:rPr lang="en-US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</a:t>
            </a:r>
            <a:r>
              <a:rPr lang="en-US" sz="1400" dirty="0" err="1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클래스</a:t>
            </a:r>
            <a:r>
              <a:rPr lang="en-US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</a:t>
            </a:r>
            <a:r>
              <a:rPr lang="en-US" sz="1400" dirty="0" err="1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하나</a:t>
            </a:r>
            <a:r>
              <a:rPr lang="ko-KR" altLang="en-US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로</a:t>
            </a:r>
            <a:r>
              <a:rPr lang="en-US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만</a:t>
            </a:r>
            <a:r>
              <a:rPr lang="ko-KR" altLang="en-US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예측 </a:t>
            </a:r>
            <a:r>
              <a:rPr lang="en-US" altLang="ko-KR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→ </a:t>
            </a:r>
            <a:r>
              <a:rPr lang="ko-KR" altLang="en-US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정확도 ↑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152A45AB-3BA8-A114-9324-863BA3947DF1}"/>
              </a:ext>
            </a:extLst>
          </p:cNvPr>
          <p:cNvSpPr txBox="1"/>
          <p:nvPr/>
        </p:nvSpPr>
        <p:spPr>
          <a:xfrm>
            <a:off x="6364224" y="4981253"/>
            <a:ext cx="4937760" cy="397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ko-KR" altLang="en-US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목적 </a:t>
            </a:r>
            <a:r>
              <a:rPr lang="en-US" altLang="ko-KR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= </a:t>
            </a:r>
            <a:r>
              <a:rPr lang="en-US" sz="1400" dirty="0" err="1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모든</a:t>
            </a:r>
            <a:r>
              <a:rPr lang="en-US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종류를 </a:t>
            </a:r>
            <a:r>
              <a:rPr lang="en-US" sz="1400" dirty="0" err="1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고르게</a:t>
            </a:r>
            <a:r>
              <a:rPr lang="en-US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</a:t>
            </a:r>
            <a:r>
              <a:rPr lang="en-US" sz="1400" dirty="0" err="1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맞히기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C5644CFD-FF12-8311-D027-53DD963ADFD3}"/>
              </a:ext>
            </a:extLst>
          </p:cNvPr>
          <p:cNvSpPr txBox="1"/>
          <p:nvPr/>
        </p:nvSpPr>
        <p:spPr>
          <a:xfrm>
            <a:off x="6364224" y="4173416"/>
            <a:ext cx="4937760" cy="654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macro-F1 : </a:t>
            </a:r>
            <a:r>
              <a:rPr lang="ko-KR" altLang="en-US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모든 </a:t>
            </a:r>
            <a:r>
              <a:rPr lang="en-US" sz="1400" dirty="0" err="1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클래스의</a:t>
            </a:r>
            <a:r>
              <a:rPr lang="en-US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F1 을 동등 </a:t>
            </a:r>
            <a:r>
              <a:rPr lang="en-US" sz="1400" dirty="0" err="1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가중</a:t>
            </a:r>
            <a:r>
              <a:rPr lang="en-US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</a:t>
            </a:r>
            <a:r>
              <a:rPr lang="en-US" sz="1400" dirty="0" err="1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평균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>
              <a:lnSpc>
                <a:spcPts val="2200"/>
              </a:lnSpc>
              <a:buNone/>
            </a:pPr>
            <a:r>
              <a:rPr lang="en-US" altLang="ko-KR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               → </a:t>
            </a:r>
            <a:r>
              <a:rPr lang="en-US" sz="1400" dirty="0" err="1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나머지</a:t>
            </a:r>
            <a:r>
              <a:rPr lang="en-US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11개를 전부 틀리면 즉시 </a:t>
            </a:r>
            <a:r>
              <a:rPr lang="en-US" sz="1400" dirty="0" err="1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붕괴</a:t>
            </a:r>
            <a:r>
              <a:rPr lang="en-US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.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4</a:t>
            </a:r>
            <a:endParaRPr lang="en-US" sz="1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243584" y="45720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2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눈에 보이는 문제 </a:t>
            </a:r>
            <a:r>
              <a:rPr lang="en-US" altLang="ko-KR" sz="32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② : </a:t>
            </a:r>
            <a:r>
              <a:rPr lang="ko-KR" altLang="en-US" sz="32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유리 색상 분류</a:t>
            </a:r>
            <a:endParaRPr 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243584" y="987552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형태가 같은 세 클래스를 가르는 단서는 색뿐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9A806A9-0A22-19E9-A755-5CC0D653D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0704" y="1946580"/>
            <a:ext cx="2736240" cy="273624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C555B80-F948-1720-712A-2A003F3E31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584" y="1914600"/>
            <a:ext cx="1680429" cy="3028797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63E2847-5451-3244-1C9D-718EAB04E6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1169" y="2244235"/>
            <a:ext cx="3540369" cy="265527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FA90095-365B-A474-B32E-B81628F0B7F9}"/>
              </a:ext>
            </a:extLst>
          </p:cNvPr>
          <p:cNvSpPr txBox="1"/>
          <p:nvPr/>
        </p:nvSpPr>
        <p:spPr>
          <a:xfrm>
            <a:off x="1460458" y="5257800"/>
            <a:ext cx="1528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oto Sans CJK KR"/>
                <a:ea typeface="Noto Sans CJK KR"/>
                <a:cs typeface="Noto Sans CJK KR"/>
              </a:rPr>
              <a:t>Brown-glass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73015B-3FE3-A365-3820-D857FA5A1380}"/>
              </a:ext>
            </a:extLst>
          </p:cNvPr>
          <p:cNvSpPr txBox="1"/>
          <p:nvPr/>
        </p:nvSpPr>
        <p:spPr>
          <a:xfrm>
            <a:off x="4360492" y="5257800"/>
            <a:ext cx="1416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oto Sans CJK KR"/>
                <a:ea typeface="Noto Sans CJK KR"/>
                <a:cs typeface="Noto Sans CJK KR"/>
              </a:rPr>
              <a:t>Green-glass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B435D6-5DC1-DEF2-8DFB-3B7E85346FA3}"/>
              </a:ext>
            </a:extLst>
          </p:cNvPr>
          <p:cNvSpPr txBox="1"/>
          <p:nvPr/>
        </p:nvSpPr>
        <p:spPr>
          <a:xfrm>
            <a:off x="8264277" y="5257800"/>
            <a:ext cx="1416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oto Sans CJK KR"/>
                <a:ea typeface="Noto Sans CJK KR"/>
                <a:cs typeface="Noto Sans CJK KR"/>
              </a:rPr>
              <a:t>White-glass</a:t>
            </a:r>
            <a:endParaRPr lang="ko-KR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1500" b="1" dirty="0">
                <a:solidFill>
                  <a:srgbClr val="FFFFF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4</a:t>
            </a:r>
            <a:endParaRPr lang="en-US" sz="1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243584" y="45720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2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눈에 보이는 문제 </a:t>
            </a:r>
            <a:r>
              <a:rPr lang="en-US" altLang="ko-KR" sz="32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② :</a:t>
            </a:r>
            <a:r>
              <a:rPr lang="en-US" altLang="ko-KR" sz="32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</a:t>
            </a:r>
            <a:r>
              <a:rPr lang="ko-KR" altLang="en-US" sz="32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유리 색상 분류</a:t>
            </a:r>
            <a:endParaRPr 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243584" y="987552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형태가 같은 세 클래스를 가르는 단서는 색뿐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6" name="Image 0" descr="/home/claude/deck/img/glass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1572768"/>
            <a:ext cx="10378440" cy="37581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5897880"/>
            <a:ext cx="10881360" cy="731520"/>
          </a:xfrm>
          <a:prstGeom prst="rect">
            <a:avLst/>
          </a:prstGeom>
          <a:solidFill>
            <a:srgbClr val="EDF1EA"/>
          </a:solidFill>
          <a:ln w="9525">
            <a:solidFill>
              <a:srgbClr val="DCE4D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640080" y="5897880"/>
            <a:ext cx="64008" cy="731520"/>
          </a:xfrm>
          <a:prstGeom prst="rect">
            <a:avLst/>
          </a:prstGeom>
          <a:solidFill>
            <a:srgbClr val="3D7A4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932688" y="58978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3D7A45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측정</a:t>
            </a:r>
            <a:r>
              <a:rPr lang="en-US" sz="125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 클래스당 250장 표본 · HSV 변환 후 채도 40 미만 · 명도 30 미만 픽셀 제외 (배경·그림자 노이즈 차단)</a:t>
            </a:r>
            <a:endParaRPr lang="en-US" sz="125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3D7A45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결정</a:t>
            </a:r>
            <a:r>
              <a:rPr lang="en-US" sz="125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 색이 정답 신호 → 증강에서 hue = 0.0 · saturation = 0.05 로 색 조작 최소화</a:t>
            </a:r>
            <a:endParaRPr lang="en-US" sz="125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6566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5</a:t>
            </a:r>
            <a:endParaRPr lang="en-US" sz="1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243584" y="45720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검정 ① : 색 차이는 우연이 아닌가</a:t>
            </a:r>
            <a:endParaRPr 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243584" y="987552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겹침 계수는 기술통계 — 우연의 가능성은 설명하지 못함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2880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850392" y="1691640"/>
            <a:ext cx="7087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562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가설</a:t>
            </a:r>
            <a:endParaRPr lang="en-US" sz="1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79233" y="2096086"/>
            <a:ext cx="26020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00B05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H0</a:t>
            </a:r>
            <a:r>
              <a:rPr lang="en-US" sz="125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 세 클래스의 </a:t>
            </a:r>
            <a:r>
              <a:rPr lang="en-US" sz="1250" dirty="0" err="1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색상</a:t>
            </a:r>
            <a:r>
              <a:rPr lang="en-US" sz="125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</a:t>
            </a:r>
            <a:r>
              <a:rPr lang="en-US" sz="1250" dirty="0" err="1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분포</a:t>
            </a:r>
            <a:r>
              <a:rPr lang="ko-KR" altLang="en-US" sz="125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는 같다</a:t>
            </a:r>
            <a:endParaRPr lang="en-US" sz="125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9593" y="1554480"/>
            <a:ext cx="7406640" cy="1417320"/>
          </a:xfrm>
          <a:prstGeom prst="roundRect">
            <a:avLst>
              <a:gd name="adj" fmla="val 5161"/>
            </a:avLst>
          </a:prstGeom>
          <a:solidFill>
            <a:srgbClr val="F0F6EA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3980453" y="1691640"/>
            <a:ext cx="14410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7A45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방법 — 순열검정</a:t>
            </a:r>
            <a:endParaRPr lang="en-US" sz="1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3980453" y="2056228"/>
            <a:ext cx="14880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ko-KR" altLang="en-US" sz="125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유의수준</a:t>
            </a:r>
            <a:r>
              <a:rPr lang="el-GR" altLang="ko-KR" sz="1250" dirty="0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α</a:t>
            </a:r>
            <a:r>
              <a:rPr lang="en-US" altLang="ko-KR" sz="1250" dirty="0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 = 0.05</a:t>
            </a:r>
            <a:endParaRPr lang="en-US" sz="1250" dirty="0">
              <a:solidFill>
                <a:srgbClr val="26312B"/>
              </a:solidFill>
              <a:latin typeface="Noto Sans CJK KR" panose="02030600000101010101" pitchFamily="18" charset="-127"/>
              <a:ea typeface="Noto Sans CJK KR" panose="02030600000101010101" pitchFamily="18" charset="-127"/>
              <a:cs typeface="Noto Sans CJK KR" pitchFamily="34" charset="-120"/>
            </a:endParaRPr>
          </a:p>
        </p:txBody>
      </p:sp>
      <p:pic>
        <p:nvPicPr>
          <p:cNvPr id="12" name="Image 0" descr="/home/claude/deck/img/perm_test.png"/>
          <p:cNvPicPr>
            <a:picLocks noChangeAspect="1"/>
          </p:cNvPicPr>
          <p:nvPr/>
        </p:nvPicPr>
        <p:blipFill>
          <a:blip r:embed="rId3"/>
          <a:srcRect t="9926"/>
          <a:stretch/>
        </p:blipFill>
        <p:spPr>
          <a:xfrm>
            <a:off x="483255" y="3308736"/>
            <a:ext cx="7857208" cy="25342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546690" y="3108960"/>
            <a:ext cx="2983893" cy="2734056"/>
          </a:xfrm>
          <a:prstGeom prst="roundRect">
            <a:avLst>
              <a:gd name="adj" fmla="val 2909"/>
            </a:avLst>
          </a:prstGeom>
          <a:solidFill>
            <a:srgbClr val="2A4A33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 txBox="1"/>
          <p:nvPr/>
        </p:nvSpPr>
        <p:spPr>
          <a:xfrm>
            <a:off x="8805956" y="32461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8CE7E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결론</a:t>
            </a:r>
            <a:endParaRPr lang="en-US" sz="1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8863478" y="3580673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p = 0.0002</a:t>
            </a:r>
            <a:endParaRPr lang="en-US" sz="2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8863478" y="4637159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CE7E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H0 </a:t>
            </a:r>
            <a:r>
              <a:rPr lang="en-US" sz="1500" b="1" dirty="0" err="1">
                <a:solidFill>
                  <a:srgbClr val="A8CE7E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기각</a:t>
            </a:r>
            <a:r>
              <a:rPr lang="en-US" sz="1500" b="1" dirty="0">
                <a:solidFill>
                  <a:srgbClr val="A8CE7E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</a:t>
            </a:r>
            <a:r>
              <a:rPr lang="en-US" sz="1500" b="1" dirty="0">
                <a:solidFill>
                  <a:srgbClr val="A8CE7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→ H1 </a:t>
            </a:r>
            <a:r>
              <a:rPr lang="ko-KR" altLang="en-US" sz="1500" b="1" dirty="0">
                <a:solidFill>
                  <a:srgbClr val="A8CE7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채택</a:t>
            </a:r>
            <a:r>
              <a:rPr lang="en-US" sz="1500" b="1" dirty="0">
                <a:solidFill>
                  <a:srgbClr val="A8CE7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 </a:t>
            </a:r>
            <a:endParaRPr lang="en-US" sz="1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8910673" y="5060879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유리 클래스마다 색이 다름</a:t>
            </a:r>
            <a:endParaRPr lang="en-US" sz="115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B61565ED-C9A4-FBC4-2658-2A400366BE6A}"/>
              </a:ext>
            </a:extLst>
          </p:cNvPr>
          <p:cNvSpPr txBox="1"/>
          <p:nvPr/>
        </p:nvSpPr>
        <p:spPr>
          <a:xfrm>
            <a:off x="8981401" y="5321808"/>
            <a:ext cx="2084832" cy="274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→ </a:t>
            </a:r>
            <a:r>
              <a:rPr lang="en-US" sz="1150" dirty="0" err="1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증강에서</a:t>
            </a:r>
            <a:r>
              <a:rPr lang="en-US" sz="115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색 </a:t>
            </a:r>
            <a:r>
              <a:rPr lang="en-US" sz="1150" dirty="0" err="1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조작</a:t>
            </a:r>
            <a:r>
              <a:rPr lang="en-US" sz="115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X</a:t>
            </a:r>
            <a:endParaRPr lang="en-US" sz="115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EA7B7B5D-BB18-8F19-FB59-0AD6715F56A6}"/>
              </a:ext>
            </a:extLst>
          </p:cNvPr>
          <p:cNvSpPr txBox="1"/>
          <p:nvPr/>
        </p:nvSpPr>
        <p:spPr>
          <a:xfrm>
            <a:off x="3980453" y="2434679"/>
            <a:ext cx="5316499" cy="318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ko-KR" altLang="en-US" sz="125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라벨만 무작위로 섞어서 세 클래스의 평균 겹침 계수 측정 </a:t>
            </a:r>
            <a:r>
              <a:rPr lang="ko-KR" altLang="ko-KR" sz="1250" dirty="0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⇒</a:t>
            </a:r>
            <a:r>
              <a:rPr lang="en-US" altLang="ko-KR" sz="1250" dirty="0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 5000</a:t>
            </a:r>
            <a:r>
              <a:rPr lang="ko-KR" altLang="en-US" sz="1250" dirty="0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회 반복</a:t>
            </a:r>
            <a:r>
              <a:rPr lang="ko-KR" altLang="en-US" sz="125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</a:t>
            </a:r>
            <a:endParaRPr lang="en-US" sz="1250" dirty="0">
              <a:solidFill>
                <a:srgbClr val="26312B"/>
              </a:solidFill>
              <a:latin typeface="Noto Sans CJK KR" panose="02030600000101010101" pitchFamily="18" charset="-127"/>
              <a:ea typeface="Noto Sans CJK KR" panose="02030600000101010101" pitchFamily="18" charset="-127"/>
              <a:cs typeface="Noto Sans CJK KR" pitchFamily="34" charset="-120"/>
            </a:endParaRPr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A30C5662-8D77-0890-12F1-1463BA10F91A}"/>
              </a:ext>
            </a:extLst>
          </p:cNvPr>
          <p:cNvSpPr txBox="1"/>
          <p:nvPr/>
        </p:nvSpPr>
        <p:spPr>
          <a:xfrm>
            <a:off x="5998464" y="2054572"/>
            <a:ext cx="3836192" cy="28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ko-KR" altLang="en-US" sz="1250" dirty="0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통계량 </a:t>
            </a:r>
            <a:r>
              <a:rPr lang="en-US" altLang="ko-KR" sz="1250" dirty="0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= </a:t>
            </a:r>
            <a:r>
              <a:rPr lang="ko-KR" altLang="en-US" sz="1250" dirty="0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평균 겹침 계수 </a:t>
            </a:r>
            <a:r>
              <a:rPr lang="ko-KR" altLang="ko-KR" sz="1250" dirty="0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⇒</a:t>
            </a:r>
            <a:r>
              <a:rPr lang="en-US" altLang="ko-KR" sz="1250" dirty="0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 </a:t>
            </a:r>
            <a:r>
              <a:rPr lang="ko-KR" altLang="en-US" sz="1250" dirty="0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얼마나 겹치나</a:t>
            </a:r>
            <a:r>
              <a:rPr lang="en-US" altLang="ko-KR" sz="1250" dirty="0">
                <a:solidFill>
                  <a:srgbClr val="26312B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Noto Sans CJK KR" pitchFamily="34" charset="-120"/>
              </a:rPr>
              <a:t>?</a:t>
            </a:r>
            <a:endParaRPr lang="en-US" sz="1250" dirty="0">
              <a:solidFill>
                <a:srgbClr val="26312B"/>
              </a:solidFill>
              <a:latin typeface="Noto Sans CJK KR" panose="02030600000101010101" pitchFamily="18" charset="-127"/>
              <a:ea typeface="Noto Sans CJK KR" panose="02030600000101010101" pitchFamily="18" charset="-127"/>
              <a:cs typeface="Noto Sans CJK KR" pitchFamily="34" charset="-120"/>
            </a:endParaRPr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A9D1A8CC-D571-04F4-42DE-2C4DD7C53721}"/>
              </a:ext>
            </a:extLst>
          </p:cNvPr>
          <p:cNvSpPr txBox="1"/>
          <p:nvPr/>
        </p:nvSpPr>
        <p:spPr>
          <a:xfrm>
            <a:off x="779233" y="2440276"/>
            <a:ext cx="26020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H1  세 클래스의 </a:t>
            </a:r>
            <a:r>
              <a:rPr lang="en-US" sz="1250" dirty="0" err="1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색상</a:t>
            </a:r>
            <a:r>
              <a:rPr lang="en-US" sz="125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</a:t>
            </a:r>
            <a:r>
              <a:rPr lang="en-US" sz="1250" dirty="0" err="1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분포</a:t>
            </a:r>
            <a:r>
              <a:rPr lang="ko-KR" altLang="en-US" sz="125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는 다르다</a:t>
            </a:r>
            <a:endParaRPr lang="en-US" sz="125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32BCDFAC-B16A-9F06-16C0-7A374B850832}"/>
              </a:ext>
            </a:extLst>
          </p:cNvPr>
          <p:cNvSpPr txBox="1"/>
          <p:nvPr/>
        </p:nvSpPr>
        <p:spPr>
          <a:xfrm>
            <a:off x="8863478" y="4069081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유의수준 </a:t>
            </a:r>
            <a:r>
              <a:rPr lang="en-US" altLang="ko-KR" sz="1400" b="1" dirty="0">
                <a:solidFill>
                  <a:srgbClr val="FFFFF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α</a:t>
            </a:r>
            <a:r>
              <a:rPr lang="ko-KR" altLang="en-US" sz="1400" b="1" dirty="0">
                <a:solidFill>
                  <a:srgbClr val="FFFFF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보다 작다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6</a:t>
            </a:r>
            <a:endParaRPr lang="en-US" sz="1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243584" y="45720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이미지 품질 점검</a:t>
            </a:r>
            <a:endParaRPr 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243584" y="987552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학습 착수 전 확인 항목 4가지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1915668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960120" y="20985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손상 파일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932688" y="239115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D7A45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0건</a:t>
            </a:r>
            <a:endParaRPr 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960120" y="293979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PIL verify 전수 검사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학습 중 크래시 위험 없음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17920" y="1919185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537960" y="2102065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팔레트(P) 모드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537960" y="2394673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3562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34장</a:t>
            </a:r>
            <a:endParaRPr 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537960" y="2943313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채널이 3이 아니라 배치 파손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convert("RGB") 필수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" y="4288536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960120" y="44714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해상도 산포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960120" y="476402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D7A45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51 ~ 888px</a:t>
            </a:r>
            <a:endParaRPr 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960120" y="5312664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종횡비도 제각각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resize 필요 (128 → 224)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5" name="Shape 12">
            <a:extLst>
              <a:ext uri="{FF2B5EF4-FFF2-40B4-BE49-F238E27FC236}">
                <a16:creationId xmlns:a16="http://schemas.microsoft.com/office/drawing/2014/main" id="{9B8370F8-DE58-173C-65D7-6F94979278C0}"/>
              </a:ext>
            </a:extLst>
          </p:cNvPr>
          <p:cNvSpPr/>
          <p:nvPr/>
        </p:nvSpPr>
        <p:spPr>
          <a:xfrm>
            <a:off x="6217920" y="4288536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B66F6A14-75A0-6D46-CFB7-F2A54B21061D}"/>
              </a:ext>
            </a:extLst>
          </p:cNvPr>
          <p:cNvSpPr txBox="1"/>
          <p:nvPr/>
        </p:nvSpPr>
        <p:spPr>
          <a:xfrm>
            <a:off x="6537960" y="44714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색상 정보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BBFF0BEF-F5CE-F65D-1BF3-B8A2CD011DCC}"/>
              </a:ext>
            </a:extLst>
          </p:cNvPr>
          <p:cNvSpPr txBox="1"/>
          <p:nvPr/>
        </p:nvSpPr>
        <p:spPr>
          <a:xfrm>
            <a:off x="6537960" y="476402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B3562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유리 </a:t>
            </a:r>
            <a:r>
              <a:rPr lang="en-US" altLang="ko-KR" sz="2400" b="1" dirty="0">
                <a:solidFill>
                  <a:srgbClr val="B3562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3</a:t>
            </a:r>
            <a:r>
              <a:rPr lang="ko-KR" altLang="en-US" sz="2400" b="1" dirty="0">
                <a:solidFill>
                  <a:srgbClr val="B3562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종</a:t>
            </a:r>
            <a:endParaRPr lang="en-US" altLang="ko-KR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86AA7040-DB85-E489-1130-72A198C9C40A}"/>
              </a:ext>
            </a:extLst>
          </p:cNvPr>
          <p:cNvSpPr txBox="1"/>
          <p:nvPr/>
        </p:nvSpPr>
        <p:spPr>
          <a:xfrm>
            <a:off x="6537960" y="5312664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ko-KR" altLang="en-US" sz="130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유일한 단서 </a:t>
            </a:r>
            <a:r>
              <a:rPr lang="en-US" altLang="ko-KR" sz="130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= </a:t>
            </a:r>
            <a:r>
              <a:rPr lang="ko-KR" altLang="en-US" sz="130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색</a:t>
            </a:r>
            <a:endParaRPr lang="en-US" altLang="ko-KR" sz="1300" dirty="0">
              <a:solidFill>
                <a:srgbClr val="26312B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Noto Sans CJK KR" pitchFamily="34" charset="-120"/>
            </a:endParaRPr>
          </a:p>
          <a:p>
            <a:pPr marL="0" indent="0">
              <a:lnSpc>
                <a:spcPts val="1900"/>
              </a:lnSpc>
              <a:buNone/>
            </a:pPr>
            <a:r>
              <a:rPr lang="ko-KR" altLang="en-US" sz="1300" dirty="0"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증강 시 건드리면 안됨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7700" y="1714500"/>
            <a:ext cx="8591550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114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이현중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647700" y="2222500"/>
            <a:ext cx="8044815" cy="1452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1236"/>
              </a:lnSpc>
              <a:buNone/>
            </a:pPr>
            <a:r>
              <a:rPr lang="en-US" sz="4800" b="1" kern="0" spc="-96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폴더만 봐서는 알 수 </a:t>
            </a:r>
            <a:r>
              <a:rPr lang="en-US" sz="4800" b="1" kern="0" spc="-96" dirty="0" err="1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없는</a:t>
            </a:r>
            <a:r>
              <a:rPr lang="en-US" sz="4800" b="1" kern="0" spc="-96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문</a:t>
            </a:r>
            <a:r>
              <a:rPr lang="ko-KR" altLang="en-US" sz="4800" b="1" kern="0" spc="-96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</a:t>
            </a:r>
            <a:br>
              <a:rPr lang="en-US" sz="4800" b="1" kern="0" spc="-9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4800" b="1" kern="0" spc="-96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&amp; </a:t>
            </a:r>
            <a:r>
              <a:rPr lang="ko-KR" altLang="en-US" sz="4800" b="1" kern="0" spc="-96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 학습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7700" y="4417814"/>
            <a:ext cx="85915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703"/>
              </a:lnSpc>
              <a:buNone/>
            </a:pPr>
            <a:r>
              <a:rPr lang="en-US" sz="1575" dirty="0">
                <a:solidFill>
                  <a:srgbClr val="DCE8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사진이 여러 장 · 신발 사진이 clothes 폴더에 혼입</a:t>
            </a:r>
            <a:endParaRPr lang="en-US" sz="15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76250"/>
            <a:ext cx="438150" cy="438150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71500" y="4762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238250" y="476250"/>
            <a:ext cx="5174273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kern="0" spc="-30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 이미지 탐지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8250" y="981075"/>
            <a:ext cx="1029233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ko-KR" alt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총 </a:t>
            </a:r>
            <a:r>
              <a:rPr 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1.2억</a:t>
            </a:r>
            <a:r>
              <a:rPr lang="ko-KR" alt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쌍</a:t>
            </a:r>
            <a:r>
              <a:rPr lang="ko-KR" alt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 이미지를</a:t>
            </a:r>
            <a:r>
              <a:rPr 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세 단계로 축소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047750" y="1570831"/>
            <a:ext cx="10096500" cy="352266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9600" y="5378450"/>
            <a:ext cx="2628900" cy="1060450"/>
          </a:xfrm>
          <a:prstGeom prst="roundRect">
            <a:avLst>
              <a:gd name="adj" fmla="val 12575"/>
            </a:avLst>
          </a:prstGeom>
          <a:solidFill>
            <a:srgbClr val="F0F6EA"/>
          </a:solidFill>
          <a:ln w="6350">
            <a:solidFill>
              <a:srgbClr val="D6E4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1502172" y="5556250"/>
            <a:ext cx="1563628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18그룹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359594" y="6026150"/>
            <a:ext cx="1776591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완전 동일 (MD5)</a:t>
            </a:r>
            <a:endParaRPr lang="en-US" sz="1275" dirty="0"/>
          </a:p>
        </p:txBody>
      </p:sp>
      <p:sp>
        <p:nvSpPr>
          <p:cNvPr id="10" name="Shape 7"/>
          <p:cNvSpPr/>
          <p:nvPr/>
        </p:nvSpPr>
        <p:spPr>
          <a:xfrm>
            <a:off x="3390900" y="5378450"/>
            <a:ext cx="2628900" cy="1060450"/>
          </a:xfrm>
          <a:prstGeom prst="roundRect">
            <a:avLst>
              <a:gd name="adj" fmla="val 12575"/>
            </a:avLst>
          </a:prstGeom>
          <a:solidFill>
            <a:srgbClr val="F0F6EA"/>
          </a:solidFill>
          <a:ln w="6350">
            <a:solidFill>
              <a:srgbClr val="D6E4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4362946" y="5556250"/>
            <a:ext cx="1293439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3그룹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4310162" y="6026150"/>
            <a:ext cx="1277477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라벨이 충돌</a:t>
            </a:r>
            <a:endParaRPr lang="en-US" sz="1275" dirty="0"/>
          </a:p>
        </p:txBody>
      </p:sp>
      <p:sp>
        <p:nvSpPr>
          <p:cNvPr id="13" name="Shape 10"/>
          <p:cNvSpPr/>
          <p:nvPr/>
        </p:nvSpPr>
        <p:spPr>
          <a:xfrm>
            <a:off x="6172200" y="5378450"/>
            <a:ext cx="2628900" cy="1060450"/>
          </a:xfrm>
          <a:prstGeom prst="roundRect">
            <a:avLst>
              <a:gd name="adj" fmla="val 12575"/>
            </a:avLst>
          </a:prstGeom>
          <a:solidFill>
            <a:srgbClr val="F0F6EA"/>
          </a:solidFill>
          <a:ln w="6350">
            <a:solidFill>
              <a:srgbClr val="D6E4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7064772" y="5556250"/>
            <a:ext cx="1563628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42그룹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7165975" y="6026150"/>
            <a:ext cx="1057763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근접 중복</a:t>
            </a:r>
            <a:endParaRPr lang="en-US" sz="1275" dirty="0"/>
          </a:p>
        </p:txBody>
      </p:sp>
      <p:sp>
        <p:nvSpPr>
          <p:cNvPr id="16" name="Shape 13"/>
          <p:cNvSpPr/>
          <p:nvPr/>
        </p:nvSpPr>
        <p:spPr>
          <a:xfrm>
            <a:off x="8953500" y="5378450"/>
            <a:ext cx="2628900" cy="1060450"/>
          </a:xfrm>
          <a:prstGeom prst="roundRect">
            <a:avLst>
              <a:gd name="adj" fmla="val 12575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9925546" y="5556250"/>
            <a:ext cx="1293439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7그룹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9775627" y="6026150"/>
            <a:ext cx="1563898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육안 오탐 제외</a:t>
            </a:r>
            <a:endParaRPr lang="en-US" sz="12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76250"/>
            <a:ext cx="438150" cy="438150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71500" y="4762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238250" y="476250"/>
            <a:ext cx="491340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kern="0" spc="-30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탐지 결과를 눈으로 확인한다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8250" y="981075"/>
            <a:ext cx="1029233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알고리즘이 찾은 것과 사람이 판단한 것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600" y="1495425"/>
            <a:ext cx="5372100" cy="2698651"/>
          </a:xfrm>
          <a:prstGeom prst="roundRect">
            <a:avLst>
              <a:gd name="adj" fmla="val 4941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7F8F5"/>
              </a:clrFrom>
              <a:clrTo>
                <a:srgbClr val="F7F8F5">
                  <a:alpha val="0"/>
                </a:srgbClr>
              </a:clrTo>
            </a:clrChange>
          </a:blip>
          <a:srcRect l="-2" r="-2"/>
          <a:stretch/>
        </p:blipFill>
        <p:spPr>
          <a:xfrm>
            <a:off x="609599" y="1501775"/>
            <a:ext cx="5372099" cy="269230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0300" y="1495425"/>
            <a:ext cx="5372100" cy="2698651"/>
          </a:xfrm>
          <a:prstGeom prst="roundRect">
            <a:avLst>
              <a:gd name="adj" fmla="val 4941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7F8F5"/>
              </a:clrFrom>
              <a:clrTo>
                <a:srgbClr val="F7F8F5">
                  <a:alpha val="0"/>
                </a:srgbClr>
              </a:clrTo>
            </a:clrChange>
          </a:blip>
          <a:srcRect l="-2" r="-2"/>
          <a:stretch/>
        </p:blipFill>
        <p:spPr>
          <a:xfrm>
            <a:off x="6214110" y="1495425"/>
            <a:ext cx="5368290" cy="2698651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09600" y="4384576"/>
            <a:ext cx="5372100" cy="2054324"/>
          </a:xfrm>
          <a:prstGeom prst="roundRect">
            <a:avLst>
              <a:gd name="adj" fmla="val 6491"/>
            </a:avLst>
          </a:prstGeom>
          <a:solidFill>
            <a:srgbClr val="F0F6EA"/>
          </a:solidFill>
          <a:ln w="6350">
            <a:solidFill>
              <a:srgbClr val="D6E4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7"/>
          <p:cNvSpPr/>
          <p:nvPr/>
        </p:nvSpPr>
        <p:spPr>
          <a:xfrm>
            <a:off x="863600" y="4600476"/>
            <a:ext cx="53505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진짜 근접 중복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863600" y="5000526"/>
            <a:ext cx="5010023" cy="1218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9355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육안으로는 동일한 사진인데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파일은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3개</a:t>
            </a:r>
          </a:p>
          <a:p>
            <a:pPr marL="0" indent="0" algn="l">
              <a:lnSpc>
                <a:spcPct val="139355"/>
              </a:lnSpc>
              <a:buNone/>
            </a:pP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리사이즈·재저장으로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바이트가 달라져 MD5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로는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미탐지</a:t>
            </a:r>
            <a:endParaRPr lang="en-US" sz="1350" b="1" dirty="0"/>
          </a:p>
        </p:txBody>
      </p:sp>
      <p:sp>
        <p:nvSpPr>
          <p:cNvPr id="13" name="Shape 9"/>
          <p:cNvSpPr/>
          <p:nvPr/>
        </p:nvSpPr>
        <p:spPr>
          <a:xfrm>
            <a:off x="6210300" y="4384576"/>
            <a:ext cx="5372100" cy="2054324"/>
          </a:xfrm>
          <a:prstGeom prst="roundRect">
            <a:avLst>
              <a:gd name="adj" fmla="val 6491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6464300" y="4600476"/>
            <a:ext cx="53505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알고리즘의 오탐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6464300" y="5000526"/>
            <a:ext cx="5010023" cy="1154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9355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dHash·픽셀 검증을 모두 통과했으나 실물은 서로 다른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칫솔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제품</a:t>
            </a:r>
            <a:endParaRPr lang="en-US" sz="1350" dirty="0">
              <a:solidFill>
                <a:srgbClr val="2631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39355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흰 배경 + 세로 물체라는 제품 사진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구도만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동일</a:t>
            </a:r>
            <a:endParaRPr lang="en-US" sz="1350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76250"/>
            <a:ext cx="438150" cy="438150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71500" y="4762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238250" y="476250"/>
            <a:ext cx="838647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3200" b="1" kern="0" spc="-30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 데이터 제거 후 모델 테스트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8250" y="981075"/>
            <a:ext cx="1029233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000" dirty="0" err="1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모델이</a:t>
            </a:r>
            <a:r>
              <a:rPr 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2000" dirty="0" err="1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바뀌어도</a:t>
            </a:r>
            <a:r>
              <a:rPr 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2000" dirty="0" err="1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clotehs</a:t>
            </a:r>
            <a:r>
              <a:rPr 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-&gt; shoes </a:t>
            </a:r>
            <a:r>
              <a:rPr lang="ko-KR" altLang="en-US" sz="2000" dirty="0" err="1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오탐지가</a:t>
            </a:r>
            <a:r>
              <a:rPr lang="ko-KR" alt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2000" dirty="0" err="1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상위권에서</a:t>
            </a:r>
            <a:r>
              <a:rPr 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안 빠짐</a:t>
            </a:r>
            <a:endParaRPr lang="en-US" sz="1500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0C073273-E641-6CFE-B389-2BC9843898F0}"/>
              </a:ext>
            </a:extLst>
          </p:cNvPr>
          <p:cNvSpPr/>
          <p:nvPr/>
        </p:nvSpPr>
        <p:spPr>
          <a:xfrm>
            <a:off x="609600" y="1407915"/>
            <a:ext cx="10972800" cy="5081662"/>
          </a:xfrm>
          <a:prstGeom prst="roundRect">
            <a:avLst>
              <a:gd name="adj" fmla="val 2827"/>
            </a:avLst>
          </a:prstGeom>
          <a:noFill/>
          <a:ln w="19050">
            <a:noFill/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9B524EB-EDAD-32CA-20D8-9AEE57C1896F}"/>
              </a:ext>
            </a:extLst>
          </p:cNvPr>
          <p:cNvSpPr/>
          <p:nvPr/>
        </p:nvSpPr>
        <p:spPr>
          <a:xfrm>
            <a:off x="1556494" y="2113161"/>
            <a:ext cx="152032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0.7095</a:t>
            </a:r>
            <a:endParaRPr lang="en-US" sz="1425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03BE0A40-8197-7AE1-3732-67D9A1456C68}"/>
              </a:ext>
            </a:extLst>
          </p:cNvPr>
          <p:cNvSpPr/>
          <p:nvPr/>
        </p:nvSpPr>
        <p:spPr>
          <a:xfrm>
            <a:off x="3186256" y="2113161"/>
            <a:ext cx="152043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0.8009</a:t>
            </a:r>
            <a:endParaRPr lang="en-US" sz="1425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D5BA3E8E-761C-055C-348D-1E0263DE202E}"/>
              </a:ext>
            </a:extLst>
          </p:cNvPr>
          <p:cNvSpPr/>
          <p:nvPr/>
        </p:nvSpPr>
        <p:spPr>
          <a:xfrm>
            <a:off x="4816123" y="2113161"/>
            <a:ext cx="152043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0.9501</a:t>
            </a:r>
            <a:endParaRPr lang="en-US" sz="1425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465F5AF5-B39F-F276-D43D-3703B7A7A7FE}"/>
              </a:ext>
            </a:extLst>
          </p:cNvPr>
          <p:cNvSpPr/>
          <p:nvPr/>
        </p:nvSpPr>
        <p:spPr>
          <a:xfrm>
            <a:off x="6445994" y="2113161"/>
            <a:ext cx="152032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0.9529</a:t>
            </a:r>
            <a:endParaRPr lang="en-US" sz="1425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3449B0BD-F6E7-B2E7-DB2C-B0D99607472D}"/>
              </a:ext>
            </a:extLst>
          </p:cNvPr>
          <p:cNvSpPr/>
          <p:nvPr/>
        </p:nvSpPr>
        <p:spPr>
          <a:xfrm>
            <a:off x="8075757" y="2113161"/>
            <a:ext cx="152043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0.9367</a:t>
            </a:r>
            <a:endParaRPr lang="en-US" sz="1425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CE5C4B3C-FD95-0837-92BB-61E022DE0DD7}"/>
              </a:ext>
            </a:extLst>
          </p:cNvPr>
          <p:cNvSpPr/>
          <p:nvPr/>
        </p:nvSpPr>
        <p:spPr>
          <a:xfrm>
            <a:off x="9705623" y="2113161"/>
            <a:ext cx="152043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0.9629</a:t>
            </a:r>
            <a:endParaRPr lang="en-US" sz="1425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10FB98BA-DE76-5418-9CB3-1B4CAD25825F}"/>
              </a:ext>
            </a:extLst>
          </p:cNvPr>
          <p:cNvSpPr/>
          <p:nvPr/>
        </p:nvSpPr>
        <p:spPr>
          <a:xfrm>
            <a:off x="1185267" y="2211586"/>
            <a:ext cx="287933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1.0</a:t>
            </a:r>
            <a:endParaRPr lang="en-US" sz="12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287EF0EE-C410-0CA4-4DB9-658A73318A09}"/>
              </a:ext>
            </a:extLst>
          </p:cNvPr>
          <p:cNvSpPr/>
          <p:nvPr/>
        </p:nvSpPr>
        <p:spPr>
          <a:xfrm>
            <a:off x="1185267" y="2973586"/>
            <a:ext cx="287933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0.5</a:t>
            </a:r>
            <a:endParaRPr lang="en-US" sz="12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2831EBB0-6363-D3F9-CC85-6E854767D168}"/>
              </a:ext>
            </a:extLst>
          </p:cNvPr>
          <p:cNvSpPr/>
          <p:nvPr/>
        </p:nvSpPr>
        <p:spPr>
          <a:xfrm>
            <a:off x="1185267" y="3735586"/>
            <a:ext cx="287933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0.0</a:t>
            </a:r>
            <a:endParaRPr lang="en-US" sz="120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640730E9-4BE9-B227-F869-80A631F3BFE5}"/>
              </a:ext>
            </a:extLst>
          </p:cNvPr>
          <p:cNvSpPr/>
          <p:nvPr/>
        </p:nvSpPr>
        <p:spPr>
          <a:xfrm>
            <a:off x="1492250" y="2322711"/>
            <a:ext cx="9798051" cy="9525"/>
          </a:xfrm>
          <a:prstGeom prst="rect">
            <a:avLst/>
          </a:prstGeom>
          <a:solidFill>
            <a:srgbClr val="E3EA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E58343F8-E40B-5D2E-D796-7FD55F28D783}"/>
              </a:ext>
            </a:extLst>
          </p:cNvPr>
          <p:cNvSpPr/>
          <p:nvPr/>
        </p:nvSpPr>
        <p:spPr>
          <a:xfrm>
            <a:off x="1492250" y="3084711"/>
            <a:ext cx="9798051" cy="9525"/>
          </a:xfrm>
          <a:prstGeom prst="rect">
            <a:avLst/>
          </a:prstGeom>
          <a:solidFill>
            <a:srgbClr val="E3EA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923C6056-BF3D-9B8E-2DE6-3D2DCBFC8092}"/>
              </a:ext>
            </a:extLst>
          </p:cNvPr>
          <p:cNvSpPr/>
          <p:nvPr/>
        </p:nvSpPr>
        <p:spPr>
          <a:xfrm>
            <a:off x="1492250" y="3837186"/>
            <a:ext cx="9798051" cy="9525"/>
          </a:xfrm>
          <a:prstGeom prst="rect">
            <a:avLst/>
          </a:prstGeom>
          <a:solidFill>
            <a:srgbClr val="C9D3C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FF7772AA-CB26-5A86-2452-E2497FE23C97}"/>
              </a:ext>
            </a:extLst>
          </p:cNvPr>
          <p:cNvSpPr/>
          <p:nvPr/>
        </p:nvSpPr>
        <p:spPr>
          <a:xfrm>
            <a:off x="1625600" y="2770386"/>
            <a:ext cx="1382117" cy="1076325"/>
          </a:xfrm>
          <a:custGeom>
            <a:avLst/>
            <a:gdLst/>
            <a:ahLst/>
            <a:cxnLst/>
            <a:rect l="l" t="t" r="r" b="b"/>
            <a:pathLst>
              <a:path w="1382117" h="1076325">
                <a:moveTo>
                  <a:pt x="28575" y="0"/>
                </a:moveTo>
                <a:lnTo>
                  <a:pt x="1353542" y="0"/>
                </a:lnTo>
                <a:arcTo wR="28575" hR="28575" stAng="16200000" swAng="5400000"/>
                <a:lnTo>
                  <a:pt x="1382117" y="1076325"/>
                </a:lnTo>
                <a:lnTo>
                  <a:pt x="0" y="1076325"/>
                </a:lnTo>
                <a:lnTo>
                  <a:pt x="0" y="28575"/>
                </a:lnTo>
                <a:arcTo wR="28575" hR="28575" stAng="10800000" swAng="5400000"/>
                <a:close/>
              </a:path>
            </a:pathLst>
          </a:custGeom>
          <a:solidFill>
            <a:srgbClr val="2A4A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93183D03-3372-80A3-6F30-5BAA946256F7}"/>
              </a:ext>
            </a:extLst>
          </p:cNvPr>
          <p:cNvSpPr/>
          <p:nvPr/>
        </p:nvSpPr>
        <p:spPr>
          <a:xfrm>
            <a:off x="3255367" y="2627511"/>
            <a:ext cx="1382217" cy="1219200"/>
          </a:xfrm>
          <a:custGeom>
            <a:avLst/>
            <a:gdLst/>
            <a:ahLst/>
            <a:cxnLst/>
            <a:rect l="l" t="t" r="r" b="b"/>
            <a:pathLst>
              <a:path w="1382217" h="1219200">
                <a:moveTo>
                  <a:pt x="28575" y="0"/>
                </a:moveTo>
                <a:lnTo>
                  <a:pt x="1353642" y="0"/>
                </a:lnTo>
                <a:arcTo wR="28575" hR="28575" stAng="16200000" swAng="5400000"/>
                <a:lnTo>
                  <a:pt x="1382217" y="1219200"/>
                </a:lnTo>
                <a:lnTo>
                  <a:pt x="0" y="1219200"/>
                </a:lnTo>
                <a:lnTo>
                  <a:pt x="0" y="28575"/>
                </a:lnTo>
                <a:arcTo wR="28575" hR="28575" stAng="10800000" swAng="5400000"/>
                <a:close/>
              </a:path>
            </a:pathLst>
          </a:custGeom>
          <a:solidFill>
            <a:srgbClr val="2A4A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F80812F3-1C6A-DD6F-88F7-A2079715C3D4}"/>
              </a:ext>
            </a:extLst>
          </p:cNvPr>
          <p:cNvSpPr/>
          <p:nvPr/>
        </p:nvSpPr>
        <p:spPr>
          <a:xfrm>
            <a:off x="4885234" y="2398911"/>
            <a:ext cx="1382217" cy="1447800"/>
          </a:xfrm>
          <a:custGeom>
            <a:avLst/>
            <a:gdLst/>
            <a:ahLst/>
            <a:cxnLst/>
            <a:rect l="l" t="t" r="r" b="b"/>
            <a:pathLst>
              <a:path w="1382217" h="1447800">
                <a:moveTo>
                  <a:pt x="28575" y="0"/>
                </a:moveTo>
                <a:lnTo>
                  <a:pt x="1353642" y="0"/>
                </a:lnTo>
                <a:arcTo wR="28575" hR="28575" stAng="16200000" swAng="5400000"/>
                <a:lnTo>
                  <a:pt x="1382217" y="1447800"/>
                </a:lnTo>
                <a:lnTo>
                  <a:pt x="0" y="1447800"/>
                </a:lnTo>
                <a:lnTo>
                  <a:pt x="0" y="28575"/>
                </a:lnTo>
                <a:arcTo wR="28575" hR="28575" stAng="10800000" swAng="5400000"/>
                <a:close/>
              </a:path>
            </a:pathLst>
          </a:custGeom>
          <a:solidFill>
            <a:srgbClr val="2A4A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DBAD7E37-D47E-ECAE-F975-C6D8038DE862}"/>
              </a:ext>
            </a:extLst>
          </p:cNvPr>
          <p:cNvSpPr/>
          <p:nvPr/>
        </p:nvSpPr>
        <p:spPr>
          <a:xfrm>
            <a:off x="6515100" y="2398911"/>
            <a:ext cx="1382117" cy="1447800"/>
          </a:xfrm>
          <a:custGeom>
            <a:avLst/>
            <a:gdLst/>
            <a:ahLst/>
            <a:cxnLst/>
            <a:rect l="l" t="t" r="r" b="b"/>
            <a:pathLst>
              <a:path w="1382117" h="1447800">
                <a:moveTo>
                  <a:pt x="28575" y="0"/>
                </a:moveTo>
                <a:lnTo>
                  <a:pt x="1353542" y="0"/>
                </a:lnTo>
                <a:arcTo wR="28575" hR="28575" stAng="16200000" swAng="5400000"/>
                <a:lnTo>
                  <a:pt x="1382117" y="1447800"/>
                </a:lnTo>
                <a:lnTo>
                  <a:pt x="0" y="1447800"/>
                </a:lnTo>
                <a:lnTo>
                  <a:pt x="0" y="28575"/>
                </a:lnTo>
                <a:arcTo wR="28575" hR="28575" stAng="10800000" swAng="5400000"/>
                <a:close/>
              </a:path>
            </a:pathLst>
          </a:custGeom>
          <a:solidFill>
            <a:srgbClr val="2A4A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34F6CEAB-9082-0C8B-34BD-90339D5FB7FD}"/>
              </a:ext>
            </a:extLst>
          </p:cNvPr>
          <p:cNvSpPr/>
          <p:nvPr/>
        </p:nvSpPr>
        <p:spPr>
          <a:xfrm>
            <a:off x="8144867" y="2417961"/>
            <a:ext cx="1382217" cy="1428750"/>
          </a:xfrm>
          <a:custGeom>
            <a:avLst/>
            <a:gdLst/>
            <a:ahLst/>
            <a:cxnLst/>
            <a:rect l="l" t="t" r="r" b="b"/>
            <a:pathLst>
              <a:path w="1382217" h="1428750">
                <a:moveTo>
                  <a:pt x="28575" y="0"/>
                </a:moveTo>
                <a:lnTo>
                  <a:pt x="1353642" y="0"/>
                </a:lnTo>
                <a:arcTo wR="28575" hR="28575" stAng="16200000" swAng="5400000"/>
                <a:lnTo>
                  <a:pt x="1382217" y="1428750"/>
                </a:lnTo>
                <a:lnTo>
                  <a:pt x="0" y="1428750"/>
                </a:lnTo>
                <a:lnTo>
                  <a:pt x="0" y="28575"/>
                </a:lnTo>
                <a:arcTo wR="28575" hR="28575" stAng="10800000" swAng="5400000"/>
                <a:close/>
              </a:path>
            </a:pathLst>
          </a:custGeom>
          <a:solidFill>
            <a:srgbClr val="2A4A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D3129CB3-6D72-E970-D46A-AA593D8F5144}"/>
              </a:ext>
            </a:extLst>
          </p:cNvPr>
          <p:cNvSpPr/>
          <p:nvPr/>
        </p:nvSpPr>
        <p:spPr>
          <a:xfrm>
            <a:off x="9774734" y="2379861"/>
            <a:ext cx="1382217" cy="1466850"/>
          </a:xfrm>
          <a:custGeom>
            <a:avLst/>
            <a:gdLst/>
            <a:ahLst/>
            <a:cxnLst/>
            <a:rect l="l" t="t" r="r" b="b"/>
            <a:pathLst>
              <a:path w="1382217" h="1466850">
                <a:moveTo>
                  <a:pt x="28575" y="0"/>
                </a:moveTo>
                <a:lnTo>
                  <a:pt x="1353642" y="0"/>
                </a:lnTo>
                <a:arcTo wR="28575" hR="28575" stAng="16200000" swAng="5400000"/>
                <a:lnTo>
                  <a:pt x="1382217" y="1466850"/>
                </a:lnTo>
                <a:lnTo>
                  <a:pt x="0" y="1466850"/>
                </a:lnTo>
                <a:lnTo>
                  <a:pt x="0" y="28575"/>
                </a:lnTo>
                <a:arcTo wR="28575" hR="28575" stAng="10800000" swAng="5400000"/>
                <a:close/>
              </a:path>
            </a:pathLst>
          </a:custGeom>
          <a:solidFill>
            <a:srgbClr val="2A4A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C81B2C49-0FA6-1C37-F45F-8AF99E23CA37}"/>
              </a:ext>
            </a:extLst>
          </p:cNvPr>
          <p:cNvSpPr/>
          <p:nvPr/>
        </p:nvSpPr>
        <p:spPr>
          <a:xfrm>
            <a:off x="1556494" y="4386461"/>
            <a:ext cx="1520329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6위 (19건)</a:t>
            </a:r>
            <a:endParaRPr lang="en-US" sz="1275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37E0B66B-AA59-482A-1784-88CDFBE85756}"/>
              </a:ext>
            </a:extLst>
          </p:cNvPr>
          <p:cNvSpPr/>
          <p:nvPr/>
        </p:nvSpPr>
        <p:spPr>
          <a:xfrm>
            <a:off x="3186256" y="4386461"/>
            <a:ext cx="1520438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2위 (14건)</a:t>
            </a:r>
            <a:endParaRPr lang="en-US" sz="1275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0912C003-A1AE-8775-F387-F6B9C1CFF504}"/>
              </a:ext>
            </a:extLst>
          </p:cNvPr>
          <p:cNvSpPr/>
          <p:nvPr/>
        </p:nvSpPr>
        <p:spPr>
          <a:xfrm>
            <a:off x="4816123" y="4386461"/>
            <a:ext cx="1520438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1위 (8건)</a:t>
            </a:r>
            <a:endParaRPr lang="en-US" sz="1275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E767ED76-BF4D-83E0-FAF6-D6F244B01FEF}"/>
              </a:ext>
            </a:extLst>
          </p:cNvPr>
          <p:cNvSpPr/>
          <p:nvPr/>
        </p:nvSpPr>
        <p:spPr>
          <a:xfrm>
            <a:off x="6445994" y="4386461"/>
            <a:ext cx="1520329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1위 (8건)</a:t>
            </a:r>
            <a:endParaRPr lang="en-US" sz="1275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AF8E75E1-EC09-1B47-92B4-458B0795779A}"/>
              </a:ext>
            </a:extLst>
          </p:cNvPr>
          <p:cNvSpPr/>
          <p:nvPr/>
        </p:nvSpPr>
        <p:spPr>
          <a:xfrm>
            <a:off x="8075757" y="4386461"/>
            <a:ext cx="1520438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공동 1위 (10건)</a:t>
            </a:r>
            <a:endParaRPr lang="en-US" sz="1275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75910777-B33D-7B9E-8AAF-0FDAD9FC269F}"/>
              </a:ext>
            </a:extLst>
          </p:cNvPr>
          <p:cNvSpPr/>
          <p:nvPr/>
        </p:nvSpPr>
        <p:spPr>
          <a:xfrm>
            <a:off x="9705623" y="4386461"/>
            <a:ext cx="1520438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1위 (8건)</a:t>
            </a:r>
            <a:endParaRPr lang="en-US" sz="1275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3A77F77A-01DA-1E73-6D53-11A8E2A131CA}"/>
              </a:ext>
            </a:extLst>
          </p:cNvPr>
          <p:cNvSpPr/>
          <p:nvPr/>
        </p:nvSpPr>
        <p:spPr>
          <a:xfrm>
            <a:off x="1172170" y="4624586"/>
            <a:ext cx="30103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1위</a:t>
            </a:r>
            <a:endParaRPr lang="en-US" sz="12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E9607F5F-3DFC-CF85-53DF-EEFBB9743FDB}"/>
              </a:ext>
            </a:extLst>
          </p:cNvPr>
          <p:cNvSpPr/>
          <p:nvPr/>
        </p:nvSpPr>
        <p:spPr>
          <a:xfrm>
            <a:off x="1172170" y="5329436"/>
            <a:ext cx="30103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6위</a:t>
            </a:r>
            <a:endParaRPr lang="en-US" sz="12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06285B9E-C20F-AD1E-8239-E171FFDA9C6A}"/>
              </a:ext>
            </a:extLst>
          </p:cNvPr>
          <p:cNvSpPr/>
          <p:nvPr/>
        </p:nvSpPr>
        <p:spPr>
          <a:xfrm>
            <a:off x="1625600" y="4735711"/>
            <a:ext cx="9531350" cy="9525"/>
          </a:xfrm>
          <a:prstGeom prst="rect">
            <a:avLst/>
          </a:prstGeom>
          <a:solidFill>
            <a:srgbClr val="E3EA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CF9C7154-8328-C7EB-6E7B-3A5200112893}"/>
              </a:ext>
            </a:extLst>
          </p:cNvPr>
          <p:cNvSpPr/>
          <p:nvPr/>
        </p:nvSpPr>
        <p:spPr>
          <a:xfrm>
            <a:off x="1625600" y="5088136"/>
            <a:ext cx="9531350" cy="9525"/>
          </a:xfrm>
          <a:prstGeom prst="rect">
            <a:avLst/>
          </a:prstGeom>
          <a:solidFill>
            <a:srgbClr val="EFF2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07A12779-81CB-84C1-2C7F-5A23DB98D9D4}"/>
              </a:ext>
            </a:extLst>
          </p:cNvPr>
          <p:cNvSpPr/>
          <p:nvPr/>
        </p:nvSpPr>
        <p:spPr>
          <a:xfrm>
            <a:off x="1625600" y="5440561"/>
            <a:ext cx="9531350" cy="9525"/>
          </a:xfrm>
          <a:prstGeom prst="rect">
            <a:avLst/>
          </a:prstGeom>
          <a:solidFill>
            <a:srgbClr val="E3EAD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8" name="Image 0" descr="preencoded.png">
            <a:extLst>
              <a:ext uri="{FF2B5EF4-FFF2-40B4-BE49-F238E27FC236}">
                <a16:creationId xmlns:a16="http://schemas.microsoft.com/office/drawing/2014/main" id="{609A0063-EE16-A4B6-428F-176459F454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25600" y="4621411"/>
            <a:ext cx="9531350" cy="914400"/>
          </a:xfrm>
          <a:prstGeom prst="rect">
            <a:avLst/>
          </a:prstGeom>
        </p:spPr>
      </p:pic>
      <p:sp>
        <p:nvSpPr>
          <p:cNvPr id="39" name="Shape 36">
            <a:extLst>
              <a:ext uri="{FF2B5EF4-FFF2-40B4-BE49-F238E27FC236}">
                <a16:creationId xmlns:a16="http://schemas.microsoft.com/office/drawing/2014/main" id="{8216C018-6FB2-026A-714B-B36C6842C87F}"/>
              </a:ext>
            </a:extLst>
          </p:cNvPr>
          <p:cNvSpPr/>
          <p:nvPr/>
        </p:nvSpPr>
        <p:spPr>
          <a:xfrm>
            <a:off x="2353171" y="5373886"/>
            <a:ext cx="133350" cy="133350"/>
          </a:xfrm>
          <a:prstGeom prst="ellipse">
            <a:avLst/>
          </a:prstGeom>
          <a:solidFill>
            <a:srgbClr val="B3562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Shape 37">
            <a:extLst>
              <a:ext uri="{FF2B5EF4-FFF2-40B4-BE49-F238E27FC236}">
                <a16:creationId xmlns:a16="http://schemas.microsoft.com/office/drawing/2014/main" id="{23B00CD2-4786-2A55-1151-22D70A6DA7E7}"/>
              </a:ext>
            </a:extLst>
          </p:cNvPr>
          <p:cNvSpPr/>
          <p:nvPr/>
        </p:nvSpPr>
        <p:spPr>
          <a:xfrm>
            <a:off x="3941763" y="4802386"/>
            <a:ext cx="133350" cy="133350"/>
          </a:xfrm>
          <a:prstGeom prst="ellipse">
            <a:avLst/>
          </a:prstGeom>
          <a:solidFill>
            <a:srgbClr val="B3562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Shape 38">
            <a:extLst>
              <a:ext uri="{FF2B5EF4-FFF2-40B4-BE49-F238E27FC236}">
                <a16:creationId xmlns:a16="http://schemas.microsoft.com/office/drawing/2014/main" id="{318B5880-F115-1CB9-0189-56DF66CC1AC5}"/>
              </a:ext>
            </a:extLst>
          </p:cNvPr>
          <p:cNvSpPr/>
          <p:nvPr/>
        </p:nvSpPr>
        <p:spPr>
          <a:xfrm>
            <a:off x="5530255" y="4669036"/>
            <a:ext cx="133350" cy="133350"/>
          </a:xfrm>
          <a:prstGeom prst="ellipse">
            <a:avLst/>
          </a:prstGeom>
          <a:solidFill>
            <a:srgbClr val="B3562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Shape 39">
            <a:extLst>
              <a:ext uri="{FF2B5EF4-FFF2-40B4-BE49-F238E27FC236}">
                <a16:creationId xmlns:a16="http://schemas.microsoft.com/office/drawing/2014/main" id="{434A717F-D620-C9B0-B811-859107FCFEE7}"/>
              </a:ext>
            </a:extLst>
          </p:cNvPr>
          <p:cNvSpPr/>
          <p:nvPr/>
        </p:nvSpPr>
        <p:spPr>
          <a:xfrm>
            <a:off x="7118846" y="4669036"/>
            <a:ext cx="133350" cy="133350"/>
          </a:xfrm>
          <a:prstGeom prst="ellipse">
            <a:avLst/>
          </a:prstGeom>
          <a:solidFill>
            <a:srgbClr val="B3562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Shape 40">
            <a:extLst>
              <a:ext uri="{FF2B5EF4-FFF2-40B4-BE49-F238E27FC236}">
                <a16:creationId xmlns:a16="http://schemas.microsoft.com/office/drawing/2014/main" id="{7A939AC9-B163-FB7E-FB57-E16E9E3A818C}"/>
              </a:ext>
            </a:extLst>
          </p:cNvPr>
          <p:cNvSpPr/>
          <p:nvPr/>
        </p:nvSpPr>
        <p:spPr>
          <a:xfrm>
            <a:off x="8707438" y="4669036"/>
            <a:ext cx="133350" cy="13335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3562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1">
            <a:extLst>
              <a:ext uri="{FF2B5EF4-FFF2-40B4-BE49-F238E27FC236}">
                <a16:creationId xmlns:a16="http://schemas.microsoft.com/office/drawing/2014/main" id="{2EF76507-891C-0EB9-F229-34BB3539BA3C}"/>
              </a:ext>
            </a:extLst>
          </p:cNvPr>
          <p:cNvSpPr/>
          <p:nvPr/>
        </p:nvSpPr>
        <p:spPr>
          <a:xfrm>
            <a:off x="10295930" y="4669036"/>
            <a:ext cx="133350" cy="133350"/>
          </a:xfrm>
          <a:prstGeom prst="ellipse">
            <a:avLst/>
          </a:prstGeom>
          <a:solidFill>
            <a:srgbClr val="B3562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6F8978C3-5FC1-E2D4-EA07-94589C6A2186}"/>
              </a:ext>
            </a:extLst>
          </p:cNvPr>
          <p:cNvSpPr/>
          <p:nvPr/>
        </p:nvSpPr>
        <p:spPr>
          <a:xfrm>
            <a:off x="1587500" y="5707261"/>
            <a:ext cx="1458317" cy="507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27500"/>
              </a:lnSpc>
              <a:buNone/>
            </a:pPr>
            <a:r>
              <a:rPr lang="en-US" sz="127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Baseline CNN</a:t>
            </a:r>
          </a:p>
          <a:p>
            <a:pPr marL="0" indent="0" algn="ctr">
              <a:lnSpc>
                <a:spcPct val="127500"/>
              </a:lnSpc>
              <a:buNone/>
            </a:pPr>
            <a:r>
              <a:rPr lang="en-US" sz="1275" dirty="0" err="1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처음부터</a:t>
            </a: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학습</a:t>
            </a:r>
            <a:endParaRPr lang="en-US" sz="1275" dirty="0"/>
          </a:p>
        </p:txBody>
      </p:sp>
      <p:sp>
        <p:nvSpPr>
          <p:cNvPr id="46" name="Text 43">
            <a:extLst>
              <a:ext uri="{FF2B5EF4-FFF2-40B4-BE49-F238E27FC236}">
                <a16:creationId xmlns:a16="http://schemas.microsoft.com/office/drawing/2014/main" id="{1E466A55-8EF2-3744-B385-1D16D2E2E26A}"/>
              </a:ext>
            </a:extLst>
          </p:cNvPr>
          <p:cNvSpPr/>
          <p:nvPr/>
        </p:nvSpPr>
        <p:spPr>
          <a:xfrm>
            <a:off x="3217267" y="5707261"/>
            <a:ext cx="1458417" cy="507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27500"/>
              </a:lnSpc>
              <a:buNone/>
            </a:pPr>
            <a:r>
              <a:rPr lang="en-US" sz="127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Freeze 전이학습 </a:t>
            </a: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EfficientNetV2S</a:t>
            </a:r>
            <a:endParaRPr lang="en-US" sz="1275" dirty="0"/>
          </a:p>
        </p:txBody>
      </p:sp>
      <p:sp>
        <p:nvSpPr>
          <p:cNvPr id="47" name="Text 44">
            <a:extLst>
              <a:ext uri="{FF2B5EF4-FFF2-40B4-BE49-F238E27FC236}">
                <a16:creationId xmlns:a16="http://schemas.microsoft.com/office/drawing/2014/main" id="{FDCCECDA-598B-FF01-D159-7A415BF982E8}"/>
              </a:ext>
            </a:extLst>
          </p:cNvPr>
          <p:cNvSpPr/>
          <p:nvPr/>
        </p:nvSpPr>
        <p:spPr>
          <a:xfrm>
            <a:off x="4847134" y="5707261"/>
            <a:ext cx="1458417" cy="507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27500"/>
              </a:lnSpc>
              <a:buNone/>
            </a:pPr>
            <a:r>
              <a:rPr lang="en-US" sz="1275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lr</a:t>
            </a:r>
            <a:r>
              <a:rPr lang="en-US" sz="127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5e-5</a:t>
            </a: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미니스윕 4epoch</a:t>
            </a:r>
            <a:endParaRPr lang="en-US" sz="1275" dirty="0"/>
          </a:p>
        </p:txBody>
      </p:sp>
      <p:sp>
        <p:nvSpPr>
          <p:cNvPr id="48" name="Text 45">
            <a:extLst>
              <a:ext uri="{FF2B5EF4-FFF2-40B4-BE49-F238E27FC236}">
                <a16:creationId xmlns:a16="http://schemas.microsoft.com/office/drawing/2014/main" id="{31FBDBCA-0500-2EFB-B58C-414AA6FBD658}"/>
              </a:ext>
            </a:extLst>
          </p:cNvPr>
          <p:cNvSpPr/>
          <p:nvPr/>
        </p:nvSpPr>
        <p:spPr>
          <a:xfrm>
            <a:off x="6477000" y="5707261"/>
            <a:ext cx="1458317" cy="507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27500"/>
              </a:lnSpc>
              <a:buNone/>
            </a:pPr>
            <a:r>
              <a:rPr lang="en-US" sz="127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lr 1e-4 </a:t>
            </a:r>
            <a:r>
              <a:rPr lang="en-US" sz="1275" dirty="0" err="1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미니스윕</a:t>
            </a: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4epoch</a:t>
            </a:r>
            <a:endParaRPr lang="en-US" sz="1275" dirty="0"/>
          </a:p>
        </p:txBody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B4B28376-6AB0-A44C-6DC6-B30DBB1099A3}"/>
              </a:ext>
            </a:extLst>
          </p:cNvPr>
          <p:cNvSpPr/>
          <p:nvPr/>
        </p:nvSpPr>
        <p:spPr>
          <a:xfrm>
            <a:off x="8106767" y="5707261"/>
            <a:ext cx="1458417" cy="507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27500"/>
              </a:lnSpc>
              <a:buNone/>
            </a:pPr>
            <a:r>
              <a:rPr lang="en-US" sz="127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lr 3e-4 </a:t>
            </a:r>
            <a:r>
              <a:rPr lang="en-US" sz="1275" dirty="0" err="1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미니스윕</a:t>
            </a: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4epoch</a:t>
            </a:r>
            <a:endParaRPr lang="en-US" sz="1275" dirty="0"/>
          </a:p>
        </p:txBody>
      </p:sp>
      <p:sp>
        <p:nvSpPr>
          <p:cNvPr id="50" name="Text 47">
            <a:extLst>
              <a:ext uri="{FF2B5EF4-FFF2-40B4-BE49-F238E27FC236}">
                <a16:creationId xmlns:a16="http://schemas.microsoft.com/office/drawing/2014/main" id="{97274349-2348-68B4-E01B-7B9F0247691C}"/>
              </a:ext>
            </a:extLst>
          </p:cNvPr>
          <p:cNvSpPr/>
          <p:nvPr/>
        </p:nvSpPr>
        <p:spPr>
          <a:xfrm>
            <a:off x="9736634" y="5707261"/>
            <a:ext cx="1458417" cy="507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27500"/>
              </a:lnSpc>
              <a:buNone/>
            </a:pPr>
            <a:r>
              <a:rPr lang="en-US" sz="127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Unfreeze 최종 </a:t>
            </a: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15ep+스케줄러</a:t>
            </a:r>
            <a:endParaRPr lang="en-US" sz="1275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FE4A856-E42A-82EC-9533-F383A34D5A7E}"/>
              </a:ext>
            </a:extLst>
          </p:cNvPr>
          <p:cNvSpPr txBox="1"/>
          <p:nvPr/>
        </p:nvSpPr>
        <p:spPr>
          <a:xfrm>
            <a:off x="74377" y="2900045"/>
            <a:ext cx="12387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2A4A33"/>
                </a:solidFill>
                <a:latin typeface="Noto Sans CJK KR"/>
                <a:ea typeface="Noto Sans CJK KR"/>
                <a:cs typeface="Noto Sans CJK KR"/>
              </a:rPr>
              <a:t>macro-F1</a:t>
            </a:r>
            <a:endParaRPr lang="ko-KR" altLang="en-US" sz="1200" b="1" dirty="0">
              <a:solidFill>
                <a:srgbClr val="2A4A33"/>
              </a:solidFill>
              <a:latin typeface="Noto Sans CJK KR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03BFB47-A0C6-79FF-402D-F9EEFAACAB54}"/>
              </a:ext>
            </a:extLst>
          </p:cNvPr>
          <p:cNvSpPr txBox="1"/>
          <p:nvPr/>
        </p:nvSpPr>
        <p:spPr>
          <a:xfrm>
            <a:off x="74377" y="4893945"/>
            <a:ext cx="12387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B3562F"/>
                </a:solidFill>
                <a:latin typeface="Noto Sans CJK KR"/>
                <a:ea typeface="Noto Sans CJK KR"/>
                <a:cs typeface="Noto Sans CJK KR"/>
              </a:rPr>
              <a:t>shoes -&gt; clothes </a:t>
            </a:r>
            <a:r>
              <a:rPr lang="ko-KR" altLang="en-US" sz="1200" b="1" dirty="0" err="1">
                <a:solidFill>
                  <a:srgbClr val="B3562F"/>
                </a:solidFill>
                <a:latin typeface="Noto Sans CJK KR"/>
                <a:ea typeface="Noto Sans CJK KR"/>
                <a:cs typeface="Noto Sans CJK KR"/>
              </a:rPr>
              <a:t>오탐지</a:t>
            </a:r>
            <a:endParaRPr lang="ko-KR" altLang="en-US" sz="1200" b="1" dirty="0">
              <a:solidFill>
                <a:srgbClr val="B3562F"/>
              </a:solidFill>
              <a:latin typeface="Noto Sans CJK K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76250"/>
            <a:ext cx="438150" cy="438150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71500" y="4762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238250" y="476250"/>
            <a:ext cx="29337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kern="0" spc="-30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라벨 오류 진단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8250" y="981075"/>
            <a:ext cx="1029233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000" dirty="0" err="1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모델을</a:t>
            </a:r>
            <a:r>
              <a:rPr 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2000" dirty="0" err="1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</a:t>
            </a:r>
            <a:r>
              <a:rPr 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ko-KR" alt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라벨</a:t>
            </a:r>
            <a:r>
              <a:rPr 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검사 도구로 역이용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600" y="1495425"/>
            <a:ext cx="5365750" cy="1654572"/>
          </a:xfrm>
          <a:prstGeom prst="roundRect">
            <a:avLst>
              <a:gd name="adj" fmla="val 8059"/>
            </a:avLst>
          </a:prstGeom>
          <a:solidFill>
            <a:srgbClr val="2A4A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76300" y="1704975"/>
            <a:ext cx="5315585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38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착안점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876300" y="2035175"/>
            <a:ext cx="5315585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846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모델이 “확신하며 틀린” 예측은 둘 중 하나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876300" y="2437110"/>
            <a:ext cx="5315585" cy="303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DCE8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정말 헷갈리는 사진이거나, 원본 라벨이 잘못됐거나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03950" y="1495425"/>
            <a:ext cx="5378450" cy="1654572"/>
          </a:xfrm>
          <a:prstGeom prst="roundRect">
            <a:avLst>
              <a:gd name="adj" fmla="val 8059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77000" y="1711325"/>
            <a:ext cx="531558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두 단계로 나눴나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477000" y="2111375"/>
            <a:ext cx="4977321" cy="860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9355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train 은 모델이 라벨을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그대로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암기</a:t>
            </a:r>
            <a:endParaRPr lang="en-US" sz="1350" dirty="0">
              <a:solidFill>
                <a:srgbClr val="26312B"/>
              </a:solidFill>
              <a:latin typeface="Noto Sans CJK KR" pitchFamily="34" charset="0"/>
              <a:ea typeface="Noto Sans CJK KR" pitchFamily="34" charset="-122"/>
              <a:cs typeface="Noto Sans CJK KR" pitchFamily="34" charset="-120"/>
            </a:endParaRPr>
          </a:p>
          <a:p>
            <a:pPr marL="0" indent="0" algn="l">
              <a:lnSpc>
                <a:spcPct val="139355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라벨이 틀려도 그 오답을 재현해 “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틀림”으로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미검출</a:t>
            </a:r>
            <a:endParaRPr lang="en-US" sz="1350" dirty="0">
              <a:solidFill>
                <a:srgbClr val="26312B"/>
              </a:solidFill>
              <a:latin typeface="Noto Sans CJK KR" pitchFamily="34" charset="0"/>
              <a:ea typeface="Noto Sans CJK KR" pitchFamily="34" charset="-122"/>
              <a:cs typeface="Noto Sans CJK KR" pitchFamily="34" charset="-120"/>
            </a:endParaRPr>
          </a:p>
          <a:p>
            <a:pPr marL="0" indent="0" algn="l">
              <a:lnSpc>
                <a:spcPct val="139355"/>
              </a:lnSpc>
              <a:buNone/>
            </a:pP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따라서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50" b="1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2-fold out-of-fold 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 “안 본 상태”의 예측을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별도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생</a:t>
            </a:r>
            <a:r>
              <a:rPr lang="ko-KR" alt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09600" y="3321447"/>
            <a:ext cx="10972800" cy="3117453"/>
          </a:xfrm>
          <a:prstGeom prst="roundRect">
            <a:avLst>
              <a:gd name="adj" fmla="val 4278"/>
            </a:avLst>
          </a:prstGeom>
          <a:solidFill>
            <a:srgbClr val="F0F6EA"/>
          </a:solidFill>
          <a:ln w="6350">
            <a:solidFill>
              <a:srgbClr val="D6E4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4" name="Text 12"/>
          <p:cNvSpPr/>
          <p:nvPr/>
        </p:nvSpPr>
        <p:spPr>
          <a:xfrm>
            <a:off x="901701" y="3556397"/>
            <a:ext cx="106807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진단 결과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01700" y="4041443"/>
            <a:ext cx="23050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1단계 · held-out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149600" y="4041443"/>
            <a:ext cx="12192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4,655장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97400" y="4041443"/>
            <a:ext cx="17811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오분류 123건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45251" y="4041443"/>
            <a:ext cx="356039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확신도 0.9 이상 59건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01700" y="4422443"/>
            <a:ext cx="23050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2단계 · train OOF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149600" y="4422443"/>
            <a:ext cx="12192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10,838장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97400" y="4422443"/>
            <a:ext cx="17811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오분류 382건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45251" y="4422443"/>
            <a:ext cx="356039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확신도 0.9 이상 145건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01700" y="4838613"/>
            <a:ext cx="10388601" cy="9525"/>
          </a:xfrm>
          <a:prstGeom prst="rect">
            <a:avLst/>
          </a:prstGeom>
          <a:solidFill>
            <a:srgbClr val="CFDCC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01700" y="5051828"/>
            <a:ext cx="2665214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합계 204건 전수 육안 확인</a:t>
            </a:r>
            <a:endParaRPr lang="en-US" sz="17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76250"/>
            <a:ext cx="438150" cy="438150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71500" y="4762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238249" y="476250"/>
            <a:ext cx="497498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kern="0" spc="-30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실제로 어떤 사진이었나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8250" y="981075"/>
            <a:ext cx="1029233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모두 clothes 폴더에 들어 있던 파일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600" y="1495425"/>
            <a:ext cx="5156200" cy="4943475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7F8F5"/>
              </a:clrFrom>
              <a:clrTo>
                <a:srgbClr val="F7F8F5">
                  <a:alpha val="0"/>
                </a:srgbClr>
              </a:clrTo>
            </a:clrChange>
          </a:blip>
          <a:srcRect/>
          <a:stretch/>
        </p:blipFill>
        <p:spPr>
          <a:xfrm>
            <a:off x="609600" y="1495425"/>
            <a:ext cx="5153660" cy="494347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94400" y="1495425"/>
            <a:ext cx="5588000" cy="2251075"/>
          </a:xfrm>
          <a:prstGeom prst="roundRect">
            <a:avLst>
              <a:gd name="adj" fmla="val 5924"/>
            </a:avLst>
          </a:prstGeom>
          <a:solidFill>
            <a:srgbClr val="F0F6EA"/>
          </a:solidFill>
          <a:ln w="6350">
            <a:solidFill>
              <a:srgbClr val="D6E4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8381802" y="1711325"/>
            <a:ext cx="172935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315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46장</a:t>
            </a:r>
            <a:endParaRPr lang="en-US" sz="3150" dirty="0"/>
          </a:p>
        </p:txBody>
      </p:sp>
      <p:sp>
        <p:nvSpPr>
          <p:cNvPr id="10" name="Text 7"/>
          <p:cNvSpPr/>
          <p:nvPr/>
        </p:nvSpPr>
        <p:spPr>
          <a:xfrm>
            <a:off x="8267105" y="2187575"/>
            <a:ext cx="184404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정정한 라벨 수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7450" y="2568575"/>
            <a:ext cx="5041900" cy="9525"/>
          </a:xfrm>
          <a:prstGeom prst="rect">
            <a:avLst/>
          </a:prstGeom>
          <a:solidFill>
            <a:srgbClr val="CFDCC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7989689" y="2673350"/>
            <a:ext cx="17571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clothes → shoes 43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037215" y="2978150"/>
            <a:ext cx="16524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shoes → clothes 1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285956" y="3282950"/>
            <a:ext cx="10809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색상 · 재질 2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994400" y="3937000"/>
            <a:ext cx="5588000" cy="2501900"/>
          </a:xfrm>
          <a:prstGeom prst="roundRect">
            <a:avLst>
              <a:gd name="adj" fmla="val 5330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6267450" y="4473377"/>
            <a:ext cx="55460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중요한가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6267450" y="4892477"/>
            <a:ext cx="5193157" cy="6351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2500"/>
              </a:lnSpc>
              <a:buNone/>
            </a:pPr>
            <a:r>
              <a:rPr lang="en-US" sz="142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모델이 clothes 를 shoes 로 </a:t>
            </a:r>
            <a:r>
              <a:rPr lang="en-US" sz="1425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틀렸을</a:t>
            </a:r>
            <a:r>
              <a:rPr lang="en-US" sz="142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때</a:t>
            </a:r>
          </a:p>
          <a:p>
            <a:pPr marL="0" indent="0" algn="l">
              <a:lnSpc>
                <a:spcPct val="142500"/>
              </a:lnSpc>
              <a:buNone/>
            </a:pPr>
            <a:r>
              <a:rPr lang="en-US" sz="142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 모델의 실수가 아니라 정답이 잘못돼 </a:t>
            </a:r>
            <a:r>
              <a:rPr lang="en-US" sz="1425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있던</a:t>
            </a:r>
            <a:r>
              <a:rPr lang="en-US" sz="142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것</a:t>
            </a:r>
            <a:endParaRPr lang="en-US" sz="1425" dirty="0"/>
          </a:p>
        </p:txBody>
      </p:sp>
      <p:sp>
        <p:nvSpPr>
          <p:cNvPr id="18" name="Text 15"/>
          <p:cNvSpPr/>
          <p:nvPr/>
        </p:nvSpPr>
        <p:spPr>
          <a:xfrm>
            <a:off x="6267450" y="5603875"/>
            <a:ext cx="5193157" cy="336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500"/>
              </a:lnSpc>
              <a:buNone/>
            </a:pPr>
            <a:r>
              <a:rPr lang="en-US" sz="1425" b="1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모델을 개선해도 줄지 </a:t>
            </a:r>
            <a:r>
              <a:rPr lang="en-US" sz="1425" b="1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않던</a:t>
            </a:r>
            <a:r>
              <a:rPr lang="en-US" sz="1425" b="1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425" b="1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이유</a:t>
            </a:r>
            <a:endParaRPr lang="en-US" sz="1425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76250"/>
            <a:ext cx="438150" cy="438150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71500" y="4762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14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238250" y="476250"/>
            <a:ext cx="4731464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3200" b="1" kern="0" spc="-30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</a:t>
            </a:r>
            <a:r>
              <a:rPr lang="en-US" sz="3200" b="1" kern="0" spc="-30" dirty="0" err="1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</a:t>
            </a:r>
            <a:r>
              <a:rPr lang="en-US" sz="3200" b="1" kern="0" spc="-30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결과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09600" y="1457325"/>
            <a:ext cx="2382738" cy="1035050"/>
          </a:xfrm>
          <a:prstGeom prst="roundRect">
            <a:avLst>
              <a:gd name="adj" fmla="val 12883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342837" y="1666875"/>
            <a:ext cx="1122759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15,515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51992" y="2084983"/>
            <a:ext cx="374154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3106638" y="1457325"/>
            <a:ext cx="304800" cy="1073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49538" y="1457325"/>
            <a:ext cx="2382838" cy="1035050"/>
          </a:xfrm>
          <a:prstGeom prst="roundRect">
            <a:avLst>
              <a:gd name="adj" fmla="val 12883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340027" y="1666875"/>
            <a:ext cx="67796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− 31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491930" y="2084983"/>
            <a:ext cx="374154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제외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5946676" y="1457325"/>
            <a:ext cx="304800" cy="1073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89576" y="1457325"/>
            <a:ext cx="2382738" cy="1035050"/>
          </a:xfrm>
          <a:prstGeom prst="roundRect">
            <a:avLst>
              <a:gd name="adj" fmla="val 12883"/>
            </a:avLst>
          </a:prstGeom>
          <a:solidFill>
            <a:srgbClr val="F0F6EA"/>
          </a:solidFill>
          <a:ln w="6350">
            <a:solidFill>
              <a:srgbClr val="D6E4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014815" y="1666875"/>
            <a:ext cx="1008459" cy="3809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15,484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293868" y="2084983"/>
            <a:ext cx="374154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</a:t>
            </a:r>
            <a:endParaRPr lang="en-US" sz="1275" dirty="0"/>
          </a:p>
        </p:txBody>
      </p:sp>
      <p:sp>
        <p:nvSpPr>
          <p:cNvPr id="17" name="Shape 15"/>
          <p:cNvSpPr/>
          <p:nvPr/>
        </p:nvSpPr>
        <p:spPr>
          <a:xfrm>
            <a:off x="8786614" y="1457325"/>
            <a:ext cx="2795786" cy="1035050"/>
          </a:xfrm>
          <a:prstGeom prst="roundRect">
            <a:avLst>
              <a:gd name="adj" fmla="val 12883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9874746" y="1616075"/>
            <a:ext cx="695722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46장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853017" y="2085716"/>
            <a:ext cx="717451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라벨 정정</a:t>
            </a:r>
            <a:endParaRPr lang="en-US" sz="1275" dirty="0"/>
          </a:p>
        </p:txBody>
      </p:sp>
      <p:sp>
        <p:nvSpPr>
          <p:cNvPr id="20" name="Shape 18"/>
          <p:cNvSpPr/>
          <p:nvPr/>
        </p:nvSpPr>
        <p:spPr>
          <a:xfrm>
            <a:off x="609600" y="2644775"/>
            <a:ext cx="10972800" cy="2843610"/>
          </a:xfrm>
          <a:prstGeom prst="roundRect">
            <a:avLst>
              <a:gd name="adj" fmla="val 4020"/>
            </a:avLst>
          </a:prstGeom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15950" y="2651125"/>
            <a:ext cx="10960101" cy="471785"/>
          </a:xfrm>
          <a:prstGeom prst="rect">
            <a:avLst/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44550" y="2763143"/>
            <a:ext cx="31432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완전 동일 중복 여분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854450" y="2763143"/>
            <a:ext cx="1123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16장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207000" y="2763143"/>
            <a:ext cx="67544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그룹당 1장만 유지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15950" y="3122910"/>
            <a:ext cx="10960101" cy="4718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844550" y="3235028"/>
            <a:ext cx="31432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라벨이 충돌한 중복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854450" y="3235028"/>
            <a:ext cx="1123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6장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207000" y="3235028"/>
            <a:ext cx="67544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사진에 다른 라벨 → 양쪽 모두 제외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15950" y="3594795"/>
            <a:ext cx="10960101" cy="471785"/>
          </a:xfrm>
          <a:prstGeom prst="rect">
            <a:avLst/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844550" y="3706813"/>
            <a:ext cx="31432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애매한 경계 사례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3854450" y="3706813"/>
            <a:ext cx="1123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3장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207000" y="3706813"/>
            <a:ext cx="67544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사람이 봐도 판단이 갈림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15950" y="4066580"/>
            <a:ext cx="10960101" cy="4718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44550" y="4178697"/>
            <a:ext cx="31432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사진이 아닌 이미지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3854450" y="4178697"/>
            <a:ext cx="1123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6장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207000" y="4178697"/>
            <a:ext cx="67544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클립아트 · 목업 템플릿 · 스케치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615950" y="4538464"/>
            <a:ext cx="10960101" cy="471785"/>
          </a:xfrm>
          <a:prstGeom prst="rect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844550" y="4650482"/>
            <a:ext cx="31432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kumimoji="0" lang="en-US" altLang="ko-KR" sz="1350" b="1" i="0" u="none" strike="noStrike" kern="1200" cap="none" spc="0" normalizeH="0" baseline="0" noProof="0" dirty="0">
                <a:ln>
                  <a:noFill/>
                </a:ln>
                <a:solidFill>
                  <a:srgbClr val="B3562F"/>
                </a:solidFill>
                <a:effectLst/>
                <a:uLnTx/>
                <a:uFillTx/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</a:t>
            </a:r>
            <a:r>
              <a:rPr kumimoji="0" lang="ko-KR" alt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B3562F"/>
                </a:solidFill>
                <a:effectLst/>
                <a:uLnTx/>
                <a:uFillTx/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제외 이미지 총합</a:t>
            </a:r>
            <a:endParaRPr lang="en-US" sz="1350" b="1" dirty="0">
              <a:solidFill>
                <a:srgbClr val="B3562F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3854450" y="4650482"/>
            <a:ext cx="1123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-31장</a:t>
            </a:r>
            <a:endParaRPr lang="en-US" sz="1350" dirty="0">
              <a:solidFill>
                <a:srgbClr val="B3562F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5207000" y="4650482"/>
            <a:ext cx="67544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ko-KR" altLang="en-US" sz="135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완전 동일 중복 </a:t>
            </a:r>
            <a:r>
              <a:rPr lang="en-US" altLang="ko-KR" sz="135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 </a:t>
            </a:r>
            <a:r>
              <a:rPr lang="ko-KR" altLang="en-US" sz="135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라벨 충돌 중복 </a:t>
            </a:r>
            <a:r>
              <a:rPr lang="en-US" altLang="ko-KR" sz="135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 </a:t>
            </a:r>
            <a:r>
              <a:rPr lang="ko-KR" altLang="en-US" sz="135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애매한 경계 </a:t>
            </a:r>
            <a:r>
              <a:rPr lang="en-US" altLang="ko-KR" sz="135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 </a:t>
            </a:r>
            <a:r>
              <a:rPr lang="ko-KR" altLang="en-US" sz="135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이미지</a:t>
            </a:r>
            <a:r>
              <a:rPr lang="en-US" altLang="ko-KR" sz="135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endParaRPr lang="en-US" sz="1350" b="1" dirty="0">
              <a:solidFill>
                <a:srgbClr val="B3562F"/>
              </a:solidFill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15950" y="5010249"/>
            <a:ext cx="10960101" cy="47178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844550" y="5122268"/>
            <a:ext cx="31432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근접 중복 그룹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3854450" y="5122268"/>
            <a:ext cx="1123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25그룹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5207000" y="5122268"/>
            <a:ext cx="67544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삭제하지 않고 같은 split 에 배치</a:t>
            </a:r>
            <a:endParaRPr lang="en-US" sz="1350" dirty="0"/>
          </a:p>
        </p:txBody>
      </p:sp>
      <p:sp>
        <p:nvSpPr>
          <p:cNvPr id="49" name="Text 3">
            <a:extLst>
              <a:ext uri="{FF2B5EF4-FFF2-40B4-BE49-F238E27FC236}">
                <a16:creationId xmlns:a16="http://schemas.microsoft.com/office/drawing/2014/main" id="{DE7F4A71-C230-336D-E7D3-E7720BBD8796}"/>
              </a:ext>
            </a:extLst>
          </p:cNvPr>
          <p:cNvSpPr/>
          <p:nvPr/>
        </p:nvSpPr>
        <p:spPr>
          <a:xfrm>
            <a:off x="1238250" y="981075"/>
            <a:ext cx="1029233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ko-KR" alt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 제거 </a:t>
            </a:r>
            <a:r>
              <a:rPr lang="en-US" altLang="ko-KR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&amp; </a:t>
            </a:r>
            <a:r>
              <a:rPr lang="ko-KR" alt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라벨 정정 결과</a:t>
            </a:r>
            <a:endParaRPr lang="en-US" sz="1500" dirty="0"/>
          </a:p>
        </p:txBody>
      </p:sp>
      <p:sp>
        <p:nvSpPr>
          <p:cNvPr id="58" name="Shape 35">
            <a:extLst>
              <a:ext uri="{FF2B5EF4-FFF2-40B4-BE49-F238E27FC236}">
                <a16:creationId xmlns:a16="http://schemas.microsoft.com/office/drawing/2014/main" id="{9915C7AE-35B5-6D9F-597C-8496EE59F10E}"/>
              </a:ext>
            </a:extLst>
          </p:cNvPr>
          <p:cNvSpPr/>
          <p:nvPr/>
        </p:nvSpPr>
        <p:spPr>
          <a:xfrm>
            <a:off x="615950" y="5479157"/>
            <a:ext cx="10960101" cy="471785"/>
          </a:xfrm>
          <a:prstGeom prst="rect">
            <a:avLst/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9" name="Text 36">
            <a:extLst>
              <a:ext uri="{FF2B5EF4-FFF2-40B4-BE49-F238E27FC236}">
                <a16:creationId xmlns:a16="http://schemas.microsoft.com/office/drawing/2014/main" id="{D0197EA4-8CA0-A699-76D0-AA9B210783E7}"/>
              </a:ext>
            </a:extLst>
          </p:cNvPr>
          <p:cNvSpPr/>
          <p:nvPr/>
        </p:nvSpPr>
        <p:spPr>
          <a:xfrm>
            <a:off x="844550" y="5591175"/>
            <a:ext cx="31432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라벨 정정</a:t>
            </a:r>
            <a:endParaRPr lang="en-US" sz="1350" dirty="0"/>
          </a:p>
        </p:txBody>
      </p:sp>
      <p:sp>
        <p:nvSpPr>
          <p:cNvPr id="60" name="Text 37">
            <a:extLst>
              <a:ext uri="{FF2B5EF4-FFF2-40B4-BE49-F238E27FC236}">
                <a16:creationId xmlns:a16="http://schemas.microsoft.com/office/drawing/2014/main" id="{73257EB7-5055-A5C3-7884-99D3E45268CB}"/>
              </a:ext>
            </a:extLst>
          </p:cNvPr>
          <p:cNvSpPr/>
          <p:nvPr/>
        </p:nvSpPr>
        <p:spPr>
          <a:xfrm>
            <a:off x="3854450" y="5591175"/>
            <a:ext cx="1123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46장</a:t>
            </a:r>
            <a:endParaRPr lang="en-US" sz="1350" dirty="0"/>
          </a:p>
        </p:txBody>
      </p:sp>
      <p:sp>
        <p:nvSpPr>
          <p:cNvPr id="61" name="Text 38">
            <a:extLst>
              <a:ext uri="{FF2B5EF4-FFF2-40B4-BE49-F238E27FC236}">
                <a16:creationId xmlns:a16="http://schemas.microsoft.com/office/drawing/2014/main" id="{14B84EDD-5ED4-9387-9B64-F7384A10AD58}"/>
              </a:ext>
            </a:extLst>
          </p:cNvPr>
          <p:cNvSpPr/>
          <p:nvPr/>
        </p:nvSpPr>
        <p:spPr>
          <a:xfrm>
            <a:off x="5207000" y="5591175"/>
            <a:ext cx="67544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clothes → shoes 43, 그 외 3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76250"/>
            <a:ext cx="438150" cy="438150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71500" y="4762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/>
              </a:rPr>
              <a:t>15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238250" y="476250"/>
            <a:ext cx="7500144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kern="0" spc="-30" dirty="0" err="1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라벨</a:t>
            </a:r>
            <a:r>
              <a:rPr lang="en-US" sz="3200" b="1" kern="0" spc="-30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ko-KR" altLang="en-US" sz="3200" b="1" kern="0" spc="-30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정정 후 모델 학습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8250" y="981075"/>
            <a:ext cx="1029233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모델·같은 설정에서 라벨 정정 후 데이터만 다시 학습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600" y="2307927"/>
            <a:ext cx="5114925" cy="2196405"/>
          </a:xfrm>
          <a:prstGeom prst="roundRect">
            <a:avLst>
              <a:gd name="adj" fmla="val 6071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2877642" y="2580977"/>
            <a:ext cx="1313358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 전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409527" y="2936577"/>
            <a:ext cx="1666468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900" b="1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0.9629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2647752" y="3532783"/>
            <a:ext cx="111472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val macro-F1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123480" y="3951883"/>
            <a:ext cx="2295773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clothes→shoes 8건 · 1위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15025" y="3196530"/>
            <a:ext cx="4381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6467475" y="2307927"/>
            <a:ext cx="5114925" cy="2196405"/>
          </a:xfrm>
          <a:prstGeom prst="roundRect">
            <a:avLst>
              <a:gd name="adj" fmla="val 6071"/>
            </a:avLst>
          </a:prstGeom>
          <a:solidFill>
            <a:srgbClr val="F0F6EA"/>
          </a:solidFill>
          <a:ln w="6350">
            <a:solidFill>
              <a:srgbClr val="D6E4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533804" y="2580977"/>
            <a:ext cx="129599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라벨 정정 후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67402" y="2936577"/>
            <a:ext cx="1666468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9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0.9731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8505627" y="3532783"/>
            <a:ext cx="111472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val macro-F1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779643" y="3951883"/>
            <a:ext cx="2739648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clothes→shoes 3건 · 공동 3위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09600" y="4732933"/>
            <a:ext cx="10972800" cy="874316"/>
          </a:xfrm>
          <a:custGeom>
            <a:avLst/>
            <a:gdLst/>
            <a:ahLst/>
            <a:cxnLst/>
            <a:rect l="l" t="t" r="r" b="b"/>
            <a:pathLst>
              <a:path w="10972800" h="874316">
                <a:moveTo>
                  <a:pt x="0" y="0"/>
                </a:moveTo>
                <a:lnTo>
                  <a:pt x="10877550" y="0"/>
                </a:lnTo>
                <a:arcTo wR="95250" hR="95250" stAng="16200000" swAng="5400000"/>
                <a:lnTo>
                  <a:pt x="10972800" y="779066"/>
                </a:lnTo>
                <a:arcTo wR="95250" hR="95250" stAng="0" swAng="5400000"/>
                <a:lnTo>
                  <a:pt x="0" y="874316"/>
                </a:lnTo>
                <a:lnTo>
                  <a:pt x="0" y="0"/>
                </a:lnTo>
                <a:close/>
              </a:path>
            </a:pathLst>
          </a:custGeom>
          <a:solidFill>
            <a:srgbClr val="EDF1E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09600" y="4732933"/>
            <a:ext cx="57150" cy="874316"/>
          </a:xfrm>
          <a:prstGeom prst="rect">
            <a:avLst/>
          </a:prstGeom>
          <a:solidFill>
            <a:srgbClr val="3D7A4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76300" y="4999006"/>
            <a:ext cx="3314700" cy="56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모델을 조금도 바꾸지 않고 라벨만 정정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132384" y="4999006"/>
            <a:ext cx="7467931" cy="56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val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(2,318장)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재평가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다른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오분류 쌍보다 압도적으로 많던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clothes→shoes가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공동 3위로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내려</a:t>
            </a:r>
            <a:r>
              <a:rPr lang="ko-KR" alt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감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76250"/>
            <a:ext cx="438150" cy="438150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71500" y="4762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16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238250" y="476250"/>
            <a:ext cx="7649994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kern="0" spc="-30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 비교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8250" y="981075"/>
            <a:ext cx="1029233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베이스라인 CNN vs 전이학습 · 128px · 검증셋 macro-F1 기준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600" y="1476375"/>
            <a:ext cx="6311900" cy="4962525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01700" y="2635746"/>
            <a:ext cx="630047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b="1" kern="0" spc="38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val macro-F1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901700" y="3067546"/>
            <a:ext cx="1864946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Baseline CNN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5959277" y="3080246"/>
            <a:ext cx="74632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0.6521</a:t>
            </a:r>
            <a:endParaRPr lang="en-US" sz="1725" dirty="0"/>
          </a:p>
        </p:txBody>
      </p:sp>
      <p:sp>
        <p:nvSpPr>
          <p:cNvPr id="10" name="Shape 8"/>
          <p:cNvSpPr/>
          <p:nvPr/>
        </p:nvSpPr>
        <p:spPr>
          <a:xfrm>
            <a:off x="901700" y="3413621"/>
            <a:ext cx="5727700" cy="247650"/>
          </a:xfrm>
          <a:prstGeom prst="roundRect">
            <a:avLst>
              <a:gd name="adj" fmla="val 19231"/>
            </a:avLst>
          </a:prstGeom>
          <a:solidFill>
            <a:srgbClr val="EDF1E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901700" y="3413621"/>
            <a:ext cx="3734395" cy="247650"/>
          </a:xfrm>
          <a:prstGeom prst="roundRect">
            <a:avLst>
              <a:gd name="adj" fmla="val 19231"/>
            </a:avLst>
          </a:prstGeom>
          <a:solidFill>
            <a:srgbClr val="A8CE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01700" y="3908921"/>
            <a:ext cx="2481203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EfficientNetV2-S </a:t>
            </a:r>
            <a:r>
              <a:rPr lang="en-US" sz="142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(백본 동결)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5959277" y="3921621"/>
            <a:ext cx="74632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0.8089</a:t>
            </a:r>
            <a:endParaRPr lang="en-US" sz="1725" dirty="0"/>
          </a:p>
        </p:txBody>
      </p:sp>
      <p:sp>
        <p:nvSpPr>
          <p:cNvPr id="14" name="Shape 12"/>
          <p:cNvSpPr/>
          <p:nvPr/>
        </p:nvSpPr>
        <p:spPr>
          <a:xfrm>
            <a:off x="901700" y="4254996"/>
            <a:ext cx="5727700" cy="247650"/>
          </a:xfrm>
          <a:prstGeom prst="roundRect">
            <a:avLst>
              <a:gd name="adj" fmla="val 19231"/>
            </a:avLst>
          </a:prstGeom>
          <a:solidFill>
            <a:srgbClr val="EDF1E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901700" y="4254996"/>
            <a:ext cx="4633615" cy="247650"/>
          </a:xfrm>
          <a:prstGeom prst="roundRect">
            <a:avLst>
              <a:gd name="adj" fmla="val 19231"/>
            </a:avLst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901700" y="4750296"/>
            <a:ext cx="3030835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EfficientNetV2-S </a:t>
            </a:r>
            <a:r>
              <a:rPr lang="en-US" sz="142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(224px 미세조정)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5959277" y="4762996"/>
            <a:ext cx="74632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0.9840</a:t>
            </a:r>
            <a:endParaRPr lang="en-US" sz="1725" dirty="0"/>
          </a:p>
        </p:txBody>
      </p:sp>
      <p:sp>
        <p:nvSpPr>
          <p:cNvPr id="18" name="Shape 16"/>
          <p:cNvSpPr/>
          <p:nvPr/>
        </p:nvSpPr>
        <p:spPr>
          <a:xfrm>
            <a:off x="901700" y="5096371"/>
            <a:ext cx="5727700" cy="247650"/>
          </a:xfrm>
          <a:prstGeom prst="roundRect">
            <a:avLst>
              <a:gd name="adj" fmla="val 19231"/>
            </a:avLst>
          </a:prstGeom>
          <a:solidFill>
            <a:srgbClr val="EDF1E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901700" y="5096371"/>
            <a:ext cx="5636022" cy="247650"/>
          </a:xfrm>
          <a:prstGeom prst="roundRect">
            <a:avLst>
              <a:gd name="adj" fmla="val 19231"/>
            </a:avLst>
          </a:prstGeom>
          <a:solidFill>
            <a:srgbClr val="2A4A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7150100" y="1476375"/>
            <a:ext cx="4432300" cy="4962525"/>
          </a:xfrm>
          <a:prstGeom prst="roundRect">
            <a:avLst>
              <a:gd name="adj" fmla="val 3117"/>
            </a:avLst>
          </a:prstGeom>
          <a:solidFill>
            <a:srgbClr val="F0F6EA"/>
          </a:solidFill>
          <a:ln w="6350">
            <a:solidFill>
              <a:srgbClr val="D6E4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423150" y="2105025"/>
            <a:ext cx="42748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ko-KR" altLang="en-US" sz="16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베이스 라인 대비 </a:t>
            </a:r>
            <a:r>
              <a:rPr lang="en-US" altLang="ko-KR" sz="1650" b="1" dirty="0" err="1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val</a:t>
            </a:r>
            <a:r>
              <a:rPr lang="en-US" altLang="ko-KR" sz="16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macro-F1 score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7423150" y="2524125"/>
            <a:ext cx="42748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9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+0.32</a:t>
            </a:r>
            <a:endParaRPr lang="en-US" sz="3900" dirty="0"/>
          </a:p>
        </p:txBody>
      </p:sp>
      <p:sp>
        <p:nvSpPr>
          <p:cNvPr id="24" name="Text 22"/>
          <p:cNvSpPr/>
          <p:nvPr/>
        </p:nvSpPr>
        <p:spPr>
          <a:xfrm>
            <a:off x="7423150" y="3158430"/>
            <a:ext cx="4002786" cy="586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9355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ImageNet 128만 장에서 학습한 특징이 쓰레기 사진에도 그대로 적용됐다.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423150" y="3897411"/>
            <a:ext cx="3886200" cy="9525"/>
          </a:xfrm>
          <a:prstGeom prst="rect">
            <a:avLst/>
          </a:prstGeom>
          <a:solidFill>
            <a:srgbClr val="CFDCC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7423150" y="3999667"/>
            <a:ext cx="999392" cy="303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채택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423150" y="4350741"/>
            <a:ext cx="4002786" cy="14055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EfficientNetV2-S unfreeze · </a:t>
            </a:r>
            <a:r>
              <a:rPr lang="en-US" sz="1350" b="1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lr</a:t>
            </a:r>
            <a:r>
              <a:rPr lang="en-US" sz="1350" b="1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5e-5 (128px </a:t>
            </a:r>
            <a:r>
              <a:rPr lang="en-US" sz="1350" b="1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기준</a:t>
            </a:r>
            <a:r>
              <a:rPr lang="en-US" sz="1350" b="1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)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-&gt;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해상도를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224px로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올리면서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학습률도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다시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탐색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76250"/>
            <a:ext cx="438150" cy="438150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71500" y="4762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17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238250" y="476250"/>
            <a:ext cx="7649994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3200" b="1" kern="0" spc="-30" dirty="0">
                <a:solidFill>
                  <a:srgbClr val="1E3A28"/>
                </a:solidFill>
                <a:latin typeface="Noto Sans CJK KR" pitchFamily="34" charset="0"/>
                <a:ea typeface="Noto Sans CJK KR"/>
                <a:cs typeface="Noto Sans CJK KR"/>
              </a:rPr>
              <a:t>해상도 튜닝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8250" y="981075"/>
            <a:ext cx="1029233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128px vs 224px— 128px, 검증셋(val) macro-F1 기준</a:t>
            </a:r>
            <a:endParaRPr lang="en-US" sz="1500" dirty="0"/>
          </a:p>
        </p:txBody>
      </p:sp>
      <p:sp>
        <p:nvSpPr>
          <p:cNvPr id="113" name="Shape 4">
            <a:extLst>
              <a:ext uri="{FF2B5EF4-FFF2-40B4-BE49-F238E27FC236}">
                <a16:creationId xmlns:a16="http://schemas.microsoft.com/office/drawing/2014/main" id="{C4BDA411-D8DE-EF59-D474-A3B85652656F}"/>
              </a:ext>
            </a:extLst>
          </p:cNvPr>
          <p:cNvSpPr/>
          <p:nvPr/>
        </p:nvSpPr>
        <p:spPr>
          <a:xfrm>
            <a:off x="609600" y="1476375"/>
            <a:ext cx="10972800" cy="4021748"/>
          </a:xfrm>
          <a:prstGeom prst="roundRect">
            <a:avLst>
              <a:gd name="adj" fmla="val 3405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4" name="Shape 5">
            <a:extLst>
              <a:ext uri="{FF2B5EF4-FFF2-40B4-BE49-F238E27FC236}">
                <a16:creationId xmlns:a16="http://schemas.microsoft.com/office/drawing/2014/main" id="{629C9A37-E192-A550-0B7E-1F3B80009BFB}"/>
              </a:ext>
            </a:extLst>
          </p:cNvPr>
          <p:cNvSpPr/>
          <p:nvPr/>
        </p:nvSpPr>
        <p:spPr>
          <a:xfrm>
            <a:off x="901700" y="1738313"/>
            <a:ext cx="209550" cy="104775"/>
          </a:xfrm>
          <a:prstGeom prst="roundRect">
            <a:avLst>
              <a:gd name="adj" fmla="val 18182"/>
            </a:avLst>
          </a:prstGeom>
          <a:solidFill>
            <a:srgbClr val="A8CE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5" name="Text 6">
            <a:extLst>
              <a:ext uri="{FF2B5EF4-FFF2-40B4-BE49-F238E27FC236}">
                <a16:creationId xmlns:a16="http://schemas.microsoft.com/office/drawing/2014/main" id="{4AA85940-3AF5-5F26-D9C3-92C2BA73B0B9}"/>
              </a:ext>
            </a:extLst>
          </p:cNvPr>
          <p:cNvSpPr/>
          <p:nvPr/>
        </p:nvSpPr>
        <p:spPr>
          <a:xfrm>
            <a:off x="1196975" y="1673225"/>
            <a:ext cx="52337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128px</a:t>
            </a:r>
            <a:endParaRPr lang="en-US" sz="1275" dirty="0"/>
          </a:p>
        </p:txBody>
      </p:sp>
      <p:sp>
        <p:nvSpPr>
          <p:cNvPr id="116" name="Shape 7">
            <a:extLst>
              <a:ext uri="{FF2B5EF4-FFF2-40B4-BE49-F238E27FC236}">
                <a16:creationId xmlns:a16="http://schemas.microsoft.com/office/drawing/2014/main" id="{AACFCD5F-831A-A9D4-8076-7592ED755290}"/>
              </a:ext>
            </a:extLst>
          </p:cNvPr>
          <p:cNvSpPr/>
          <p:nvPr/>
        </p:nvSpPr>
        <p:spPr>
          <a:xfrm>
            <a:off x="1872754" y="1738313"/>
            <a:ext cx="209550" cy="104775"/>
          </a:xfrm>
          <a:prstGeom prst="roundRect">
            <a:avLst>
              <a:gd name="adj" fmla="val 18182"/>
            </a:avLst>
          </a:prstGeom>
          <a:solidFill>
            <a:srgbClr val="2A4A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7" name="Text 8">
            <a:extLst>
              <a:ext uri="{FF2B5EF4-FFF2-40B4-BE49-F238E27FC236}">
                <a16:creationId xmlns:a16="http://schemas.microsoft.com/office/drawing/2014/main" id="{E8441D1E-1B7F-E40E-093A-6B2FB4AEABD4}"/>
              </a:ext>
            </a:extLst>
          </p:cNvPr>
          <p:cNvSpPr/>
          <p:nvPr/>
        </p:nvSpPr>
        <p:spPr>
          <a:xfrm>
            <a:off x="2168029" y="1673225"/>
            <a:ext cx="52337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224px</a:t>
            </a:r>
            <a:endParaRPr lang="en-US" sz="1275" dirty="0"/>
          </a:p>
        </p:txBody>
      </p:sp>
      <p:sp>
        <p:nvSpPr>
          <p:cNvPr id="118" name="Text 9">
            <a:extLst>
              <a:ext uri="{FF2B5EF4-FFF2-40B4-BE49-F238E27FC236}">
                <a16:creationId xmlns:a16="http://schemas.microsoft.com/office/drawing/2014/main" id="{FEC32EBE-030F-A9C1-6562-ECB9A10D2A37}"/>
              </a:ext>
            </a:extLst>
          </p:cNvPr>
          <p:cNvSpPr/>
          <p:nvPr/>
        </p:nvSpPr>
        <p:spPr>
          <a:xfrm>
            <a:off x="9418141" y="1679575"/>
            <a:ext cx="205937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가로축 0.90 ~ 1.00 구간 확대</a:t>
            </a:r>
            <a:endParaRPr lang="en-US" sz="1200" dirty="0"/>
          </a:p>
        </p:txBody>
      </p:sp>
      <p:sp>
        <p:nvSpPr>
          <p:cNvPr id="119" name="Text 10">
            <a:extLst>
              <a:ext uri="{FF2B5EF4-FFF2-40B4-BE49-F238E27FC236}">
                <a16:creationId xmlns:a16="http://schemas.microsoft.com/office/drawing/2014/main" id="{F73C9A9C-0408-2465-F8EC-3C07BF885F0A}"/>
              </a:ext>
            </a:extLst>
          </p:cNvPr>
          <p:cNvSpPr/>
          <p:nvPr/>
        </p:nvSpPr>
        <p:spPr>
          <a:xfrm>
            <a:off x="901700" y="2041525"/>
            <a:ext cx="617637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battery</a:t>
            </a:r>
            <a:endParaRPr lang="en-US" sz="1275" dirty="0"/>
          </a:p>
        </p:txBody>
      </p:sp>
      <p:sp>
        <p:nvSpPr>
          <p:cNvPr id="120" name="Text 11">
            <a:extLst>
              <a:ext uri="{FF2B5EF4-FFF2-40B4-BE49-F238E27FC236}">
                <a16:creationId xmlns:a16="http://schemas.microsoft.com/office/drawing/2014/main" id="{0C9A8703-AB98-4B9E-B999-56B60385657A}"/>
              </a:ext>
            </a:extLst>
          </p:cNvPr>
          <p:cNvSpPr/>
          <p:nvPr/>
        </p:nvSpPr>
        <p:spPr>
          <a:xfrm>
            <a:off x="4662289" y="2041525"/>
            <a:ext cx="1346577" cy="2730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0.9789 → </a:t>
            </a:r>
            <a:r>
              <a:rPr lang="en-US" sz="1275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0.9859</a:t>
            </a:r>
            <a:endParaRPr lang="en-US" sz="1275" dirty="0"/>
          </a:p>
        </p:txBody>
      </p:sp>
      <p:sp>
        <p:nvSpPr>
          <p:cNvPr id="121" name="Shape 12">
            <a:extLst>
              <a:ext uri="{FF2B5EF4-FFF2-40B4-BE49-F238E27FC236}">
                <a16:creationId xmlns:a16="http://schemas.microsoft.com/office/drawing/2014/main" id="{98D41CF6-6DC0-2339-E9D2-0BAA3BF681CD}"/>
              </a:ext>
            </a:extLst>
          </p:cNvPr>
          <p:cNvSpPr/>
          <p:nvPr/>
        </p:nvSpPr>
        <p:spPr>
          <a:xfrm>
            <a:off x="901700" y="2324100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2" name="Shape 13">
            <a:extLst>
              <a:ext uri="{FF2B5EF4-FFF2-40B4-BE49-F238E27FC236}">
                <a16:creationId xmlns:a16="http://schemas.microsoft.com/office/drawing/2014/main" id="{61583F92-026B-F1B6-4524-5D249207CF12}"/>
              </a:ext>
            </a:extLst>
          </p:cNvPr>
          <p:cNvSpPr/>
          <p:nvPr/>
        </p:nvSpPr>
        <p:spPr>
          <a:xfrm>
            <a:off x="901700" y="2324100"/>
            <a:ext cx="3932932" cy="95250"/>
          </a:xfrm>
          <a:prstGeom prst="roundRect">
            <a:avLst>
              <a:gd name="adj" fmla="val 20000"/>
            </a:avLst>
          </a:prstGeom>
          <a:solidFill>
            <a:srgbClr val="A8CE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3" name="Shape 14">
            <a:extLst>
              <a:ext uri="{FF2B5EF4-FFF2-40B4-BE49-F238E27FC236}">
                <a16:creationId xmlns:a16="http://schemas.microsoft.com/office/drawing/2014/main" id="{641E5F25-41A4-0C2B-C26D-1877CF1F6EB9}"/>
              </a:ext>
            </a:extLst>
          </p:cNvPr>
          <p:cNvSpPr/>
          <p:nvPr/>
        </p:nvSpPr>
        <p:spPr>
          <a:xfrm>
            <a:off x="901700" y="2466975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4" name="Shape 15">
            <a:extLst>
              <a:ext uri="{FF2B5EF4-FFF2-40B4-BE49-F238E27FC236}">
                <a16:creationId xmlns:a16="http://schemas.microsoft.com/office/drawing/2014/main" id="{564A2A67-BB72-94DC-A85E-154AFF5EC039}"/>
              </a:ext>
            </a:extLst>
          </p:cNvPr>
          <p:cNvSpPr/>
          <p:nvPr/>
        </p:nvSpPr>
        <p:spPr>
          <a:xfrm>
            <a:off x="901700" y="2466975"/>
            <a:ext cx="4281885" cy="95250"/>
          </a:xfrm>
          <a:prstGeom prst="roundRect">
            <a:avLst>
              <a:gd name="adj" fmla="val 20000"/>
            </a:avLst>
          </a:prstGeom>
          <a:solidFill>
            <a:srgbClr val="2A4A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5" name="Text 16">
            <a:extLst>
              <a:ext uri="{FF2B5EF4-FFF2-40B4-BE49-F238E27FC236}">
                <a16:creationId xmlns:a16="http://schemas.microsoft.com/office/drawing/2014/main" id="{CA6F4E83-8122-E3D0-95C9-9F7DD1B58A30}"/>
              </a:ext>
            </a:extLst>
          </p:cNvPr>
          <p:cNvSpPr/>
          <p:nvPr/>
        </p:nvSpPr>
        <p:spPr>
          <a:xfrm>
            <a:off x="6305550" y="2041525"/>
            <a:ext cx="942677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green-glass</a:t>
            </a:r>
            <a:endParaRPr lang="en-US" sz="1275" dirty="0"/>
          </a:p>
        </p:txBody>
      </p:sp>
      <p:sp>
        <p:nvSpPr>
          <p:cNvPr id="126" name="Text 17">
            <a:extLst>
              <a:ext uri="{FF2B5EF4-FFF2-40B4-BE49-F238E27FC236}">
                <a16:creationId xmlns:a16="http://schemas.microsoft.com/office/drawing/2014/main" id="{7F370D7F-3E1F-70CE-E8C4-A25CF2215944}"/>
              </a:ext>
            </a:extLst>
          </p:cNvPr>
          <p:cNvSpPr/>
          <p:nvPr/>
        </p:nvSpPr>
        <p:spPr>
          <a:xfrm>
            <a:off x="10066139" y="2041525"/>
            <a:ext cx="1346577" cy="2730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0.9838 → </a:t>
            </a:r>
            <a:r>
              <a:rPr lang="en-US" sz="1275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0.9892</a:t>
            </a:r>
            <a:endParaRPr lang="en-US" sz="1275" dirty="0"/>
          </a:p>
        </p:txBody>
      </p:sp>
      <p:sp>
        <p:nvSpPr>
          <p:cNvPr id="127" name="Shape 18">
            <a:extLst>
              <a:ext uri="{FF2B5EF4-FFF2-40B4-BE49-F238E27FC236}">
                <a16:creationId xmlns:a16="http://schemas.microsoft.com/office/drawing/2014/main" id="{E316CC00-0179-7229-7882-CE557F7B1AEE}"/>
              </a:ext>
            </a:extLst>
          </p:cNvPr>
          <p:cNvSpPr/>
          <p:nvPr/>
        </p:nvSpPr>
        <p:spPr>
          <a:xfrm>
            <a:off x="6305550" y="2324100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8" name="Shape 19">
            <a:extLst>
              <a:ext uri="{FF2B5EF4-FFF2-40B4-BE49-F238E27FC236}">
                <a16:creationId xmlns:a16="http://schemas.microsoft.com/office/drawing/2014/main" id="{A134434A-88C1-BDF3-4C7C-22B0D087FDC3}"/>
              </a:ext>
            </a:extLst>
          </p:cNvPr>
          <p:cNvSpPr/>
          <p:nvPr/>
        </p:nvSpPr>
        <p:spPr>
          <a:xfrm>
            <a:off x="6305550" y="2324100"/>
            <a:ext cx="4177209" cy="95250"/>
          </a:xfrm>
          <a:prstGeom prst="roundRect">
            <a:avLst>
              <a:gd name="adj" fmla="val 20000"/>
            </a:avLst>
          </a:prstGeom>
          <a:solidFill>
            <a:srgbClr val="A8CE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9" name="Shape 20">
            <a:extLst>
              <a:ext uri="{FF2B5EF4-FFF2-40B4-BE49-F238E27FC236}">
                <a16:creationId xmlns:a16="http://schemas.microsoft.com/office/drawing/2014/main" id="{2BA23063-77AD-4377-80CC-495836E7CA6C}"/>
              </a:ext>
            </a:extLst>
          </p:cNvPr>
          <p:cNvSpPr/>
          <p:nvPr/>
        </p:nvSpPr>
        <p:spPr>
          <a:xfrm>
            <a:off x="6305550" y="2466975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0" name="Shape 21">
            <a:extLst>
              <a:ext uri="{FF2B5EF4-FFF2-40B4-BE49-F238E27FC236}">
                <a16:creationId xmlns:a16="http://schemas.microsoft.com/office/drawing/2014/main" id="{CE2A4B62-45CC-E9CA-650A-4A82769FCEB2}"/>
              </a:ext>
            </a:extLst>
          </p:cNvPr>
          <p:cNvSpPr/>
          <p:nvPr/>
        </p:nvSpPr>
        <p:spPr>
          <a:xfrm>
            <a:off x="6305550" y="2466975"/>
            <a:ext cx="4446389" cy="95250"/>
          </a:xfrm>
          <a:prstGeom prst="roundRect">
            <a:avLst>
              <a:gd name="adj" fmla="val 20000"/>
            </a:avLst>
          </a:prstGeom>
          <a:solidFill>
            <a:srgbClr val="2A4A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1" name="Text 22">
            <a:extLst>
              <a:ext uri="{FF2B5EF4-FFF2-40B4-BE49-F238E27FC236}">
                <a16:creationId xmlns:a16="http://schemas.microsoft.com/office/drawing/2014/main" id="{7E7FC3A3-F2E2-9ABD-69D9-FD399D45D6F9}"/>
              </a:ext>
            </a:extLst>
          </p:cNvPr>
          <p:cNvSpPr/>
          <p:nvPr/>
        </p:nvSpPr>
        <p:spPr>
          <a:xfrm>
            <a:off x="901700" y="2600325"/>
            <a:ext cx="816372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biological</a:t>
            </a:r>
            <a:endParaRPr lang="en-US" sz="1275" dirty="0"/>
          </a:p>
        </p:txBody>
      </p:sp>
      <p:sp>
        <p:nvSpPr>
          <p:cNvPr id="132" name="Text 23">
            <a:extLst>
              <a:ext uri="{FF2B5EF4-FFF2-40B4-BE49-F238E27FC236}">
                <a16:creationId xmlns:a16="http://schemas.microsoft.com/office/drawing/2014/main" id="{AB49E3CF-0AE2-3363-FB54-FADA29CF0F1B}"/>
              </a:ext>
            </a:extLst>
          </p:cNvPr>
          <p:cNvSpPr/>
          <p:nvPr/>
        </p:nvSpPr>
        <p:spPr>
          <a:xfrm>
            <a:off x="4662289" y="2600325"/>
            <a:ext cx="1346577" cy="2730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0.9899 → </a:t>
            </a:r>
            <a:r>
              <a:rPr lang="en-US" sz="1275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0.9966</a:t>
            </a:r>
            <a:endParaRPr lang="en-US" sz="1275" dirty="0"/>
          </a:p>
        </p:txBody>
      </p:sp>
      <p:sp>
        <p:nvSpPr>
          <p:cNvPr id="133" name="Shape 24">
            <a:extLst>
              <a:ext uri="{FF2B5EF4-FFF2-40B4-BE49-F238E27FC236}">
                <a16:creationId xmlns:a16="http://schemas.microsoft.com/office/drawing/2014/main" id="{35BB94A0-5A8C-99A7-9158-38CAC787D1C7}"/>
              </a:ext>
            </a:extLst>
          </p:cNvPr>
          <p:cNvSpPr/>
          <p:nvPr/>
        </p:nvSpPr>
        <p:spPr>
          <a:xfrm>
            <a:off x="901700" y="2882900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4" name="Shape 25">
            <a:extLst>
              <a:ext uri="{FF2B5EF4-FFF2-40B4-BE49-F238E27FC236}">
                <a16:creationId xmlns:a16="http://schemas.microsoft.com/office/drawing/2014/main" id="{FDAAA7B9-1051-EFF7-3492-5EDE0267CA27}"/>
              </a:ext>
            </a:extLst>
          </p:cNvPr>
          <p:cNvSpPr/>
          <p:nvPr/>
        </p:nvSpPr>
        <p:spPr>
          <a:xfrm>
            <a:off x="901700" y="2882900"/>
            <a:ext cx="4481215" cy="95250"/>
          </a:xfrm>
          <a:prstGeom prst="roundRect">
            <a:avLst>
              <a:gd name="adj" fmla="val 20000"/>
            </a:avLst>
          </a:prstGeom>
          <a:solidFill>
            <a:srgbClr val="A8CE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5" name="Shape 26">
            <a:extLst>
              <a:ext uri="{FF2B5EF4-FFF2-40B4-BE49-F238E27FC236}">
                <a16:creationId xmlns:a16="http://schemas.microsoft.com/office/drawing/2014/main" id="{06687541-764A-9E1B-AE8F-2C9131824F13}"/>
              </a:ext>
            </a:extLst>
          </p:cNvPr>
          <p:cNvSpPr/>
          <p:nvPr/>
        </p:nvSpPr>
        <p:spPr>
          <a:xfrm>
            <a:off x="901700" y="3025775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6" name="Shape 27">
            <a:extLst>
              <a:ext uri="{FF2B5EF4-FFF2-40B4-BE49-F238E27FC236}">
                <a16:creationId xmlns:a16="http://schemas.microsoft.com/office/drawing/2014/main" id="{267E03C0-B0DF-7491-8331-D1299984B8E1}"/>
              </a:ext>
            </a:extLst>
          </p:cNvPr>
          <p:cNvSpPr/>
          <p:nvPr/>
        </p:nvSpPr>
        <p:spPr>
          <a:xfrm>
            <a:off x="901700" y="3025775"/>
            <a:ext cx="4815185" cy="95250"/>
          </a:xfrm>
          <a:prstGeom prst="roundRect">
            <a:avLst>
              <a:gd name="adj" fmla="val 20000"/>
            </a:avLst>
          </a:prstGeom>
          <a:solidFill>
            <a:srgbClr val="2A4A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7" name="Text 28">
            <a:extLst>
              <a:ext uri="{FF2B5EF4-FFF2-40B4-BE49-F238E27FC236}">
                <a16:creationId xmlns:a16="http://schemas.microsoft.com/office/drawing/2014/main" id="{552296EB-C9DA-E534-5A2C-C263163052BC}"/>
              </a:ext>
            </a:extLst>
          </p:cNvPr>
          <p:cNvSpPr/>
          <p:nvPr/>
        </p:nvSpPr>
        <p:spPr>
          <a:xfrm>
            <a:off x="6305550" y="2644775"/>
            <a:ext cx="472182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metal</a:t>
            </a:r>
            <a:endParaRPr lang="en-US" sz="1275" dirty="0"/>
          </a:p>
        </p:txBody>
      </p:sp>
      <p:sp>
        <p:nvSpPr>
          <p:cNvPr id="138" name="Text 29">
            <a:extLst>
              <a:ext uri="{FF2B5EF4-FFF2-40B4-BE49-F238E27FC236}">
                <a16:creationId xmlns:a16="http://schemas.microsoft.com/office/drawing/2014/main" id="{94457457-BBDC-048B-6A18-1290CE3732D7}"/>
              </a:ext>
            </a:extLst>
          </p:cNvPr>
          <p:cNvSpPr/>
          <p:nvPr/>
        </p:nvSpPr>
        <p:spPr>
          <a:xfrm>
            <a:off x="10066139" y="2600325"/>
            <a:ext cx="1346577" cy="2730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0.9333 → </a:t>
            </a:r>
            <a:r>
              <a:rPr lang="en-US" sz="1275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0.9617</a:t>
            </a:r>
            <a:endParaRPr lang="en-US" sz="1275" dirty="0"/>
          </a:p>
        </p:txBody>
      </p:sp>
      <p:sp>
        <p:nvSpPr>
          <p:cNvPr id="139" name="Shape 30">
            <a:extLst>
              <a:ext uri="{FF2B5EF4-FFF2-40B4-BE49-F238E27FC236}">
                <a16:creationId xmlns:a16="http://schemas.microsoft.com/office/drawing/2014/main" id="{B914445A-A8FB-CDBE-823F-DAEFF49C5BFF}"/>
              </a:ext>
            </a:extLst>
          </p:cNvPr>
          <p:cNvSpPr/>
          <p:nvPr/>
        </p:nvSpPr>
        <p:spPr>
          <a:xfrm>
            <a:off x="6305550" y="2882900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0" name="Shape 31">
            <a:extLst>
              <a:ext uri="{FF2B5EF4-FFF2-40B4-BE49-F238E27FC236}">
                <a16:creationId xmlns:a16="http://schemas.microsoft.com/office/drawing/2014/main" id="{F4FE1115-3F33-68ED-2160-9735C91A9341}"/>
              </a:ext>
            </a:extLst>
          </p:cNvPr>
          <p:cNvSpPr/>
          <p:nvPr/>
        </p:nvSpPr>
        <p:spPr>
          <a:xfrm>
            <a:off x="6305550" y="2882900"/>
            <a:ext cx="1659831" cy="95250"/>
          </a:xfrm>
          <a:prstGeom prst="roundRect">
            <a:avLst>
              <a:gd name="adj" fmla="val 20000"/>
            </a:avLst>
          </a:prstGeom>
          <a:solidFill>
            <a:srgbClr val="A8CE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1" name="Shape 32">
            <a:extLst>
              <a:ext uri="{FF2B5EF4-FFF2-40B4-BE49-F238E27FC236}">
                <a16:creationId xmlns:a16="http://schemas.microsoft.com/office/drawing/2014/main" id="{AB6DEF8E-0338-9042-D5B1-C318D7955DA2}"/>
              </a:ext>
            </a:extLst>
          </p:cNvPr>
          <p:cNvSpPr/>
          <p:nvPr/>
        </p:nvSpPr>
        <p:spPr>
          <a:xfrm>
            <a:off x="6305550" y="3025775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2" name="Shape 33">
            <a:extLst>
              <a:ext uri="{FF2B5EF4-FFF2-40B4-BE49-F238E27FC236}">
                <a16:creationId xmlns:a16="http://schemas.microsoft.com/office/drawing/2014/main" id="{3C891F2E-CCBF-311F-8832-DA0ED6376287}"/>
              </a:ext>
            </a:extLst>
          </p:cNvPr>
          <p:cNvSpPr/>
          <p:nvPr/>
        </p:nvSpPr>
        <p:spPr>
          <a:xfrm>
            <a:off x="6305550" y="3025775"/>
            <a:ext cx="3075583" cy="95250"/>
          </a:xfrm>
          <a:prstGeom prst="roundRect">
            <a:avLst>
              <a:gd name="adj" fmla="val 20000"/>
            </a:avLst>
          </a:prstGeom>
          <a:solidFill>
            <a:srgbClr val="2A4A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3" name="Text 34">
            <a:extLst>
              <a:ext uri="{FF2B5EF4-FFF2-40B4-BE49-F238E27FC236}">
                <a16:creationId xmlns:a16="http://schemas.microsoft.com/office/drawing/2014/main" id="{0C26EF63-24EE-9CE1-3F25-A902AD8A9C41}"/>
              </a:ext>
            </a:extLst>
          </p:cNvPr>
          <p:cNvSpPr/>
          <p:nvPr/>
        </p:nvSpPr>
        <p:spPr>
          <a:xfrm>
            <a:off x="901700" y="3203575"/>
            <a:ext cx="949226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dirty="0"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brown-glass</a:t>
            </a:r>
            <a:endParaRPr lang="en-US" sz="1275" dirty="0"/>
          </a:p>
        </p:txBody>
      </p:sp>
      <p:sp>
        <p:nvSpPr>
          <p:cNvPr id="144" name="Text 35">
            <a:extLst>
              <a:ext uri="{FF2B5EF4-FFF2-40B4-BE49-F238E27FC236}">
                <a16:creationId xmlns:a16="http://schemas.microsoft.com/office/drawing/2014/main" id="{4A9AFFB1-A5A1-FD69-941C-5D593BA35672}"/>
              </a:ext>
            </a:extLst>
          </p:cNvPr>
          <p:cNvSpPr/>
          <p:nvPr/>
        </p:nvSpPr>
        <p:spPr>
          <a:xfrm>
            <a:off x="4662289" y="3159125"/>
            <a:ext cx="1346577" cy="2730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0.9626 → </a:t>
            </a:r>
            <a:r>
              <a:rPr lang="en-US" sz="1275" b="1" dirty="0"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0.9840</a:t>
            </a:r>
            <a:endParaRPr lang="en-US" sz="1275" dirty="0"/>
          </a:p>
        </p:txBody>
      </p:sp>
      <p:sp>
        <p:nvSpPr>
          <p:cNvPr id="145" name="Shape 36">
            <a:extLst>
              <a:ext uri="{FF2B5EF4-FFF2-40B4-BE49-F238E27FC236}">
                <a16:creationId xmlns:a16="http://schemas.microsoft.com/office/drawing/2014/main" id="{BCA7CE8F-13EE-D3C2-1A4B-2411AF0410ED}"/>
              </a:ext>
            </a:extLst>
          </p:cNvPr>
          <p:cNvSpPr/>
          <p:nvPr/>
        </p:nvSpPr>
        <p:spPr>
          <a:xfrm>
            <a:off x="901700" y="3441700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6" name="Shape 37">
            <a:extLst>
              <a:ext uri="{FF2B5EF4-FFF2-40B4-BE49-F238E27FC236}">
                <a16:creationId xmlns:a16="http://schemas.microsoft.com/office/drawing/2014/main" id="{958E2F7E-E28A-2166-586E-3F078552C35A}"/>
              </a:ext>
            </a:extLst>
          </p:cNvPr>
          <p:cNvSpPr/>
          <p:nvPr/>
        </p:nvSpPr>
        <p:spPr>
          <a:xfrm>
            <a:off x="901700" y="3441700"/>
            <a:ext cx="3120430" cy="95250"/>
          </a:xfrm>
          <a:prstGeom prst="roundRect">
            <a:avLst>
              <a:gd name="adj" fmla="val 20000"/>
            </a:avLst>
          </a:prstGeom>
          <a:solidFill>
            <a:srgbClr val="A8CE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7" name="Shape 38">
            <a:extLst>
              <a:ext uri="{FF2B5EF4-FFF2-40B4-BE49-F238E27FC236}">
                <a16:creationId xmlns:a16="http://schemas.microsoft.com/office/drawing/2014/main" id="{CC24FDE9-E0E3-A292-A88B-699514D069ED}"/>
              </a:ext>
            </a:extLst>
          </p:cNvPr>
          <p:cNvSpPr/>
          <p:nvPr/>
        </p:nvSpPr>
        <p:spPr>
          <a:xfrm>
            <a:off x="901700" y="3584575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8" name="Shape 39">
            <a:extLst>
              <a:ext uri="{FF2B5EF4-FFF2-40B4-BE49-F238E27FC236}">
                <a16:creationId xmlns:a16="http://schemas.microsoft.com/office/drawing/2014/main" id="{1063E3AD-3D6F-FA37-C37E-9D7D6B0FE12C}"/>
              </a:ext>
            </a:extLst>
          </p:cNvPr>
          <p:cNvSpPr/>
          <p:nvPr/>
        </p:nvSpPr>
        <p:spPr>
          <a:xfrm>
            <a:off x="901700" y="3584575"/>
            <a:ext cx="4187130" cy="95250"/>
          </a:xfrm>
          <a:prstGeom prst="roundRect">
            <a:avLst>
              <a:gd name="adj" fmla="val 20000"/>
            </a:avLst>
          </a:prstGeom>
          <a:solidFill>
            <a:srgbClr val="2A4A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9" name="Text 40">
            <a:extLst>
              <a:ext uri="{FF2B5EF4-FFF2-40B4-BE49-F238E27FC236}">
                <a16:creationId xmlns:a16="http://schemas.microsoft.com/office/drawing/2014/main" id="{A57834BD-7CA1-F3BA-404B-43DE32EC3381}"/>
              </a:ext>
            </a:extLst>
          </p:cNvPr>
          <p:cNvSpPr/>
          <p:nvPr/>
        </p:nvSpPr>
        <p:spPr>
          <a:xfrm>
            <a:off x="6305550" y="3159125"/>
            <a:ext cx="517624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paper</a:t>
            </a:r>
            <a:endParaRPr lang="en-US" sz="1275" dirty="0"/>
          </a:p>
        </p:txBody>
      </p:sp>
      <p:sp>
        <p:nvSpPr>
          <p:cNvPr id="150" name="Text 41">
            <a:extLst>
              <a:ext uri="{FF2B5EF4-FFF2-40B4-BE49-F238E27FC236}">
                <a16:creationId xmlns:a16="http://schemas.microsoft.com/office/drawing/2014/main" id="{F84B4003-3A3E-F6F7-DBD8-74CD8F9DDF43}"/>
              </a:ext>
            </a:extLst>
          </p:cNvPr>
          <p:cNvSpPr/>
          <p:nvPr/>
        </p:nvSpPr>
        <p:spPr>
          <a:xfrm>
            <a:off x="10066139" y="3159125"/>
            <a:ext cx="1346577" cy="2730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0.9659 → </a:t>
            </a:r>
            <a:r>
              <a:rPr lang="en-US" sz="1275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0.9745</a:t>
            </a:r>
            <a:endParaRPr lang="en-US" sz="1275" dirty="0"/>
          </a:p>
        </p:txBody>
      </p:sp>
      <p:sp>
        <p:nvSpPr>
          <p:cNvPr id="151" name="Shape 42">
            <a:extLst>
              <a:ext uri="{FF2B5EF4-FFF2-40B4-BE49-F238E27FC236}">
                <a16:creationId xmlns:a16="http://schemas.microsoft.com/office/drawing/2014/main" id="{EA7A9F53-C8DF-CC2D-6A4F-291DD578A2AE}"/>
              </a:ext>
            </a:extLst>
          </p:cNvPr>
          <p:cNvSpPr/>
          <p:nvPr/>
        </p:nvSpPr>
        <p:spPr>
          <a:xfrm>
            <a:off x="6305550" y="3441700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2" name="Shape 43">
            <a:extLst>
              <a:ext uri="{FF2B5EF4-FFF2-40B4-BE49-F238E27FC236}">
                <a16:creationId xmlns:a16="http://schemas.microsoft.com/office/drawing/2014/main" id="{5D126D15-6781-0925-B4FE-2CC70A77C750}"/>
              </a:ext>
            </a:extLst>
          </p:cNvPr>
          <p:cNvSpPr/>
          <p:nvPr/>
        </p:nvSpPr>
        <p:spPr>
          <a:xfrm>
            <a:off x="6305550" y="3441700"/>
            <a:ext cx="3284934" cy="95250"/>
          </a:xfrm>
          <a:prstGeom prst="roundRect">
            <a:avLst>
              <a:gd name="adj" fmla="val 20000"/>
            </a:avLst>
          </a:prstGeom>
          <a:solidFill>
            <a:srgbClr val="A8CE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3" name="Shape 44">
            <a:extLst>
              <a:ext uri="{FF2B5EF4-FFF2-40B4-BE49-F238E27FC236}">
                <a16:creationId xmlns:a16="http://schemas.microsoft.com/office/drawing/2014/main" id="{0B25B4C9-90FB-B533-7303-216E691C9DEF}"/>
              </a:ext>
            </a:extLst>
          </p:cNvPr>
          <p:cNvSpPr/>
          <p:nvPr/>
        </p:nvSpPr>
        <p:spPr>
          <a:xfrm>
            <a:off x="6305550" y="3584575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4" name="Shape 45">
            <a:extLst>
              <a:ext uri="{FF2B5EF4-FFF2-40B4-BE49-F238E27FC236}">
                <a16:creationId xmlns:a16="http://schemas.microsoft.com/office/drawing/2014/main" id="{14B12345-53AA-53BE-4547-B71DD4A68575}"/>
              </a:ext>
            </a:extLst>
          </p:cNvPr>
          <p:cNvSpPr/>
          <p:nvPr/>
        </p:nvSpPr>
        <p:spPr>
          <a:xfrm>
            <a:off x="6305550" y="3584575"/>
            <a:ext cx="3713559" cy="95250"/>
          </a:xfrm>
          <a:prstGeom prst="roundRect">
            <a:avLst>
              <a:gd name="adj" fmla="val 20000"/>
            </a:avLst>
          </a:prstGeom>
          <a:solidFill>
            <a:srgbClr val="2A4A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5" name="Text 46">
            <a:extLst>
              <a:ext uri="{FF2B5EF4-FFF2-40B4-BE49-F238E27FC236}">
                <a16:creationId xmlns:a16="http://schemas.microsoft.com/office/drawing/2014/main" id="{81EC8C08-CEE0-1EC6-EBE2-88B78578447B}"/>
              </a:ext>
            </a:extLst>
          </p:cNvPr>
          <p:cNvSpPr/>
          <p:nvPr/>
        </p:nvSpPr>
        <p:spPr>
          <a:xfrm>
            <a:off x="901700" y="3762375"/>
            <a:ext cx="805359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cardboard</a:t>
            </a:r>
            <a:endParaRPr lang="en-US" sz="1275" dirty="0"/>
          </a:p>
        </p:txBody>
      </p:sp>
      <p:sp>
        <p:nvSpPr>
          <p:cNvPr id="156" name="Text 47">
            <a:extLst>
              <a:ext uri="{FF2B5EF4-FFF2-40B4-BE49-F238E27FC236}">
                <a16:creationId xmlns:a16="http://schemas.microsoft.com/office/drawing/2014/main" id="{E184205E-2B3B-F6DE-A884-AEE7C94D3B51}"/>
              </a:ext>
            </a:extLst>
          </p:cNvPr>
          <p:cNvSpPr/>
          <p:nvPr/>
        </p:nvSpPr>
        <p:spPr>
          <a:xfrm>
            <a:off x="4662289" y="3717925"/>
            <a:ext cx="1346577" cy="2730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0.9579 → </a:t>
            </a:r>
            <a:r>
              <a:rPr lang="en-US" sz="1275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0.9742</a:t>
            </a:r>
            <a:endParaRPr lang="en-US" sz="1275" dirty="0"/>
          </a:p>
        </p:txBody>
      </p:sp>
      <p:sp>
        <p:nvSpPr>
          <p:cNvPr id="157" name="Shape 48">
            <a:extLst>
              <a:ext uri="{FF2B5EF4-FFF2-40B4-BE49-F238E27FC236}">
                <a16:creationId xmlns:a16="http://schemas.microsoft.com/office/drawing/2014/main" id="{095E2426-6EA6-DD4D-563E-C343D3F11296}"/>
              </a:ext>
            </a:extLst>
          </p:cNvPr>
          <p:cNvSpPr/>
          <p:nvPr/>
        </p:nvSpPr>
        <p:spPr>
          <a:xfrm>
            <a:off x="901700" y="4000500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8" name="Shape 49">
            <a:extLst>
              <a:ext uri="{FF2B5EF4-FFF2-40B4-BE49-F238E27FC236}">
                <a16:creationId xmlns:a16="http://schemas.microsoft.com/office/drawing/2014/main" id="{A03063E5-D2E5-CAFA-130E-C743B74F2F08}"/>
              </a:ext>
            </a:extLst>
          </p:cNvPr>
          <p:cNvSpPr/>
          <p:nvPr/>
        </p:nvSpPr>
        <p:spPr>
          <a:xfrm>
            <a:off x="901700" y="4000500"/>
            <a:ext cx="2886075" cy="95250"/>
          </a:xfrm>
          <a:prstGeom prst="roundRect">
            <a:avLst>
              <a:gd name="adj" fmla="val 20000"/>
            </a:avLst>
          </a:prstGeom>
          <a:solidFill>
            <a:srgbClr val="A8CE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9" name="Shape 50">
            <a:extLst>
              <a:ext uri="{FF2B5EF4-FFF2-40B4-BE49-F238E27FC236}">
                <a16:creationId xmlns:a16="http://schemas.microsoft.com/office/drawing/2014/main" id="{0F8ADEB7-52C4-C97F-8204-EC568A25B60E}"/>
              </a:ext>
            </a:extLst>
          </p:cNvPr>
          <p:cNvSpPr/>
          <p:nvPr/>
        </p:nvSpPr>
        <p:spPr>
          <a:xfrm>
            <a:off x="901700" y="4143375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0" name="Shape 51">
            <a:extLst>
              <a:ext uri="{FF2B5EF4-FFF2-40B4-BE49-F238E27FC236}">
                <a16:creationId xmlns:a16="http://schemas.microsoft.com/office/drawing/2014/main" id="{DBAA4B3F-A737-2040-FC10-070AEA3F7A96}"/>
              </a:ext>
            </a:extLst>
          </p:cNvPr>
          <p:cNvSpPr/>
          <p:nvPr/>
        </p:nvSpPr>
        <p:spPr>
          <a:xfrm>
            <a:off x="901700" y="4143375"/>
            <a:ext cx="3698677" cy="95250"/>
          </a:xfrm>
          <a:prstGeom prst="roundRect">
            <a:avLst>
              <a:gd name="adj" fmla="val 20000"/>
            </a:avLst>
          </a:prstGeom>
          <a:solidFill>
            <a:srgbClr val="2A4A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1" name="Text 52">
            <a:extLst>
              <a:ext uri="{FF2B5EF4-FFF2-40B4-BE49-F238E27FC236}">
                <a16:creationId xmlns:a16="http://schemas.microsoft.com/office/drawing/2014/main" id="{44755FF3-4015-5DB8-AC2A-FA3AE980926A}"/>
              </a:ext>
            </a:extLst>
          </p:cNvPr>
          <p:cNvSpPr/>
          <p:nvPr/>
        </p:nvSpPr>
        <p:spPr>
          <a:xfrm>
            <a:off x="6305550" y="3762375"/>
            <a:ext cx="535186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plastic</a:t>
            </a:r>
            <a:endParaRPr lang="en-US" sz="1275" dirty="0"/>
          </a:p>
        </p:txBody>
      </p:sp>
      <p:sp>
        <p:nvSpPr>
          <p:cNvPr id="162" name="Text 53">
            <a:extLst>
              <a:ext uri="{FF2B5EF4-FFF2-40B4-BE49-F238E27FC236}">
                <a16:creationId xmlns:a16="http://schemas.microsoft.com/office/drawing/2014/main" id="{ADBD1450-9B98-D903-E7C0-415084D02895}"/>
              </a:ext>
            </a:extLst>
          </p:cNvPr>
          <p:cNvSpPr/>
          <p:nvPr/>
        </p:nvSpPr>
        <p:spPr>
          <a:xfrm>
            <a:off x="10066139" y="3717925"/>
            <a:ext cx="1346577" cy="2730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0.9105 → </a:t>
            </a:r>
            <a:r>
              <a:rPr lang="en-US" sz="1275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0.9575</a:t>
            </a:r>
            <a:endParaRPr lang="en-US" sz="1275" dirty="0"/>
          </a:p>
        </p:txBody>
      </p:sp>
      <p:sp>
        <p:nvSpPr>
          <p:cNvPr id="163" name="Shape 54">
            <a:extLst>
              <a:ext uri="{FF2B5EF4-FFF2-40B4-BE49-F238E27FC236}">
                <a16:creationId xmlns:a16="http://schemas.microsoft.com/office/drawing/2014/main" id="{51487730-7800-2BA9-254F-F54851097F7F}"/>
              </a:ext>
            </a:extLst>
          </p:cNvPr>
          <p:cNvSpPr/>
          <p:nvPr/>
        </p:nvSpPr>
        <p:spPr>
          <a:xfrm>
            <a:off x="6305550" y="4000500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4" name="Shape 55">
            <a:extLst>
              <a:ext uri="{FF2B5EF4-FFF2-40B4-BE49-F238E27FC236}">
                <a16:creationId xmlns:a16="http://schemas.microsoft.com/office/drawing/2014/main" id="{74175D11-1ECF-8725-3999-F88CAF7A5DF9}"/>
              </a:ext>
            </a:extLst>
          </p:cNvPr>
          <p:cNvSpPr/>
          <p:nvPr/>
        </p:nvSpPr>
        <p:spPr>
          <a:xfrm>
            <a:off x="6305550" y="4000500"/>
            <a:ext cx="523379" cy="95250"/>
          </a:xfrm>
          <a:prstGeom prst="roundRect">
            <a:avLst>
              <a:gd name="adj" fmla="val 20000"/>
            </a:avLst>
          </a:prstGeom>
          <a:solidFill>
            <a:srgbClr val="A8CE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5" name="Shape 56">
            <a:extLst>
              <a:ext uri="{FF2B5EF4-FFF2-40B4-BE49-F238E27FC236}">
                <a16:creationId xmlns:a16="http://schemas.microsoft.com/office/drawing/2014/main" id="{1D157526-E7E2-D8B3-FA11-A189BE897BF0}"/>
              </a:ext>
            </a:extLst>
          </p:cNvPr>
          <p:cNvSpPr/>
          <p:nvPr/>
        </p:nvSpPr>
        <p:spPr>
          <a:xfrm>
            <a:off x="6305550" y="4143375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6" name="Shape 57">
            <a:extLst>
              <a:ext uri="{FF2B5EF4-FFF2-40B4-BE49-F238E27FC236}">
                <a16:creationId xmlns:a16="http://schemas.microsoft.com/office/drawing/2014/main" id="{B0ADC8E2-4E9E-C1A8-18B7-D873EEFB49F2}"/>
              </a:ext>
            </a:extLst>
          </p:cNvPr>
          <p:cNvSpPr/>
          <p:nvPr/>
        </p:nvSpPr>
        <p:spPr>
          <a:xfrm>
            <a:off x="6305550" y="4143375"/>
            <a:ext cx="2866231" cy="95250"/>
          </a:xfrm>
          <a:prstGeom prst="roundRect">
            <a:avLst>
              <a:gd name="adj" fmla="val 20000"/>
            </a:avLst>
          </a:prstGeom>
          <a:solidFill>
            <a:srgbClr val="2A4A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7" name="Text 58">
            <a:extLst>
              <a:ext uri="{FF2B5EF4-FFF2-40B4-BE49-F238E27FC236}">
                <a16:creationId xmlns:a16="http://schemas.microsoft.com/office/drawing/2014/main" id="{B40282B6-F8B4-0837-6AED-613629B26C35}"/>
              </a:ext>
            </a:extLst>
          </p:cNvPr>
          <p:cNvSpPr/>
          <p:nvPr/>
        </p:nvSpPr>
        <p:spPr>
          <a:xfrm>
            <a:off x="901700" y="4276725"/>
            <a:ext cx="624185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clothes</a:t>
            </a:r>
            <a:endParaRPr lang="en-US" sz="1275" dirty="0"/>
          </a:p>
        </p:txBody>
      </p:sp>
      <p:sp>
        <p:nvSpPr>
          <p:cNvPr id="168" name="Text 59">
            <a:extLst>
              <a:ext uri="{FF2B5EF4-FFF2-40B4-BE49-F238E27FC236}">
                <a16:creationId xmlns:a16="http://schemas.microsoft.com/office/drawing/2014/main" id="{A2CF0C29-55FC-AD6A-4020-16B9F88A9114}"/>
              </a:ext>
            </a:extLst>
          </p:cNvPr>
          <p:cNvSpPr/>
          <p:nvPr/>
        </p:nvSpPr>
        <p:spPr>
          <a:xfrm>
            <a:off x="4662289" y="4276725"/>
            <a:ext cx="1346577" cy="2730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0.9962 → </a:t>
            </a:r>
            <a:r>
              <a:rPr lang="en-US" sz="1275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0.9981</a:t>
            </a:r>
            <a:endParaRPr lang="en-US" sz="1275" dirty="0"/>
          </a:p>
        </p:txBody>
      </p:sp>
      <p:sp>
        <p:nvSpPr>
          <p:cNvPr id="169" name="Shape 60">
            <a:extLst>
              <a:ext uri="{FF2B5EF4-FFF2-40B4-BE49-F238E27FC236}">
                <a16:creationId xmlns:a16="http://schemas.microsoft.com/office/drawing/2014/main" id="{F7311C68-DCBE-88B4-3687-AE53C75C63F6}"/>
              </a:ext>
            </a:extLst>
          </p:cNvPr>
          <p:cNvSpPr/>
          <p:nvPr/>
        </p:nvSpPr>
        <p:spPr>
          <a:xfrm>
            <a:off x="901700" y="4559300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0" name="Shape 61">
            <a:extLst>
              <a:ext uri="{FF2B5EF4-FFF2-40B4-BE49-F238E27FC236}">
                <a16:creationId xmlns:a16="http://schemas.microsoft.com/office/drawing/2014/main" id="{F7FCBD90-560B-744E-C083-C4A427ECC272}"/>
              </a:ext>
            </a:extLst>
          </p:cNvPr>
          <p:cNvSpPr/>
          <p:nvPr/>
        </p:nvSpPr>
        <p:spPr>
          <a:xfrm>
            <a:off x="901700" y="4559300"/>
            <a:ext cx="4795242" cy="95250"/>
          </a:xfrm>
          <a:prstGeom prst="roundRect">
            <a:avLst>
              <a:gd name="adj" fmla="val 20000"/>
            </a:avLst>
          </a:prstGeom>
          <a:solidFill>
            <a:srgbClr val="A8CE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1" name="Shape 62">
            <a:extLst>
              <a:ext uri="{FF2B5EF4-FFF2-40B4-BE49-F238E27FC236}">
                <a16:creationId xmlns:a16="http://schemas.microsoft.com/office/drawing/2014/main" id="{F0298078-7203-6151-3BB8-1DE4299ED1E7}"/>
              </a:ext>
            </a:extLst>
          </p:cNvPr>
          <p:cNvSpPr/>
          <p:nvPr/>
        </p:nvSpPr>
        <p:spPr>
          <a:xfrm>
            <a:off x="901700" y="4702175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2" name="Shape 63">
            <a:extLst>
              <a:ext uri="{FF2B5EF4-FFF2-40B4-BE49-F238E27FC236}">
                <a16:creationId xmlns:a16="http://schemas.microsoft.com/office/drawing/2014/main" id="{64004654-7720-03E4-B7FE-D42A96C3889E}"/>
              </a:ext>
            </a:extLst>
          </p:cNvPr>
          <p:cNvSpPr/>
          <p:nvPr/>
        </p:nvSpPr>
        <p:spPr>
          <a:xfrm>
            <a:off x="901700" y="4702175"/>
            <a:ext cx="4889996" cy="95250"/>
          </a:xfrm>
          <a:prstGeom prst="roundRect">
            <a:avLst>
              <a:gd name="adj" fmla="val 20000"/>
            </a:avLst>
          </a:prstGeom>
          <a:solidFill>
            <a:srgbClr val="2A4A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3" name="Text 64">
            <a:extLst>
              <a:ext uri="{FF2B5EF4-FFF2-40B4-BE49-F238E27FC236}">
                <a16:creationId xmlns:a16="http://schemas.microsoft.com/office/drawing/2014/main" id="{E58E713F-E1D3-D1B9-D7D2-EF438314F811}"/>
              </a:ext>
            </a:extLst>
          </p:cNvPr>
          <p:cNvSpPr/>
          <p:nvPr/>
        </p:nvSpPr>
        <p:spPr>
          <a:xfrm>
            <a:off x="6305550" y="4276725"/>
            <a:ext cx="513953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shoes</a:t>
            </a:r>
            <a:endParaRPr lang="en-US" sz="1275" dirty="0"/>
          </a:p>
        </p:txBody>
      </p:sp>
      <p:sp>
        <p:nvSpPr>
          <p:cNvPr id="174" name="Text 65">
            <a:extLst>
              <a:ext uri="{FF2B5EF4-FFF2-40B4-BE49-F238E27FC236}">
                <a16:creationId xmlns:a16="http://schemas.microsoft.com/office/drawing/2014/main" id="{2EC355AD-5BDB-58CF-ED50-B029E1D50A7B}"/>
              </a:ext>
            </a:extLst>
          </p:cNvPr>
          <p:cNvSpPr/>
          <p:nvPr/>
        </p:nvSpPr>
        <p:spPr>
          <a:xfrm>
            <a:off x="10066139" y="4276725"/>
            <a:ext cx="1346577" cy="2730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0.9901 → </a:t>
            </a:r>
            <a:r>
              <a:rPr lang="en-US" sz="1275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0.9934</a:t>
            </a:r>
            <a:endParaRPr lang="en-US" sz="1275" dirty="0"/>
          </a:p>
        </p:txBody>
      </p:sp>
      <p:sp>
        <p:nvSpPr>
          <p:cNvPr id="175" name="Shape 66">
            <a:extLst>
              <a:ext uri="{FF2B5EF4-FFF2-40B4-BE49-F238E27FC236}">
                <a16:creationId xmlns:a16="http://schemas.microsoft.com/office/drawing/2014/main" id="{1A09EEEF-0737-839F-5D66-D6A597B54C2A}"/>
              </a:ext>
            </a:extLst>
          </p:cNvPr>
          <p:cNvSpPr/>
          <p:nvPr/>
        </p:nvSpPr>
        <p:spPr>
          <a:xfrm>
            <a:off x="6305550" y="4559300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6" name="Shape 67">
            <a:extLst>
              <a:ext uri="{FF2B5EF4-FFF2-40B4-BE49-F238E27FC236}">
                <a16:creationId xmlns:a16="http://schemas.microsoft.com/office/drawing/2014/main" id="{7859F71C-CA9D-3CCB-AD58-9E8A962328CC}"/>
              </a:ext>
            </a:extLst>
          </p:cNvPr>
          <p:cNvSpPr/>
          <p:nvPr/>
        </p:nvSpPr>
        <p:spPr>
          <a:xfrm>
            <a:off x="6305550" y="4559300"/>
            <a:ext cx="4491236" cy="95250"/>
          </a:xfrm>
          <a:prstGeom prst="roundRect">
            <a:avLst>
              <a:gd name="adj" fmla="val 20000"/>
            </a:avLst>
          </a:prstGeom>
          <a:solidFill>
            <a:srgbClr val="A8CE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7" name="Shape 68">
            <a:extLst>
              <a:ext uri="{FF2B5EF4-FFF2-40B4-BE49-F238E27FC236}">
                <a16:creationId xmlns:a16="http://schemas.microsoft.com/office/drawing/2014/main" id="{A1B756C7-E3E2-120D-A0D8-F5EB2EB59A95}"/>
              </a:ext>
            </a:extLst>
          </p:cNvPr>
          <p:cNvSpPr/>
          <p:nvPr/>
        </p:nvSpPr>
        <p:spPr>
          <a:xfrm>
            <a:off x="6305550" y="4702175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8" name="Shape 69">
            <a:extLst>
              <a:ext uri="{FF2B5EF4-FFF2-40B4-BE49-F238E27FC236}">
                <a16:creationId xmlns:a16="http://schemas.microsoft.com/office/drawing/2014/main" id="{39E1CEB1-3476-8C89-67C8-C837757145C9}"/>
              </a:ext>
            </a:extLst>
          </p:cNvPr>
          <p:cNvSpPr/>
          <p:nvPr/>
        </p:nvSpPr>
        <p:spPr>
          <a:xfrm>
            <a:off x="6305550" y="4702175"/>
            <a:ext cx="4655741" cy="95250"/>
          </a:xfrm>
          <a:prstGeom prst="roundRect">
            <a:avLst>
              <a:gd name="adj" fmla="val 20000"/>
            </a:avLst>
          </a:prstGeom>
          <a:solidFill>
            <a:srgbClr val="2A4A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9" name="Text 70">
            <a:extLst>
              <a:ext uri="{FF2B5EF4-FFF2-40B4-BE49-F238E27FC236}">
                <a16:creationId xmlns:a16="http://schemas.microsoft.com/office/drawing/2014/main" id="{34FE4ECC-435C-9323-5BBE-59387870F1C5}"/>
              </a:ext>
            </a:extLst>
          </p:cNvPr>
          <p:cNvSpPr/>
          <p:nvPr/>
        </p:nvSpPr>
        <p:spPr>
          <a:xfrm>
            <a:off x="901700" y="4835525"/>
            <a:ext cx="460673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trash</a:t>
            </a:r>
            <a:endParaRPr lang="en-US" sz="1275" dirty="0"/>
          </a:p>
        </p:txBody>
      </p:sp>
      <p:sp>
        <p:nvSpPr>
          <p:cNvPr id="180" name="Text 71">
            <a:extLst>
              <a:ext uri="{FF2B5EF4-FFF2-40B4-BE49-F238E27FC236}">
                <a16:creationId xmlns:a16="http://schemas.microsoft.com/office/drawing/2014/main" id="{29E6B8DE-7727-2271-8114-4AF708EA976B}"/>
              </a:ext>
            </a:extLst>
          </p:cNvPr>
          <p:cNvSpPr/>
          <p:nvPr/>
        </p:nvSpPr>
        <p:spPr>
          <a:xfrm>
            <a:off x="4662289" y="4835525"/>
            <a:ext cx="1346577" cy="2730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0.9714 → </a:t>
            </a:r>
            <a:r>
              <a:rPr lang="en-US" sz="1275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0.9717</a:t>
            </a:r>
            <a:endParaRPr lang="en-US" sz="1275" dirty="0"/>
          </a:p>
        </p:txBody>
      </p:sp>
      <p:sp>
        <p:nvSpPr>
          <p:cNvPr id="181" name="Shape 72">
            <a:extLst>
              <a:ext uri="{FF2B5EF4-FFF2-40B4-BE49-F238E27FC236}">
                <a16:creationId xmlns:a16="http://schemas.microsoft.com/office/drawing/2014/main" id="{5902748E-EF57-5EAE-DACA-18EE1EEE010A}"/>
              </a:ext>
            </a:extLst>
          </p:cNvPr>
          <p:cNvSpPr/>
          <p:nvPr/>
        </p:nvSpPr>
        <p:spPr>
          <a:xfrm>
            <a:off x="901700" y="5118100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2" name="Shape 73">
            <a:extLst>
              <a:ext uri="{FF2B5EF4-FFF2-40B4-BE49-F238E27FC236}">
                <a16:creationId xmlns:a16="http://schemas.microsoft.com/office/drawing/2014/main" id="{8ABAB9F8-F895-6CDC-1277-3F4BEAE0BE52}"/>
              </a:ext>
            </a:extLst>
          </p:cNvPr>
          <p:cNvSpPr/>
          <p:nvPr/>
        </p:nvSpPr>
        <p:spPr>
          <a:xfrm>
            <a:off x="901700" y="5118100"/>
            <a:ext cx="3559076" cy="95250"/>
          </a:xfrm>
          <a:prstGeom prst="roundRect">
            <a:avLst>
              <a:gd name="adj" fmla="val 20000"/>
            </a:avLst>
          </a:prstGeom>
          <a:solidFill>
            <a:srgbClr val="A8CE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3" name="Shape 74">
            <a:extLst>
              <a:ext uri="{FF2B5EF4-FFF2-40B4-BE49-F238E27FC236}">
                <a16:creationId xmlns:a16="http://schemas.microsoft.com/office/drawing/2014/main" id="{9E684814-60D1-D09C-0CDA-0CB50528F145}"/>
              </a:ext>
            </a:extLst>
          </p:cNvPr>
          <p:cNvSpPr/>
          <p:nvPr/>
        </p:nvSpPr>
        <p:spPr>
          <a:xfrm>
            <a:off x="901700" y="5260975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4" name="Shape 75">
            <a:extLst>
              <a:ext uri="{FF2B5EF4-FFF2-40B4-BE49-F238E27FC236}">
                <a16:creationId xmlns:a16="http://schemas.microsoft.com/office/drawing/2014/main" id="{19E8DA9B-84AF-C52F-D08D-F8BF6D228A2E}"/>
              </a:ext>
            </a:extLst>
          </p:cNvPr>
          <p:cNvSpPr/>
          <p:nvPr/>
        </p:nvSpPr>
        <p:spPr>
          <a:xfrm>
            <a:off x="901700" y="5260975"/>
            <a:ext cx="3574058" cy="95250"/>
          </a:xfrm>
          <a:prstGeom prst="roundRect">
            <a:avLst>
              <a:gd name="adj" fmla="val 20000"/>
            </a:avLst>
          </a:prstGeom>
          <a:solidFill>
            <a:srgbClr val="2A4A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5" name="Text 76">
            <a:extLst>
              <a:ext uri="{FF2B5EF4-FFF2-40B4-BE49-F238E27FC236}">
                <a16:creationId xmlns:a16="http://schemas.microsoft.com/office/drawing/2014/main" id="{B901313D-F6B8-FD87-18AA-C3300C86512F}"/>
              </a:ext>
            </a:extLst>
          </p:cNvPr>
          <p:cNvSpPr/>
          <p:nvPr/>
        </p:nvSpPr>
        <p:spPr>
          <a:xfrm>
            <a:off x="6305550" y="4879975"/>
            <a:ext cx="886222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white-glass</a:t>
            </a:r>
            <a:endParaRPr lang="en-US" sz="1275" dirty="0"/>
          </a:p>
        </p:txBody>
      </p:sp>
      <p:sp>
        <p:nvSpPr>
          <p:cNvPr id="186" name="Text 77">
            <a:extLst>
              <a:ext uri="{FF2B5EF4-FFF2-40B4-BE49-F238E27FC236}">
                <a16:creationId xmlns:a16="http://schemas.microsoft.com/office/drawing/2014/main" id="{FDE7DFB9-4388-DBC7-E491-7E8665E87BA3}"/>
              </a:ext>
            </a:extLst>
          </p:cNvPr>
          <p:cNvSpPr/>
          <p:nvPr/>
        </p:nvSpPr>
        <p:spPr>
          <a:xfrm>
            <a:off x="10066139" y="4835525"/>
            <a:ext cx="1346577" cy="2730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0.9649 → </a:t>
            </a:r>
            <a:r>
              <a:rPr lang="en-US" sz="1275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0.9561</a:t>
            </a:r>
            <a:endParaRPr lang="en-US" sz="1275" dirty="0"/>
          </a:p>
        </p:txBody>
      </p:sp>
      <p:sp>
        <p:nvSpPr>
          <p:cNvPr id="187" name="Shape 78">
            <a:extLst>
              <a:ext uri="{FF2B5EF4-FFF2-40B4-BE49-F238E27FC236}">
                <a16:creationId xmlns:a16="http://schemas.microsoft.com/office/drawing/2014/main" id="{5F46C0C7-F711-5CEE-755B-5123623AB813}"/>
              </a:ext>
            </a:extLst>
          </p:cNvPr>
          <p:cNvSpPr/>
          <p:nvPr/>
        </p:nvSpPr>
        <p:spPr>
          <a:xfrm>
            <a:off x="6305550" y="5118100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8" name="Shape 79">
            <a:extLst>
              <a:ext uri="{FF2B5EF4-FFF2-40B4-BE49-F238E27FC236}">
                <a16:creationId xmlns:a16="http://schemas.microsoft.com/office/drawing/2014/main" id="{3EC9B502-F67A-AE1D-3584-691CC032DC3D}"/>
              </a:ext>
            </a:extLst>
          </p:cNvPr>
          <p:cNvSpPr/>
          <p:nvPr/>
        </p:nvSpPr>
        <p:spPr>
          <a:xfrm>
            <a:off x="6305550" y="5118100"/>
            <a:ext cx="3235028" cy="95250"/>
          </a:xfrm>
          <a:prstGeom prst="roundRect">
            <a:avLst>
              <a:gd name="adj" fmla="val 20000"/>
            </a:avLst>
          </a:prstGeom>
          <a:solidFill>
            <a:srgbClr val="A8CE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9" name="Shape 80">
            <a:extLst>
              <a:ext uri="{FF2B5EF4-FFF2-40B4-BE49-F238E27FC236}">
                <a16:creationId xmlns:a16="http://schemas.microsoft.com/office/drawing/2014/main" id="{91BFCDBC-7E44-EAF4-50A1-D839199EAA5B}"/>
              </a:ext>
            </a:extLst>
          </p:cNvPr>
          <p:cNvSpPr/>
          <p:nvPr/>
        </p:nvSpPr>
        <p:spPr>
          <a:xfrm>
            <a:off x="6305550" y="5260975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0" name="Shape 81">
            <a:extLst>
              <a:ext uri="{FF2B5EF4-FFF2-40B4-BE49-F238E27FC236}">
                <a16:creationId xmlns:a16="http://schemas.microsoft.com/office/drawing/2014/main" id="{3A99C3A7-522B-705D-CA88-B6C0F2F9B882}"/>
              </a:ext>
            </a:extLst>
          </p:cNvPr>
          <p:cNvSpPr/>
          <p:nvPr/>
        </p:nvSpPr>
        <p:spPr>
          <a:xfrm>
            <a:off x="6305550" y="5260975"/>
            <a:ext cx="2796381" cy="95250"/>
          </a:xfrm>
          <a:prstGeom prst="roundRect">
            <a:avLst>
              <a:gd name="adj" fmla="val 20000"/>
            </a:avLst>
          </a:prstGeom>
          <a:solidFill>
            <a:srgbClr val="B3562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1" name="Shape 82">
            <a:extLst>
              <a:ext uri="{FF2B5EF4-FFF2-40B4-BE49-F238E27FC236}">
                <a16:creationId xmlns:a16="http://schemas.microsoft.com/office/drawing/2014/main" id="{3C12BDE4-EBD0-FF2D-5452-94C75B1EDAC9}"/>
              </a:ext>
            </a:extLst>
          </p:cNvPr>
          <p:cNvSpPr/>
          <p:nvPr/>
        </p:nvSpPr>
        <p:spPr>
          <a:xfrm>
            <a:off x="609600" y="5621735"/>
            <a:ext cx="10972800" cy="855266"/>
          </a:xfrm>
          <a:custGeom>
            <a:avLst/>
            <a:gdLst/>
            <a:ahLst/>
            <a:cxnLst/>
            <a:rect l="l" t="t" r="r" b="b"/>
            <a:pathLst>
              <a:path w="10972800" h="855266">
                <a:moveTo>
                  <a:pt x="0" y="0"/>
                </a:moveTo>
                <a:lnTo>
                  <a:pt x="10877550" y="0"/>
                </a:lnTo>
                <a:arcTo wR="95250" hR="95250" stAng="16200000" swAng="5400000"/>
                <a:lnTo>
                  <a:pt x="10972800" y="760016"/>
                </a:lnTo>
                <a:arcTo wR="95250" hR="95250" stAng="0" swAng="5400000"/>
                <a:lnTo>
                  <a:pt x="0" y="855266"/>
                </a:lnTo>
                <a:lnTo>
                  <a:pt x="0" y="0"/>
                </a:lnTo>
                <a:close/>
              </a:path>
            </a:pathLst>
          </a:custGeom>
          <a:solidFill>
            <a:srgbClr val="EDF1E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2" name="Shape 83">
            <a:extLst>
              <a:ext uri="{FF2B5EF4-FFF2-40B4-BE49-F238E27FC236}">
                <a16:creationId xmlns:a16="http://schemas.microsoft.com/office/drawing/2014/main" id="{EB4BA091-C344-1212-78BA-88D6FEB8C65B}"/>
              </a:ext>
            </a:extLst>
          </p:cNvPr>
          <p:cNvSpPr/>
          <p:nvPr/>
        </p:nvSpPr>
        <p:spPr>
          <a:xfrm>
            <a:off x="609600" y="5621735"/>
            <a:ext cx="57150" cy="855266"/>
          </a:xfrm>
          <a:prstGeom prst="rect">
            <a:avLst/>
          </a:prstGeom>
          <a:solidFill>
            <a:srgbClr val="3D7A4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3" name="Text 84">
            <a:extLst>
              <a:ext uri="{FF2B5EF4-FFF2-40B4-BE49-F238E27FC236}">
                <a16:creationId xmlns:a16="http://schemas.microsoft.com/office/drawing/2014/main" id="{C66C67DF-91D2-630D-A67D-9D2D033788B6}"/>
              </a:ext>
            </a:extLst>
          </p:cNvPr>
          <p:cNvSpPr/>
          <p:nvPr/>
        </p:nvSpPr>
        <p:spPr>
          <a:xfrm>
            <a:off x="876300" y="5875948"/>
            <a:ext cx="2066192" cy="588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개선은 약한 클래스에서</a:t>
            </a:r>
            <a:endParaRPr lang="en-US" sz="1350" dirty="0"/>
          </a:p>
        </p:txBody>
      </p:sp>
      <p:sp>
        <p:nvSpPr>
          <p:cNvPr id="194" name="Text 85">
            <a:extLst>
              <a:ext uri="{FF2B5EF4-FFF2-40B4-BE49-F238E27FC236}">
                <a16:creationId xmlns:a16="http://schemas.microsoft.com/office/drawing/2014/main" id="{65A4D0AE-B8AE-B104-B157-4F8CC0124704}"/>
              </a:ext>
            </a:extLst>
          </p:cNvPr>
          <p:cNvSpPr/>
          <p:nvPr/>
        </p:nvSpPr>
        <p:spPr>
          <a:xfrm>
            <a:off x="2842846" y="5875948"/>
            <a:ext cx="8790150" cy="588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128px에서 </a:t>
            </a:r>
            <a:r>
              <a:rPr lang="ko-KR" alt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구분이 힘들던 재질 관련 분류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plastic +0.047 · metal +0.028 · brown-glass +0.021 </a:t>
            </a:r>
            <a:r>
              <a:rPr lang="ko-KR" alt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 상승</a:t>
            </a:r>
            <a:endParaRPr lang="en-US" altLang="ko-KR" sz="1350" dirty="0">
              <a:solidFill>
                <a:srgbClr val="2631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35000"/>
              </a:lnSpc>
              <a:buNone/>
            </a:pPr>
            <a:endParaRPr lang="en-US" altLang="ko-KR" sz="1350" dirty="0">
              <a:solidFill>
                <a:srgbClr val="2631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76250"/>
            <a:ext cx="438150" cy="438150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71500" y="4762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18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238250" y="476250"/>
            <a:ext cx="4920714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kern="0" spc="-30" dirty="0" err="1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시행착오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8250" y="981075"/>
            <a:ext cx="1029233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128px에서 최적이던 학습률이 224px에서는 최적이 아님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600" y="1476375"/>
            <a:ext cx="5372100" cy="4962525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01700" y="1730375"/>
            <a:ext cx="52666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처음 방법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01700" y="2082800"/>
            <a:ext cx="52666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128px 기준으로 선택한 학습률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01700" y="2508250"/>
            <a:ext cx="112395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5e-5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216150" y="2482850"/>
            <a:ext cx="38207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0.9731 </a:t>
            </a:r>
            <a:r>
              <a:rPr lang="en-US" sz="1350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← 128px 최적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01700" y="2879481"/>
            <a:ext cx="11239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1e-4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216150" y="2879481"/>
            <a:ext cx="382079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0.9600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01700" y="3257550"/>
            <a:ext cx="11239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3e-4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216150" y="3257550"/>
            <a:ext cx="382079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0.9658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01700" y="3689350"/>
            <a:ext cx="4787900" cy="9525"/>
          </a:xfrm>
          <a:prstGeom prst="rect">
            <a:avLst/>
          </a:prstGeom>
          <a:solidFill>
            <a:srgbClr val="E3EA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901700" y="3851275"/>
            <a:ext cx="4931537" cy="9337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2500"/>
              </a:lnSpc>
              <a:buNone/>
            </a:pPr>
            <a:r>
              <a:rPr lang="en-US" sz="142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입력을 224px로 올린 뒤 같은 학습률(5e-5)을 </a:t>
            </a:r>
            <a:r>
              <a:rPr lang="en-US" sz="1425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그대로</a:t>
            </a:r>
            <a:r>
              <a:rPr lang="en-US" sz="142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425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적용</a:t>
            </a:r>
            <a:endParaRPr lang="en-US" sz="1425" dirty="0">
              <a:solidFill>
                <a:srgbClr val="2631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42500"/>
              </a:lnSpc>
              <a:buNone/>
            </a:pPr>
            <a:r>
              <a:rPr lang="en-US" sz="142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val macro-F1 0.9787에 정체. 128px 최적값이 224px에서는 </a:t>
            </a:r>
            <a:r>
              <a:rPr lang="en-US" sz="1425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최적이</a:t>
            </a:r>
            <a:r>
              <a:rPr lang="en-US" sz="142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아</a:t>
            </a:r>
            <a:r>
              <a:rPr lang="ko-KR" altLang="en-US" sz="142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님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6210300" y="1476375"/>
            <a:ext cx="5372100" cy="4962525"/>
          </a:xfrm>
          <a:prstGeom prst="roundRect">
            <a:avLst>
              <a:gd name="adj" fmla="val 2687"/>
            </a:avLst>
          </a:prstGeom>
          <a:solidFill>
            <a:srgbClr val="F0F6EA"/>
          </a:solidFill>
          <a:ln w="6350">
            <a:solidFill>
              <a:srgbClr val="D6E4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502400" y="1730375"/>
            <a:ext cx="52666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고친 방법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502400" y="2082800"/>
            <a:ext cx="52666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224px에서 학습률 재탐색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502400" y="2508250"/>
            <a:ext cx="102870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1e-4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683500" y="2508250"/>
            <a:ext cx="136207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0.9840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50350" y="2482850"/>
            <a:ext cx="235394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채택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502400" y="2879481"/>
            <a:ext cx="10287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5e-5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683500" y="2879481"/>
            <a:ext cx="136207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0.9787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50350" y="2879725"/>
            <a:ext cx="235394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128px 최적값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502400" y="3257550"/>
            <a:ext cx="10287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3e-4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683500" y="3257550"/>
            <a:ext cx="136207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0.9738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502400" y="3689350"/>
            <a:ext cx="4787900" cy="9525"/>
          </a:xfrm>
          <a:prstGeom prst="rect">
            <a:avLst/>
          </a:prstGeom>
          <a:solidFill>
            <a:srgbClr val="CFDCC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502400" y="3851275"/>
            <a:ext cx="4931537" cy="6351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2500"/>
              </a:lnSpc>
              <a:buNone/>
            </a:pPr>
            <a:r>
              <a:rPr lang="en-US" sz="142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조건이 바뀌면 하이퍼파라미터도 </a:t>
            </a:r>
            <a:r>
              <a:rPr lang="en-US" sz="1425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재선택해야</a:t>
            </a:r>
            <a:r>
              <a:rPr lang="en-US" sz="142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425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한다</a:t>
            </a:r>
            <a:endParaRPr lang="en-US" sz="1425" dirty="0">
              <a:solidFill>
                <a:srgbClr val="2631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42500"/>
              </a:lnSpc>
              <a:buNone/>
            </a:pPr>
            <a:r>
              <a:rPr lang="en-US" sz="142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 해상도를 바꿨으면 학습률도 다시 탐색해야 </a:t>
            </a:r>
            <a:r>
              <a:rPr lang="en-US" sz="1425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한다는</a:t>
            </a:r>
            <a:r>
              <a:rPr lang="en-US" sz="142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뜻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76250"/>
            <a:ext cx="438150" cy="438150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71500" y="4762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/>
              </a:rPr>
              <a:t>19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238250" y="476250"/>
            <a:ext cx="4868763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3200" b="1" kern="0" spc="-30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 선정과 튜닝의 근거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8250" y="981075"/>
            <a:ext cx="1029233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설정으로 시드 5회 반복해서 확인한 노이즈 기준선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600" y="1457325"/>
            <a:ext cx="3456384" cy="1007070"/>
          </a:xfrm>
          <a:prstGeom prst="roundRect">
            <a:avLst>
              <a:gd name="adj" fmla="val 13241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44550" y="1635125"/>
            <a:ext cx="3285133" cy="394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085"/>
              </a:lnSpc>
              <a:buNone/>
            </a:pPr>
            <a:r>
              <a:rPr lang="en-US" sz="2550" b="1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±0.0046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844550" y="2038945"/>
            <a:ext cx="328513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시드 5회 test macro-F1 표준편차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18384" y="1457325"/>
            <a:ext cx="3456484" cy="1007070"/>
          </a:xfrm>
          <a:prstGeom prst="roundRect">
            <a:avLst>
              <a:gd name="adj" fmla="val 13241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453335" y="1635125"/>
            <a:ext cx="3285242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2100" b="1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0.9596~0.9699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453335" y="2029420"/>
            <a:ext cx="328524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5회 반복 test macro-F1 범위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827268" y="1457325"/>
            <a:ext cx="3755132" cy="1007070"/>
          </a:xfrm>
          <a:prstGeom prst="roundRect">
            <a:avLst>
              <a:gd name="adj" fmla="val 13241"/>
            </a:avLst>
          </a:prstGeom>
          <a:solidFill>
            <a:srgbClr val="F0F6EA"/>
          </a:solidFill>
          <a:ln w="6350">
            <a:solidFill>
              <a:srgbClr val="D6E4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062218" y="1635125"/>
            <a:ext cx="3613755" cy="33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18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폭보다 작은 차이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062218" y="1979910"/>
            <a:ext cx="361375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= 개선이 아니라 우연일 수 있음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09600" y="2616796"/>
            <a:ext cx="10972800" cy="2871589"/>
          </a:xfrm>
          <a:prstGeom prst="roundRect">
            <a:avLst>
              <a:gd name="adj" fmla="val 3980"/>
            </a:avLst>
          </a:prstGeom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15950" y="2623145"/>
            <a:ext cx="10960101" cy="714673"/>
          </a:xfrm>
          <a:prstGeom prst="rect">
            <a:avLst/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44550" y="2856607"/>
            <a:ext cx="34575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 전후 test 점수 차이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216400" y="2872482"/>
            <a:ext cx="220027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±0.001~0.003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5250" y="2856607"/>
            <a:ext cx="53924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노이즈 안(±0.0046) → 판단 불가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15950" y="3337818"/>
            <a:ext cx="10960101" cy="7147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44550" y="3571379"/>
            <a:ext cx="34575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학습률 5e-5 vs 3e-4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216400" y="3587254"/>
            <a:ext cx="220027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+0.0073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45250" y="3570883"/>
            <a:ext cx="5392420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신뢰구간이 0 포함 → 판단 불가 (5e-5 vs 1e-4는 p=0.024로 유의)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15950" y="4052590"/>
            <a:ext cx="10960101" cy="714673"/>
          </a:xfrm>
          <a:prstGeom prst="rect">
            <a:avLst/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844550" y="4286052"/>
            <a:ext cx="34575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224px 3lr 앙상블 vs 단일모델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216400" y="4301927"/>
            <a:ext cx="220027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+0.0006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45250" y="4286052"/>
            <a:ext cx="53924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노이즈보다 훨씬 작음 → 판단 불가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15950" y="4767263"/>
            <a:ext cx="10960101" cy="714772"/>
          </a:xfrm>
          <a:prstGeom prst="rect">
            <a:avLst/>
          </a:prstGeom>
          <a:solidFill>
            <a:srgbClr val="F0F6E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844550" y="5000824"/>
            <a:ext cx="34575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clothes→shoes 오분류 감소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216400" y="4984949"/>
            <a:ext cx="220027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20건대 → 2~4건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445250" y="5000327"/>
            <a:ext cx="5392420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13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노이즈보다 훨씬 큼 · 3번의 독립 실행 모두 재현 → 진짜 효과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09600" y="5640785"/>
            <a:ext cx="10972800" cy="836216"/>
          </a:xfrm>
          <a:custGeom>
            <a:avLst/>
            <a:gdLst/>
            <a:ahLst/>
            <a:cxnLst/>
            <a:rect l="l" t="t" r="r" b="b"/>
            <a:pathLst>
              <a:path w="10972800" h="836216">
                <a:moveTo>
                  <a:pt x="0" y="0"/>
                </a:moveTo>
                <a:lnTo>
                  <a:pt x="10877550" y="0"/>
                </a:lnTo>
                <a:arcTo wR="95250" hR="95250" stAng="16200000" swAng="5400000"/>
                <a:lnTo>
                  <a:pt x="10972800" y="740966"/>
                </a:lnTo>
                <a:arcTo wR="95250" hR="95250" stAng="0" swAng="5400000"/>
                <a:lnTo>
                  <a:pt x="0" y="836216"/>
                </a:lnTo>
                <a:lnTo>
                  <a:pt x="0" y="0"/>
                </a:lnTo>
                <a:close/>
              </a:path>
            </a:pathLst>
          </a:custGeom>
          <a:solidFill>
            <a:srgbClr val="EDF1E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609600" y="5640785"/>
            <a:ext cx="57150" cy="836216"/>
          </a:xfrm>
          <a:prstGeom prst="rect">
            <a:avLst/>
          </a:prstGeom>
          <a:solidFill>
            <a:srgbClr val="3D7A4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44550" y="5912842"/>
            <a:ext cx="1433413" cy="292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 err="1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</a:t>
            </a:r>
            <a:r>
              <a:rPr lang="en-US" sz="13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50" b="1" dirty="0" err="1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결론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2385913" y="5793185"/>
            <a:ext cx="9256545" cy="56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‘정확도가 올랐다’가 아니라 ‘오분류 패턴이 라벨오류성에서 재질혼동성으로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바뀌었다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’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숫자보다</a:t>
            </a:r>
            <a:r>
              <a:rPr lang="en-US" sz="1350" b="1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패턴 변화가 더 믿을 수 </a:t>
            </a:r>
            <a:r>
              <a:rPr lang="en-US" sz="1350" b="1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있는</a:t>
            </a:r>
            <a:r>
              <a:rPr lang="en-US" sz="1350" b="1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50" b="1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증거</a:t>
            </a:r>
            <a:endParaRPr lang="en-US" sz="1350" b="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4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737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박병찬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488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숫자의 신뢰성을</a:t>
            </a:r>
            <a:endParaRPr lang="en-US" sz="46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확인하는 단계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033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DCE8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test 는 여기서 단 한 번만 사용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875520" y="3108960"/>
            <a:ext cx="3474720" cy="3474720"/>
          </a:xfrm>
          <a:prstGeom prst="ellipse">
            <a:avLst/>
          </a:prstGeom>
          <a:solidFill>
            <a:srgbClr val="A8CE7E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3840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성능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509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EfficientNetV2-S (unfreeze, 224px, lr 1e-4) · test 2,334장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640080" y="1810512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A4A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0.9859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786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accuracy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429000" y="164592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0F6EA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3429000" y="1810512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0.9787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5786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macro-F1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164592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217920" y="1810512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A4A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0.9790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5786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macro-recall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006840" y="164592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9006840" y="1810512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A4A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0.9998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9006840" y="25786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macro-AUC</a:t>
            </a:r>
            <a:endParaRPr lang="en-US" sz="15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640080" y="3337560"/>
          <a:ext cx="694944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Shape 16"/>
          <p:cNvSpPr/>
          <p:nvPr/>
        </p:nvSpPr>
        <p:spPr>
          <a:xfrm>
            <a:off x="7818120" y="3337560"/>
            <a:ext cx="3749040" cy="2240280"/>
          </a:xfrm>
          <a:prstGeom prst="roundRect">
            <a:avLst>
              <a:gd name="adj" fmla="val 3265"/>
            </a:avLst>
          </a:prstGeom>
          <a:solidFill>
            <a:srgbClr val="F0F6EA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 txBox="1"/>
          <p:nvPr/>
        </p:nvSpPr>
        <p:spPr>
          <a:xfrm>
            <a:off x="8092440" y="3566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가장 약한 세 클래스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092440" y="3931920"/>
            <a:ext cx="32004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plastic  0.932   (정밀도 0.918)</a:t>
            </a:r>
            <a:endParaRPr lang="en-US" sz="15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white-glass  0.948   (재현율 0.940)</a:t>
            </a:r>
            <a:endParaRPr lang="en-US" sz="15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metal  0.971   (정밀도 0.943)</a:t>
            </a:r>
            <a:endParaRPr lang="en-US" sz="1500" dirty="0"/>
          </a:p>
          <a:p>
            <a:pPr marL="0" indent="0">
              <a:lnSpc>
                <a:spcPts val="2000"/>
              </a:lnSpc>
              <a:buNone/>
            </a:pPr>
            <a:endParaRPr lang="en-US" sz="15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재질 경계가 모호한 클래스.</a:t>
            </a:r>
            <a:endParaRPr lang="en-US" sz="15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정제로 해결되는 문제가 아님.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40080" y="5897880"/>
            <a:ext cx="10881360" cy="731520"/>
          </a:xfrm>
          <a:prstGeom prst="rect">
            <a:avLst/>
          </a:prstGeom>
          <a:solidFill>
            <a:srgbClr val="EDF1EA"/>
          </a:solidFill>
          <a:ln w="9525">
            <a:solidFill>
              <a:srgbClr val="DCE4D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0"/>
          <p:cNvSpPr/>
          <p:nvPr/>
        </p:nvSpPr>
        <p:spPr>
          <a:xfrm>
            <a:off x="640080" y="5897880"/>
            <a:ext cx="64008" cy="731520"/>
          </a:xfrm>
          <a:prstGeom prst="rect">
            <a:avLst/>
          </a:prstGeom>
          <a:solidFill>
            <a:srgbClr val="3D7A4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1"/>
          <p:cNvSpPr txBox="1"/>
          <p:nvPr/>
        </p:nvSpPr>
        <p:spPr>
          <a:xfrm>
            <a:off x="932688" y="58978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선정 규칙</a:t>
            </a:r>
            <a:r>
              <a:rPr lang="en-US" sz="12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모델 선정은 검증셋 macro-F1 으로만 · test 는 이 한 번뿐. 남은 약점은 재질 경계가 모호한 클래스에 집중.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3840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검정 ② 두 지표의 격차는 유의한가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509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accuracy 0.9859 · macro-F1 0.9787 의 차이가 표본 변동일 가능성 검토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91440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가설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993392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H0  두 지표의 차이는 0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H1  accuracy 가 더 큼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0" y="1554480"/>
            <a:ext cx="7406640" cy="1371600"/>
          </a:xfrm>
          <a:prstGeom prst="roundRect">
            <a:avLst>
              <a:gd name="adj" fmla="val 5333"/>
            </a:avLst>
          </a:prstGeom>
          <a:solidFill>
            <a:srgbClr val="F0F6EA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4389120" y="1691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방법 — 부트스트랩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1993392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test 2,334장에서 복원추출로 동일 크기 표본을 2,000회 생성 → 각 표본에서 두 지표의 차이를 계산. 95% 신뢰구간이 0을 포함하지 않으면 H0 기각.</a:t>
            </a:r>
            <a:endParaRPr lang="en-US" sz="1250" dirty="0"/>
          </a:p>
        </p:txBody>
      </p:sp>
      <p:pic>
        <p:nvPicPr>
          <p:cNvPr id="12" name="Image 0" descr="/home/claude/deck/img/bootstr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63240"/>
            <a:ext cx="8412480" cy="267919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915400" y="3063240"/>
            <a:ext cx="2651760" cy="2679192"/>
          </a:xfrm>
          <a:prstGeom prst="roundRect">
            <a:avLst>
              <a:gd name="adj" fmla="val 2759"/>
            </a:avLst>
          </a:prstGeom>
          <a:solidFill>
            <a:srgbClr val="2A4A33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 txBox="1"/>
          <p:nvPr/>
        </p:nvSpPr>
        <p:spPr>
          <a:xfrm>
            <a:off x="9144000" y="3246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결론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0" y="3566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하한 0.0046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0" y="40050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H0 기각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0" y="4407408"/>
            <a:ext cx="22219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CE8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2,000회 재표본 중 두 지표가 뒤집힌 사례 없음.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CE8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정확도가 macro-F1 보다 큰 것은 우연이 아닌 구조적 차이.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3840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무엇으로 틀렸나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509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test 2,334장 · 오분류 33건</a:t>
            </a:r>
            <a:endParaRPr lang="en-US" sz="2200" dirty="0"/>
          </a:p>
        </p:txBody>
      </p:sp>
      <p:pic>
        <p:nvPicPr>
          <p:cNvPr id="6" name="Image 0" descr="/home/claude/deck/img/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5029200" cy="52029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0" y="1463040"/>
            <a:ext cx="5669280" cy="2286000"/>
          </a:xfrm>
          <a:prstGeom prst="roundRect">
            <a:avLst>
              <a:gd name="adj" fmla="val 3200"/>
            </a:avLst>
          </a:prstGeom>
          <a:solidFill>
            <a:srgbClr val="F0F6EA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6263640" y="16642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읽는 법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263640" y="2084832"/>
            <a:ext cx="502920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 = 실제 라벨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열 = 모델 예측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진할수록 그 행에서 차지하는 비중이 큼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대각선 밖 숫자가 오분류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43600" y="3931920"/>
            <a:ext cx="566928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 txBox="1"/>
          <p:nvPr/>
        </p:nvSpPr>
        <p:spPr>
          <a:xfrm>
            <a:off x="6263640" y="4160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눈에 띄는 것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263640" y="4590288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대각선이 압도적으로 진함.</a:t>
            </a:r>
            <a:endParaRPr lang="en-US" sz="16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6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clothes 793장 전량 정답.</a:t>
            </a:r>
            <a:endParaRPr lang="en-US" sz="1600" dirty="0"/>
          </a:p>
          <a:p>
            <a:pPr marL="0" indent="0">
              <a:lnSpc>
                <a:spcPts val="2100"/>
              </a:lnSpc>
              <a:buNone/>
            </a:pPr>
            <a:endParaRPr lang="en-US" sz="16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6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남은 33건은 재질·색상 혼동에 집중.</a:t>
            </a:r>
            <a:endParaRPr lang="en-US" sz="16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6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white-glass ↔ plastic 이 9건으로 최다이고,</a:t>
            </a:r>
            <a:endParaRPr lang="en-US" sz="16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6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나머지는 대부분 metal 관련.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3840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그래서 무엇이 헷갈렸나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509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가장 많은 조합 9건 중 확신도 상위 6장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635508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25400">
            <a:solidFill>
              <a:srgbClr val="B9CCB3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" name="Image 0" descr="/home/claude/deck/img/img_confusion_pai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36192"/>
            <a:ext cx="6080760" cy="472744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995160" y="1417320"/>
            <a:ext cx="4572000" cy="2377440"/>
          </a:xfrm>
          <a:prstGeom prst="roundRect">
            <a:avLst>
              <a:gd name="adj" fmla="val 3077"/>
            </a:avLst>
          </a:prstGeom>
          <a:solidFill>
            <a:srgbClr val="F0F6EA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7315200" y="16276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투명 유리 vs 투명 페트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315200" y="210312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사진만으로는 사람도 구분하기 어렵다. 왼쪽 위는 실제 유리병인데 모델이 확신도 0.95 로 plastic 이라고 답했다.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995160" y="3977640"/>
            <a:ext cx="45720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 txBox="1"/>
          <p:nvPr/>
        </p:nvSpPr>
        <p:spPr>
          <a:xfrm>
            <a:off x="7315200" y="41879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남은 오류의 성격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0" y="4645152"/>
            <a:ext cx="3931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정제로 해결되는 문제가 아니다.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라벨도 맞고 사진도 정상이다.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재질 자체가 시각적으로 구분되지 않는 경우 — </a:t>
            </a:r>
            <a:r>
              <a:rPr lang="en-US" sz="1500" b="1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문제의 </a:t>
            </a:r>
            <a:r>
              <a:rPr lang="en-US" sz="1500" b="1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본질적</a:t>
            </a:r>
            <a:r>
              <a:rPr lang="en-US" sz="1500" b="1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500" b="1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난이도</a:t>
            </a:r>
            <a:endParaRPr lang="en-US" sz="1500" b="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24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3840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정제를 통해 얻은 것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509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정확도는 거의 그대로, 오분류 유형은 변화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96012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 전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240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clothes → shoes 가 실험 내내 1위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6974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20건대를 계속 유지 · 모델을 개선해도 감소하지 않음 → 원인이 모델이 아니라 원본 라벨이었기 때문.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60120" y="3657600"/>
            <a:ext cx="4754880" cy="18288"/>
          </a:xfrm>
          <a:prstGeom prst="rect">
            <a:avLst/>
          </a:prstGeom>
          <a:solidFill>
            <a:srgbClr val="D5DE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960120" y="3840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 후 상위 오분류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206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white-glass → plastic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4206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5건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45079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plastic → white-glass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45079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4건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48097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cardboard → metal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48097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2건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1114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white-glass → metal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297680" y="5111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2건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54132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clothes → shoes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297680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0건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09360" y="169164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2A4A33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6629400" y="19202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EDA 단계에서 이미 확인한 위험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평균 채도 / 유효 색상 픽셀 비율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62940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6C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brown-glass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823960" y="3063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C9D6C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60.85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0" y="3063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C9D6C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0.37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629400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6C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green-glass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823960" y="3474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C9D6C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63.68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0058400" y="3474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C9D6C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0.40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629400" y="3886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white-glass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823960" y="3886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19.78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0058400" y="3886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0.14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629400" y="438912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DCE8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EDA 에서 white-glass 의 채도가 다른 유리의 3분의 1임을 확인. 색 정보 부재 → 질감·반사에 의존 → 금속 광택과 중첩 가능. 이 위험을 사전 파악한 상태로 모델링에 착수했고, 실제 오분류가 예상과 일치.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25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3840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얼마를 사람에게 넘길 것인가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509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 임계값 결정의 근거가 되는 분포</a:t>
            </a:r>
            <a:endParaRPr lang="en-US" sz="2200" dirty="0"/>
          </a:p>
        </p:txBody>
      </p:sp>
      <p:pic>
        <p:nvPicPr>
          <p:cNvPr id="6" name="Image 0" descr="/home/claude/deck/img/confid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10881360" cy="3520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525780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0F6EA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932688" y="53949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정답과 오답의 분포가 갈림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32688" y="56875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정답 2,301장은 확신도 1.0 근처에 집중 · 오답 33건은 넓게 분산.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525780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 txBox="1"/>
          <p:nvPr/>
        </p:nvSpPr>
        <p:spPr>
          <a:xfrm>
            <a:off x="6464808" y="53949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B3562F"/>
                </a:solidFill>
                <a:latin typeface="Noto Sans CJK KR" pitchFamily="34" charset="0"/>
                <a:ea typeface="Noto Sans CJK KR"/>
                <a:cs typeface="Noto Sans CJK KR"/>
              </a:rPr>
              <a:t>현장에 적용하면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464808" y="56875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0.3%(8장)만 사람이 확인 → 나머지는 98.8% 정확도로 자동 분류.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26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3840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임계값 조정은 효과가 있었나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509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선택은 검증셋에서 · test 는 한 번만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349240" cy="2450592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932688" y="17190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검정 ③   클래스별 가중 argmax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08483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소수 클래스에 유리한 가중치를 곱해 argmax 를 이동. 검증셋에서 선택된 최적 계수는 0.00.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261518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532888" y="261518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조정 맞음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133088" y="261518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조정 틀림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291693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기본 맞음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532888" y="291693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2,301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133088" y="291693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32186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기본 틀림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2532888" y="32186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133088" y="32186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358444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불일치 0쌍 — 예측 변화 없음 → 검정 자체가 성립하지 않음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1554480"/>
            <a:ext cx="5349240" cy="2450592"/>
          </a:xfrm>
          <a:prstGeom prst="roundRect">
            <a:avLst>
              <a:gd name="adj" fmla="val 2985"/>
            </a:avLst>
          </a:prstGeom>
          <a:solidFill>
            <a:srgbClr val="F0F6EA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6464808" y="17190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검정 ④   확신도 기반 판단 보류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464808" y="208483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확신도가 tau 미만이면 사람에게 이관. 자동 처리 구간의 정확도가 전체보다 유의하게 높은지 부트스트랩으로 검증.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464808" y="276148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정확도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961120" y="276148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0.9859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64808" y="30449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자동 처리 정확도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961120" y="304495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0.9884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64808" y="332841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차이  95% CI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961120" y="332841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[0.0008, 0.0047]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464808" y="358444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0을 포함하지 않음 — H0 기각 · 보류 규칙 작동 확인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4133088"/>
            <a:ext cx="10881360" cy="2011680"/>
          </a:xfrm>
          <a:prstGeom prst="roundRect">
            <a:avLst>
              <a:gd name="adj" fmla="val 3636"/>
            </a:avLst>
          </a:prstGeom>
          <a:solidFill>
            <a:srgbClr val="2A4A33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1005840" y="429768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여기서 가장 중요한 것은 ③ 이 실패했다는 사실</a:t>
            </a:r>
            <a:endParaRPr lang="en-US" sz="2100" dirty="0"/>
          </a:p>
        </p:txBody>
      </p:sp>
      <p:sp>
        <p:nvSpPr>
          <p:cNvPr id="31" name="Text 29"/>
          <p:cNvSpPr txBox="1"/>
          <p:nvPr/>
        </p:nvSpPr>
        <p:spPr>
          <a:xfrm>
            <a:off x="1005840" y="4791456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검증셋에서는 가중치가 macro-F1 을 상승시켰으나 test 에서는 예측 변화 0장 → 이득이 검증셋에 과적합되어 있었다는 뜻.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05840" y="521208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test 확률에서 임계값을 골랐다면 반드시 미세한 개선이 나왔을 것이고 그 개선은 허구. 검증셋에서 고르고 test 에 한 번만 적용했기에 확인 가능.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27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3840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사람이 확인할 8장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509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확신도 0.53 미만 · 전체의 0.3%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777240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25400">
            <a:solidFill>
              <a:srgbClr val="B9CCB3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" name="Image 0" descr="/home/claude/deck/img/img_low_confid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37360"/>
            <a:ext cx="7498080" cy="43708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412480" y="1463040"/>
            <a:ext cx="3154680" cy="2286000"/>
          </a:xfrm>
          <a:prstGeom prst="roundRect">
            <a:avLst>
              <a:gd name="adj" fmla="val 3200"/>
            </a:avLst>
          </a:prstGeom>
          <a:solidFill>
            <a:srgbClr val="F0F6EA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8686800" y="168249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9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보류가 곧 오답은 아니다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8686800" y="2340864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초록 테두리 2장은 정답인데도 확신도가 낮아 보류됐다. 자신 없으면 맞았어도 넘긴다는 것이 이 규칙의 설계다.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412480" y="3913632"/>
            <a:ext cx="3154680" cy="2258568"/>
          </a:xfrm>
          <a:prstGeom prst="roundRect">
            <a:avLst>
              <a:gd name="adj" fmla="val 3239"/>
            </a:avLst>
          </a:prstGeom>
          <a:solidFill>
            <a:srgbClr val="2A4A33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 txBox="1"/>
          <p:nvPr/>
        </p:nvSpPr>
        <p:spPr>
          <a:xfrm>
            <a:off x="8686800" y="411937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라벨 </a:t>
            </a:r>
            <a:r>
              <a:rPr lang="en-US" sz="1900" b="1" dirty="0" err="1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오류까지</a:t>
            </a:r>
            <a:r>
              <a:rPr lang="en-US" sz="1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ko-KR" altLang="en-US" sz="1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검출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0" y="477774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DCE8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오른쪽 위 기저귀는 trash 로 라벨돼 있지만 clothes 가 맞다고 이미 판정된 파일이다. 모델이 확신하지 못한 이유가 라벨 오류였던 셈이다.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28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3840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정리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509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했고 · 무엇을 못 했는가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989320" cy="4114800"/>
          </a:xfrm>
          <a:prstGeom prst="roundRect">
            <a:avLst>
              <a:gd name="adj" fmla="val 1778"/>
            </a:avLst>
          </a:prstGeom>
          <a:solidFill>
            <a:srgbClr val="2A4A33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1005840" y="17830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82980" y="237955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성능은 모델에서,
신뢰는 데이터에서</a:t>
            </a:r>
            <a:endParaRPr lang="en-US" sz="2600" dirty="0"/>
          </a:p>
          <a:p>
            <a:pPr marL="0" indent="0">
              <a:lnSpc>
                <a:spcPts val="3400"/>
              </a:lnSpc>
              <a:buNone/>
            </a:pP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4290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CE8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0.652  →  0.984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886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E8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모델을 바꿔서 얻은 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4348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20건대  →  0건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48920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E8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데이터를 고쳐서 얻은 것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53492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재질 혼동은 해상도를 224px 로 올려 개선 — 오분류 53건 → 33건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0" y="1554480"/>
            <a:ext cx="46634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7178040" y="1783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000" b="1" dirty="0">
                <a:solidFill>
                  <a:srgbClr val="1E3A28"/>
                </a:solidFill>
                <a:latin typeface="Noto Sans CJK KR" pitchFamily="34" charset="0"/>
                <a:ea typeface="Noto Sans CJK KR"/>
                <a:cs typeface="Noto Sans CJK KR"/>
              </a:rPr>
              <a:t>남은 한계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178040" y="2322576"/>
            <a:ext cx="310896" cy="310896"/>
          </a:xfrm>
          <a:prstGeom prst="ellipse">
            <a:avLst/>
          </a:prstGeom>
          <a:solidFill>
            <a:srgbClr val="A8CE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7178040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607808" y="228600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탐지 임계값은 임의값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607808" y="2651760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Hamming 5 · 픽셀차 0.05 는 시행착오로 결정. 값 변경 시 매번 재학습 필요.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78040" y="3438144"/>
            <a:ext cx="310896" cy="310896"/>
          </a:xfrm>
          <a:prstGeom prst="ellipse">
            <a:avLst/>
          </a:prstGeom>
          <a:solidFill>
            <a:srgbClr val="A8CE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7178040" y="3438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607808" y="340156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라벨 검수 범위가 고르지 않음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607808" y="3767328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모델이 확신하며 틀린 것만 후보로 추출 → 못 배우는 유형의 오류는 미검출.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178040" y="4553712"/>
            <a:ext cx="310896" cy="310896"/>
          </a:xfrm>
          <a:prstGeom prst="ellipse">
            <a:avLst/>
          </a:prstGeom>
          <a:solidFill>
            <a:srgbClr val="A8CE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7178040" y="4553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607808" y="4517136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단일 시드 · 단일 학습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607808" y="4882896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0.005 안팎의 차이는 실행 간 변동 폭 이내일 수 있음.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5897880"/>
            <a:ext cx="10881360" cy="731520"/>
          </a:xfrm>
          <a:prstGeom prst="rect">
            <a:avLst/>
          </a:prstGeom>
          <a:solidFill>
            <a:srgbClr val="EDF1EA"/>
          </a:solidFill>
          <a:ln w="9525">
            <a:solidFill>
              <a:srgbClr val="DCE4D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640080" y="5897880"/>
            <a:ext cx="64008" cy="731520"/>
          </a:xfrm>
          <a:prstGeom prst="rect">
            <a:avLst/>
          </a:prstGeom>
          <a:solidFill>
            <a:srgbClr val="3D7A4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762000" y="5897880"/>
            <a:ext cx="10722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800"/>
              </a:lnSpc>
            </a:pPr>
            <a:r>
              <a:rPr lang="ko-KR" altLang="en-US" sz="12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실패도 결과</a:t>
            </a:r>
            <a:r>
              <a:rPr lang="en-US" altLang="ko-KR" sz="12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</a:t>
            </a:r>
            <a:r>
              <a:rPr lang="ko-KR" altLang="en-US" sz="12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주요 주장 </a:t>
            </a:r>
            <a:r>
              <a:rPr lang="en-US" altLang="ko-KR" sz="12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r>
              <a:rPr lang="ko-KR" altLang="en-US" sz="12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개에 통계검정을 붙였고</a:t>
            </a:r>
            <a:r>
              <a:rPr lang="en-US" altLang="ko-KR" sz="12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</a:t>
            </a:r>
            <a:r>
              <a:rPr lang="ko-KR" altLang="en-US" sz="12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그중 하나는 효과가 없었다</a:t>
            </a:r>
            <a:r>
              <a:rPr lang="en-US" altLang="ko-KR" sz="12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. </a:t>
            </a:r>
            <a:r>
              <a:rPr lang="ko-KR" altLang="en-US" sz="12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감추지 않고 그대로 보고</a:t>
            </a:r>
            <a:endParaRPr lang="en-US" altLang="ko-KR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4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5C9E5C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07040" y="4023360"/>
            <a:ext cx="2926080" cy="2926080"/>
          </a:xfrm>
          <a:prstGeom prst="ellipse">
            <a:avLst/>
          </a:prstGeom>
          <a:solidFill>
            <a:srgbClr val="A8CE7E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52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감사합니다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429000"/>
            <a:ext cx="1463040" cy="32004"/>
          </a:xfrm>
          <a:prstGeom prst="rect">
            <a:avLst/>
          </a:prstGeom>
          <a:solidFill>
            <a:srgbClr val="A8C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454737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A8CE7E"/>
                </a:solidFill>
                <a:latin typeface="Noto Sans CJK KR"/>
                <a:ea typeface="Noto Sans CJK KR"/>
                <a:cs typeface="Noto Sans CJK KR"/>
              </a:rPr>
              <a:t>3조 (김이박)  —  김태경 · 이현중 · 박병찬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2762</Words>
  <Application>Microsoft Office PowerPoint</Application>
  <PresentationFormat>와이드스크린</PresentationFormat>
  <Paragraphs>566</Paragraphs>
  <Slides>32</Slides>
  <Notes>31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6" baseType="lpstr">
      <vt:lpstr>HY견고딕</vt:lpstr>
      <vt:lpstr>Noto Sans CJK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쓰레기 이미지 12종 분류</dc:title>
  <dc:subject>PptxGenJS Presentation</dc:subject>
  <dc:creator>3조 (김이박)</dc:creator>
  <cp:lastModifiedBy>태경 김</cp:lastModifiedBy>
  <cp:revision>11</cp:revision>
  <dcterms:created xsi:type="dcterms:W3CDTF">2026-09-07T07:13:26Z</dcterms:created>
  <dcterms:modified xsi:type="dcterms:W3CDTF">2026-09-08T04:38:12Z</dcterms:modified>
</cp:coreProperties>
</file>