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86" r:id="rId2"/>
    <p:sldId id="287" r:id="rId3"/>
    <p:sldId id="288" r:id="rId4"/>
    <p:sldId id="295" r:id="rId5"/>
    <p:sldId id="289" r:id="rId6"/>
    <p:sldId id="290" r:id="rId7"/>
    <p:sldId id="291" r:id="rId8"/>
    <p:sldId id="296" r:id="rId9"/>
    <p:sldId id="293" r:id="rId10"/>
    <p:sldId id="300" r:id="rId11"/>
    <p:sldId id="294" r:id="rId12"/>
    <p:sldId id="29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9E5C"/>
    <a:srgbClr val="B3562F"/>
    <a:srgbClr val="FAFBF8"/>
    <a:srgbClr val="2A4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35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김태경 → 이현중.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오탐 7그룹은 서로 다른 칫솔 제품이었습니다. 알고리즘은 후보만 좁히고 최종 판단은 사람이 했다는 점이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진짜 중복, 오른쪽은 오탐입니다. 알고리즘은 후보만 좁히고 최종 판단은 사람이 했다는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모델을 6개 바꿔봐도 clothes→shoes 오분류는 상위권에서 빠지지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204건 = held-out 59 + train OOF 145. 모델이 데이터를 검사한다는 발상이 이 파트의 하이라이트입니다.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사진을 먼저 보여주고 설명하세요. 말로 백 번 설명하는 것보다 이 한 장이 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파일을 건드리지 않았기 때문에 언제든 되돌릴 수 있고, 어떤 파일을 왜 뺐는지 근거가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모델은 그대로 두고 라벨만 정정했습니다. 오분류 1위 자리가 바뀌었다는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만든 CNN 0.65에서 미세조정 0.97로 뜁니다. 여기서 왜 lr 5e-5인가는 다음 슬라이드로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만든 CNN 0.65에서 미세조정 0.97로 뜁니다. 여기서 왜 lr 5e-5인가는 다음 슬라이드로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10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실패를 숨기지 않고 방법론을 고쳤다는 점이 이 슬라이드의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숫자보다 패턴 변화가 더 믿을 수 있는 증거였다는 결론으로 파트를 닫습니다.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7700" y="1714500"/>
            <a:ext cx="859155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14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이현중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647700" y="2222500"/>
            <a:ext cx="8044815" cy="1452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236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폴더만 봐서는 알 수 </a:t>
            </a:r>
            <a:r>
              <a:rPr lang="en-US" sz="4800" b="1" kern="0" spc="-96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없는</a:t>
            </a:r>
            <a:r>
              <a:rPr lang="en-US" sz="4800" b="1" kern="0" spc="-96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4800" b="1" kern="0" spc="-96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</a:t>
            </a:r>
            <a:br>
              <a:rPr lang="en-US" sz="4800" b="1" kern="0" spc="-9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4800" b="1" kern="0" spc="-96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&amp; </a:t>
            </a:r>
            <a:r>
              <a:rPr lang="ko-KR" altLang="en-US" sz="4800" b="1" kern="0" spc="-96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학습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7700" y="3884414"/>
            <a:ext cx="85915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703"/>
              </a:lnSpc>
              <a:buNone/>
            </a:pPr>
            <a:r>
              <a:rPr lang="en-US" sz="1575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사진이 여러 장 · 신발 사진이 clothes 폴더에 혼입</a:t>
            </a:r>
            <a:endParaRPr lang="en-US" sz="15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517427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이미지 탐지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6153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ko-KR" alt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 </a:t>
            </a: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1.2억</a:t>
            </a:r>
            <a:r>
              <a:rPr lang="ko-KR" alt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쌍</a:t>
            </a:r>
            <a:r>
              <a:rPr lang="ko-KR" alt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 이미지를</a:t>
            </a: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세 단계로 축소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47750" y="1570831"/>
            <a:ext cx="10096500" cy="35226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6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502172" y="5556250"/>
            <a:ext cx="1563628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18그룹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359594" y="6026150"/>
            <a:ext cx="1776591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 동일 (MD5)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33909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362946" y="5556250"/>
            <a:ext cx="1293439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3그룹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4310162" y="6026150"/>
            <a:ext cx="127747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라벨이 충돌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61722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064772" y="5556250"/>
            <a:ext cx="1563628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42그룹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7165975" y="6026150"/>
            <a:ext cx="105776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근접 중복</a:t>
            </a:r>
            <a:endParaRPr lang="en-US" sz="1275" dirty="0"/>
          </a:p>
        </p:txBody>
      </p:sp>
      <p:sp>
        <p:nvSpPr>
          <p:cNvPr id="16" name="Shape 13"/>
          <p:cNvSpPr/>
          <p:nvPr/>
        </p:nvSpPr>
        <p:spPr>
          <a:xfrm>
            <a:off x="89535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9925546" y="5556250"/>
            <a:ext cx="1293439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7그룹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775627" y="6026150"/>
            <a:ext cx="156389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육안 오탐 제외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9134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 결과를 눈으로 확인한다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49134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알고리즘이 찾은 것과 사람이 판단한 것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95425"/>
            <a:ext cx="5372100" cy="2698651"/>
          </a:xfrm>
          <a:prstGeom prst="roundRect">
            <a:avLst>
              <a:gd name="adj" fmla="val 49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7F8F5"/>
              </a:clrFrom>
              <a:clrTo>
                <a:srgbClr val="F7F8F5">
                  <a:alpha val="0"/>
                </a:srgbClr>
              </a:clrTo>
            </a:clrChange>
          </a:blip>
          <a:srcRect l="-2" r="-2"/>
          <a:stretch/>
        </p:blipFill>
        <p:spPr>
          <a:xfrm>
            <a:off x="609599" y="1501775"/>
            <a:ext cx="5372099" cy="269230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300" y="1495425"/>
            <a:ext cx="5372100" cy="2698651"/>
          </a:xfrm>
          <a:prstGeom prst="roundRect">
            <a:avLst>
              <a:gd name="adj" fmla="val 49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7F8F5"/>
              </a:clrFrom>
              <a:clrTo>
                <a:srgbClr val="F7F8F5">
                  <a:alpha val="0"/>
                </a:srgbClr>
              </a:clrTo>
            </a:clrChange>
          </a:blip>
          <a:srcRect l="-2" r="-2"/>
          <a:stretch/>
        </p:blipFill>
        <p:spPr>
          <a:xfrm>
            <a:off x="6214110" y="1495425"/>
            <a:ext cx="5368290" cy="269865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9600" y="4384576"/>
            <a:ext cx="5372100" cy="2054324"/>
          </a:xfrm>
          <a:prstGeom prst="roundRect">
            <a:avLst>
              <a:gd name="adj" fmla="val 6491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863600" y="4600476"/>
            <a:ext cx="53505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진짜 근접 중복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863600" y="5000526"/>
            <a:ext cx="5010023" cy="1218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육안으로는 동일한 사진인데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파일은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3개</a:t>
            </a: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리사이즈·재저장으로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바이트가 달라져 MD5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로는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미탐지</a:t>
            </a:r>
            <a:endParaRPr lang="en-US" sz="1350" b="1" dirty="0"/>
          </a:p>
        </p:txBody>
      </p:sp>
      <p:sp>
        <p:nvSpPr>
          <p:cNvPr id="13" name="Shape 9"/>
          <p:cNvSpPr/>
          <p:nvPr/>
        </p:nvSpPr>
        <p:spPr>
          <a:xfrm>
            <a:off x="6210300" y="4384576"/>
            <a:ext cx="5372100" cy="2054324"/>
          </a:xfrm>
          <a:prstGeom prst="roundRect">
            <a:avLst>
              <a:gd name="adj" fmla="val 649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6464300" y="4600476"/>
            <a:ext cx="53505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알고리즘의 오탐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464300" y="5000526"/>
            <a:ext cx="5010023" cy="1154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dHash·픽셀 검증을 모두 통과했으나 실물은 서로 다른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칫솔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</a:t>
            </a:r>
            <a:endParaRPr lang="en-US" sz="1350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흰 배경 + 세로 물체라는 제품 사진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구도만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</a:t>
            </a:r>
            <a:endParaRPr lang="en-US" sz="135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83864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30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데이터 제거 후 모델 테스트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83864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</a:t>
            </a: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5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바뀌어도</a:t>
            </a: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5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clotehs</a:t>
            </a: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-&gt; shoes </a:t>
            </a:r>
            <a:r>
              <a:rPr lang="ko-KR" altLang="en-US" sz="15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오탐지가</a:t>
            </a:r>
            <a:r>
              <a:rPr lang="ko-KR" alt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5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상위권에서</a:t>
            </a: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안 빠짐</a:t>
            </a:r>
            <a:endParaRPr lang="en-US" sz="15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0C073273-E641-6CFE-B389-2BC9843898F0}"/>
              </a:ext>
            </a:extLst>
          </p:cNvPr>
          <p:cNvSpPr/>
          <p:nvPr/>
        </p:nvSpPr>
        <p:spPr>
          <a:xfrm>
            <a:off x="609600" y="1407915"/>
            <a:ext cx="10972800" cy="5081662"/>
          </a:xfrm>
          <a:prstGeom prst="roundRect">
            <a:avLst>
              <a:gd name="adj" fmla="val 2827"/>
            </a:avLst>
          </a:prstGeom>
          <a:noFill/>
          <a:ln w="1905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9B524EB-EDAD-32CA-20D8-9AEE57C1896F}"/>
              </a:ext>
            </a:extLst>
          </p:cNvPr>
          <p:cNvSpPr/>
          <p:nvPr/>
        </p:nvSpPr>
        <p:spPr>
          <a:xfrm>
            <a:off x="1556494" y="2113161"/>
            <a:ext cx="15203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0.7095</a:t>
            </a:r>
            <a:endParaRPr lang="en-US" sz="1425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3BE0A40-8197-7AE1-3732-67D9A1456C68}"/>
              </a:ext>
            </a:extLst>
          </p:cNvPr>
          <p:cNvSpPr/>
          <p:nvPr/>
        </p:nvSpPr>
        <p:spPr>
          <a:xfrm>
            <a:off x="3186256" y="2113161"/>
            <a:ext cx="15204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0.8009</a:t>
            </a:r>
            <a:endParaRPr lang="en-US" sz="1425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5BA3E8E-761C-055C-348D-1E0263DE202E}"/>
              </a:ext>
            </a:extLst>
          </p:cNvPr>
          <p:cNvSpPr/>
          <p:nvPr/>
        </p:nvSpPr>
        <p:spPr>
          <a:xfrm>
            <a:off x="4816123" y="2113161"/>
            <a:ext cx="15204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0.9501</a:t>
            </a:r>
            <a:endParaRPr lang="en-US" sz="1425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65F5AF5-B39F-F276-D43D-3703B7A7A7FE}"/>
              </a:ext>
            </a:extLst>
          </p:cNvPr>
          <p:cNvSpPr/>
          <p:nvPr/>
        </p:nvSpPr>
        <p:spPr>
          <a:xfrm>
            <a:off x="6445994" y="2113161"/>
            <a:ext cx="15203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0.9529</a:t>
            </a:r>
            <a:endParaRPr lang="en-US" sz="1425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449B0BD-F6E7-B2E7-DB2C-B0D99607472D}"/>
              </a:ext>
            </a:extLst>
          </p:cNvPr>
          <p:cNvSpPr/>
          <p:nvPr/>
        </p:nvSpPr>
        <p:spPr>
          <a:xfrm>
            <a:off x="8075757" y="2113161"/>
            <a:ext cx="15204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0.9367</a:t>
            </a:r>
            <a:endParaRPr lang="en-US" sz="1425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E5C4B3C-FD95-0837-92BB-61E022DE0DD7}"/>
              </a:ext>
            </a:extLst>
          </p:cNvPr>
          <p:cNvSpPr/>
          <p:nvPr/>
        </p:nvSpPr>
        <p:spPr>
          <a:xfrm>
            <a:off x="9705623" y="2113161"/>
            <a:ext cx="15204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0.9629</a:t>
            </a:r>
            <a:endParaRPr lang="en-US" sz="1425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0FB98BA-DE76-5418-9CB3-1B4CAD25825F}"/>
              </a:ext>
            </a:extLst>
          </p:cNvPr>
          <p:cNvSpPr/>
          <p:nvPr/>
        </p:nvSpPr>
        <p:spPr>
          <a:xfrm>
            <a:off x="1185267" y="2211586"/>
            <a:ext cx="28793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2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87EF0EE-C410-0CA4-4DB9-658A73318A09}"/>
              </a:ext>
            </a:extLst>
          </p:cNvPr>
          <p:cNvSpPr/>
          <p:nvPr/>
        </p:nvSpPr>
        <p:spPr>
          <a:xfrm>
            <a:off x="1185267" y="2973586"/>
            <a:ext cx="28793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12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831EBB0-6363-D3F9-CC85-6E854767D168}"/>
              </a:ext>
            </a:extLst>
          </p:cNvPr>
          <p:cNvSpPr/>
          <p:nvPr/>
        </p:nvSpPr>
        <p:spPr>
          <a:xfrm>
            <a:off x="1185267" y="3735586"/>
            <a:ext cx="28793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</a:t>
            </a:r>
            <a:endParaRPr lang="en-US" sz="12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40730E9-4BE9-B227-F869-80A631F3BFE5}"/>
              </a:ext>
            </a:extLst>
          </p:cNvPr>
          <p:cNvSpPr/>
          <p:nvPr/>
        </p:nvSpPr>
        <p:spPr>
          <a:xfrm>
            <a:off x="1492250" y="2322711"/>
            <a:ext cx="9798051" cy="9525"/>
          </a:xfrm>
          <a:prstGeom prst="rect">
            <a:avLst/>
          </a:prstGeom>
          <a:solidFill>
            <a:srgbClr val="E3EADD"/>
          </a:solidFill>
          <a:ln/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E58343F8-E40B-5D2E-D796-7FD55F28D783}"/>
              </a:ext>
            </a:extLst>
          </p:cNvPr>
          <p:cNvSpPr/>
          <p:nvPr/>
        </p:nvSpPr>
        <p:spPr>
          <a:xfrm>
            <a:off x="1492250" y="3084711"/>
            <a:ext cx="9798051" cy="9525"/>
          </a:xfrm>
          <a:prstGeom prst="rect">
            <a:avLst/>
          </a:prstGeom>
          <a:solidFill>
            <a:srgbClr val="E3EADD"/>
          </a:solidFill>
          <a:ln/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23C6056-BF3D-9B8E-2DE6-3D2DCBFC8092}"/>
              </a:ext>
            </a:extLst>
          </p:cNvPr>
          <p:cNvSpPr/>
          <p:nvPr/>
        </p:nvSpPr>
        <p:spPr>
          <a:xfrm>
            <a:off x="1492250" y="3837186"/>
            <a:ext cx="9798051" cy="9525"/>
          </a:xfrm>
          <a:prstGeom prst="rect">
            <a:avLst/>
          </a:prstGeom>
          <a:solidFill>
            <a:srgbClr val="C9D3C2"/>
          </a:solidFill>
          <a:ln/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F7772AA-CB26-5A86-2452-E2497FE23C97}"/>
              </a:ext>
            </a:extLst>
          </p:cNvPr>
          <p:cNvSpPr/>
          <p:nvPr/>
        </p:nvSpPr>
        <p:spPr>
          <a:xfrm>
            <a:off x="1625600" y="2770386"/>
            <a:ext cx="1382117" cy="1076325"/>
          </a:xfrm>
          <a:custGeom>
            <a:avLst/>
            <a:gdLst/>
            <a:ahLst/>
            <a:cxnLst/>
            <a:rect l="l" t="t" r="r" b="b"/>
            <a:pathLst>
              <a:path w="1382117" h="1076325">
                <a:moveTo>
                  <a:pt x="28575" y="0"/>
                </a:moveTo>
                <a:lnTo>
                  <a:pt x="1353542" y="0"/>
                </a:lnTo>
                <a:arcTo wR="28575" hR="28575" stAng="16200000" swAng="5400000"/>
                <a:lnTo>
                  <a:pt x="1382117" y="1076325"/>
                </a:lnTo>
                <a:lnTo>
                  <a:pt x="0" y="1076325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3183D03-3372-80A3-6F30-5BAA946256F7}"/>
              </a:ext>
            </a:extLst>
          </p:cNvPr>
          <p:cNvSpPr/>
          <p:nvPr/>
        </p:nvSpPr>
        <p:spPr>
          <a:xfrm>
            <a:off x="3255367" y="2627511"/>
            <a:ext cx="1382217" cy="1219200"/>
          </a:xfrm>
          <a:custGeom>
            <a:avLst/>
            <a:gdLst/>
            <a:ahLst/>
            <a:cxnLst/>
            <a:rect l="l" t="t" r="r" b="b"/>
            <a:pathLst>
              <a:path w="1382217" h="1219200">
                <a:moveTo>
                  <a:pt x="28575" y="0"/>
                </a:moveTo>
                <a:lnTo>
                  <a:pt x="1353642" y="0"/>
                </a:lnTo>
                <a:arcTo wR="28575" hR="28575" stAng="16200000" swAng="5400000"/>
                <a:lnTo>
                  <a:pt x="1382217" y="1219200"/>
                </a:lnTo>
                <a:lnTo>
                  <a:pt x="0" y="1219200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F80812F3-1C6A-DD6F-88F7-A2079715C3D4}"/>
              </a:ext>
            </a:extLst>
          </p:cNvPr>
          <p:cNvSpPr/>
          <p:nvPr/>
        </p:nvSpPr>
        <p:spPr>
          <a:xfrm>
            <a:off x="4885234" y="2398911"/>
            <a:ext cx="1382217" cy="1447800"/>
          </a:xfrm>
          <a:custGeom>
            <a:avLst/>
            <a:gdLst/>
            <a:ahLst/>
            <a:cxnLst/>
            <a:rect l="l" t="t" r="r" b="b"/>
            <a:pathLst>
              <a:path w="1382217" h="1447800">
                <a:moveTo>
                  <a:pt x="28575" y="0"/>
                </a:moveTo>
                <a:lnTo>
                  <a:pt x="1353642" y="0"/>
                </a:lnTo>
                <a:arcTo wR="28575" hR="28575" stAng="16200000" swAng="5400000"/>
                <a:lnTo>
                  <a:pt x="1382217" y="1447800"/>
                </a:lnTo>
                <a:lnTo>
                  <a:pt x="0" y="1447800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BAD7E37-D47E-ECAE-F975-C6D8038DE862}"/>
              </a:ext>
            </a:extLst>
          </p:cNvPr>
          <p:cNvSpPr/>
          <p:nvPr/>
        </p:nvSpPr>
        <p:spPr>
          <a:xfrm>
            <a:off x="6515100" y="2398911"/>
            <a:ext cx="1382117" cy="1447800"/>
          </a:xfrm>
          <a:custGeom>
            <a:avLst/>
            <a:gdLst/>
            <a:ahLst/>
            <a:cxnLst/>
            <a:rect l="l" t="t" r="r" b="b"/>
            <a:pathLst>
              <a:path w="1382117" h="1447800">
                <a:moveTo>
                  <a:pt x="28575" y="0"/>
                </a:moveTo>
                <a:lnTo>
                  <a:pt x="1353542" y="0"/>
                </a:lnTo>
                <a:arcTo wR="28575" hR="28575" stAng="16200000" swAng="5400000"/>
                <a:lnTo>
                  <a:pt x="1382117" y="1447800"/>
                </a:lnTo>
                <a:lnTo>
                  <a:pt x="0" y="1447800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4F6CEAB-9082-0C8B-34BD-90339D5FB7FD}"/>
              </a:ext>
            </a:extLst>
          </p:cNvPr>
          <p:cNvSpPr/>
          <p:nvPr/>
        </p:nvSpPr>
        <p:spPr>
          <a:xfrm>
            <a:off x="8144867" y="2417961"/>
            <a:ext cx="1382217" cy="1428750"/>
          </a:xfrm>
          <a:custGeom>
            <a:avLst/>
            <a:gdLst/>
            <a:ahLst/>
            <a:cxnLst/>
            <a:rect l="l" t="t" r="r" b="b"/>
            <a:pathLst>
              <a:path w="1382217" h="1428750">
                <a:moveTo>
                  <a:pt x="28575" y="0"/>
                </a:moveTo>
                <a:lnTo>
                  <a:pt x="1353642" y="0"/>
                </a:lnTo>
                <a:arcTo wR="28575" hR="28575" stAng="16200000" swAng="5400000"/>
                <a:lnTo>
                  <a:pt x="1382217" y="1428750"/>
                </a:lnTo>
                <a:lnTo>
                  <a:pt x="0" y="1428750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D3129CB3-6D72-E970-D46A-AA593D8F5144}"/>
              </a:ext>
            </a:extLst>
          </p:cNvPr>
          <p:cNvSpPr/>
          <p:nvPr/>
        </p:nvSpPr>
        <p:spPr>
          <a:xfrm>
            <a:off x="9774734" y="2379861"/>
            <a:ext cx="1382217" cy="1466850"/>
          </a:xfrm>
          <a:custGeom>
            <a:avLst/>
            <a:gdLst/>
            <a:ahLst/>
            <a:cxnLst/>
            <a:rect l="l" t="t" r="r" b="b"/>
            <a:pathLst>
              <a:path w="1382217" h="1466850">
                <a:moveTo>
                  <a:pt x="28575" y="0"/>
                </a:moveTo>
                <a:lnTo>
                  <a:pt x="1353642" y="0"/>
                </a:lnTo>
                <a:arcTo wR="28575" hR="28575" stAng="16200000" swAng="5400000"/>
                <a:lnTo>
                  <a:pt x="1382217" y="1466850"/>
                </a:lnTo>
                <a:lnTo>
                  <a:pt x="0" y="1466850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81B2C49-0FA6-1C37-F45F-8AF99E23CA37}"/>
              </a:ext>
            </a:extLst>
          </p:cNvPr>
          <p:cNvSpPr/>
          <p:nvPr/>
        </p:nvSpPr>
        <p:spPr>
          <a:xfrm>
            <a:off x="1556494" y="4386461"/>
            <a:ext cx="152032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6위 (19건)</a:t>
            </a:r>
            <a:endParaRPr lang="en-US" sz="1275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7E0B66B-AA59-482A-1784-88CDFBE85756}"/>
              </a:ext>
            </a:extLst>
          </p:cNvPr>
          <p:cNvSpPr/>
          <p:nvPr/>
        </p:nvSpPr>
        <p:spPr>
          <a:xfrm>
            <a:off x="3186256" y="4386461"/>
            <a:ext cx="152043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2위 (14건)</a:t>
            </a:r>
            <a:endParaRPr lang="en-US" sz="1275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912C003-A1AE-8775-F387-F6B9C1CFF504}"/>
              </a:ext>
            </a:extLst>
          </p:cNvPr>
          <p:cNvSpPr/>
          <p:nvPr/>
        </p:nvSpPr>
        <p:spPr>
          <a:xfrm>
            <a:off x="4816123" y="4386461"/>
            <a:ext cx="152043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1위 (8건)</a:t>
            </a:r>
            <a:endParaRPr lang="en-US" sz="1275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767ED76-BF4D-83E0-FAF6-D6F244B01FEF}"/>
              </a:ext>
            </a:extLst>
          </p:cNvPr>
          <p:cNvSpPr/>
          <p:nvPr/>
        </p:nvSpPr>
        <p:spPr>
          <a:xfrm>
            <a:off x="6445994" y="4386461"/>
            <a:ext cx="152032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1위 (8건)</a:t>
            </a:r>
            <a:endParaRPr lang="en-US" sz="1275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F8E75E1-EC09-1B47-92B4-458B0795779A}"/>
              </a:ext>
            </a:extLst>
          </p:cNvPr>
          <p:cNvSpPr/>
          <p:nvPr/>
        </p:nvSpPr>
        <p:spPr>
          <a:xfrm>
            <a:off x="8075757" y="4386461"/>
            <a:ext cx="152043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공동 1위 (10건)</a:t>
            </a:r>
            <a:endParaRPr lang="en-US" sz="1275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5910777-B33D-7B9E-8AAF-0FDAD9FC269F}"/>
              </a:ext>
            </a:extLst>
          </p:cNvPr>
          <p:cNvSpPr/>
          <p:nvPr/>
        </p:nvSpPr>
        <p:spPr>
          <a:xfrm>
            <a:off x="9705623" y="4386461"/>
            <a:ext cx="152043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1위 (8건)</a:t>
            </a:r>
            <a:endParaRPr lang="en-US" sz="1275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A77F77A-01DA-1E73-6D53-11A8E2A131CA}"/>
              </a:ext>
            </a:extLst>
          </p:cNvPr>
          <p:cNvSpPr/>
          <p:nvPr/>
        </p:nvSpPr>
        <p:spPr>
          <a:xfrm>
            <a:off x="1172170" y="4624586"/>
            <a:ext cx="30103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1위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9607F5F-3DFC-CF85-53DF-EEFBB9743FDB}"/>
              </a:ext>
            </a:extLst>
          </p:cNvPr>
          <p:cNvSpPr/>
          <p:nvPr/>
        </p:nvSpPr>
        <p:spPr>
          <a:xfrm>
            <a:off x="1172170" y="5329436"/>
            <a:ext cx="30103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6위</a:t>
            </a:r>
            <a:endParaRPr lang="en-US" sz="12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6285B9E-C20F-AD1E-8239-E171FFDA9C6A}"/>
              </a:ext>
            </a:extLst>
          </p:cNvPr>
          <p:cNvSpPr/>
          <p:nvPr/>
        </p:nvSpPr>
        <p:spPr>
          <a:xfrm>
            <a:off x="1625600" y="4735711"/>
            <a:ext cx="9531350" cy="9525"/>
          </a:xfrm>
          <a:prstGeom prst="rect">
            <a:avLst/>
          </a:prstGeom>
          <a:solidFill>
            <a:srgbClr val="E3EADD"/>
          </a:solidFill>
          <a:ln/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F9C7154-8328-C7EB-6E7B-3A5200112893}"/>
              </a:ext>
            </a:extLst>
          </p:cNvPr>
          <p:cNvSpPr/>
          <p:nvPr/>
        </p:nvSpPr>
        <p:spPr>
          <a:xfrm>
            <a:off x="1625600" y="5088136"/>
            <a:ext cx="9531350" cy="9525"/>
          </a:xfrm>
          <a:prstGeom prst="rect">
            <a:avLst/>
          </a:prstGeom>
          <a:solidFill>
            <a:srgbClr val="EFF2EC"/>
          </a:solidFill>
          <a:ln/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07A12779-81CB-84C1-2C7F-5A23DB98D9D4}"/>
              </a:ext>
            </a:extLst>
          </p:cNvPr>
          <p:cNvSpPr/>
          <p:nvPr/>
        </p:nvSpPr>
        <p:spPr>
          <a:xfrm>
            <a:off x="1625600" y="5440561"/>
            <a:ext cx="9531350" cy="9525"/>
          </a:xfrm>
          <a:prstGeom prst="rect">
            <a:avLst/>
          </a:prstGeom>
          <a:solidFill>
            <a:srgbClr val="E3EADD"/>
          </a:solidFill>
          <a:ln/>
        </p:spPr>
      </p:sp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609A0063-EE16-A4B6-428F-176459F45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5600" y="4621411"/>
            <a:ext cx="9531350" cy="914400"/>
          </a:xfrm>
          <a:prstGeom prst="rect">
            <a:avLst/>
          </a:prstGeom>
        </p:spPr>
      </p:pic>
      <p:sp>
        <p:nvSpPr>
          <p:cNvPr id="39" name="Shape 36">
            <a:extLst>
              <a:ext uri="{FF2B5EF4-FFF2-40B4-BE49-F238E27FC236}">
                <a16:creationId xmlns:a16="http://schemas.microsoft.com/office/drawing/2014/main" id="{8216C018-6FB2-026A-714B-B36C6842C87F}"/>
              </a:ext>
            </a:extLst>
          </p:cNvPr>
          <p:cNvSpPr/>
          <p:nvPr/>
        </p:nvSpPr>
        <p:spPr>
          <a:xfrm>
            <a:off x="2353171" y="5373886"/>
            <a:ext cx="133350" cy="133350"/>
          </a:xfrm>
          <a:prstGeom prst="ellipse">
            <a:avLst/>
          </a:prstGeom>
          <a:solidFill>
            <a:srgbClr val="B3562F"/>
          </a:solidFill>
          <a:ln/>
        </p:spPr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23B00CD2-4786-2A55-1151-22D70A6DA7E7}"/>
              </a:ext>
            </a:extLst>
          </p:cNvPr>
          <p:cNvSpPr/>
          <p:nvPr/>
        </p:nvSpPr>
        <p:spPr>
          <a:xfrm>
            <a:off x="3941763" y="4802386"/>
            <a:ext cx="133350" cy="133350"/>
          </a:xfrm>
          <a:prstGeom prst="ellipse">
            <a:avLst/>
          </a:prstGeom>
          <a:solidFill>
            <a:srgbClr val="B3562F"/>
          </a:solidFill>
          <a:ln/>
        </p:spPr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318B5880-F115-1CB9-0189-56DF66CC1AC5}"/>
              </a:ext>
            </a:extLst>
          </p:cNvPr>
          <p:cNvSpPr/>
          <p:nvPr/>
        </p:nvSpPr>
        <p:spPr>
          <a:xfrm>
            <a:off x="5530255" y="4669036"/>
            <a:ext cx="133350" cy="133350"/>
          </a:xfrm>
          <a:prstGeom prst="ellipse">
            <a:avLst/>
          </a:prstGeom>
          <a:solidFill>
            <a:srgbClr val="B3562F"/>
          </a:solidFill>
          <a:ln/>
        </p:spPr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434A717F-D620-C9B0-B811-859107FCFEE7}"/>
              </a:ext>
            </a:extLst>
          </p:cNvPr>
          <p:cNvSpPr/>
          <p:nvPr/>
        </p:nvSpPr>
        <p:spPr>
          <a:xfrm>
            <a:off x="7118846" y="4669036"/>
            <a:ext cx="133350" cy="133350"/>
          </a:xfrm>
          <a:prstGeom prst="ellipse">
            <a:avLst/>
          </a:prstGeom>
          <a:solidFill>
            <a:srgbClr val="B3562F"/>
          </a:solidFill>
          <a:ln/>
        </p:spPr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7A939AC9-B163-FB7E-FB57-E16E9E3A818C}"/>
              </a:ext>
            </a:extLst>
          </p:cNvPr>
          <p:cNvSpPr/>
          <p:nvPr/>
        </p:nvSpPr>
        <p:spPr>
          <a:xfrm>
            <a:off x="8707438" y="4669036"/>
            <a:ext cx="133350" cy="133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3562F"/>
            </a:solidFill>
            <a:prstDash val="solid"/>
          </a:ln>
        </p:spPr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2EF76507-891C-0EB9-F229-34BB3539BA3C}"/>
              </a:ext>
            </a:extLst>
          </p:cNvPr>
          <p:cNvSpPr/>
          <p:nvPr/>
        </p:nvSpPr>
        <p:spPr>
          <a:xfrm>
            <a:off x="10295930" y="4669036"/>
            <a:ext cx="133350" cy="133350"/>
          </a:xfrm>
          <a:prstGeom prst="ellipse">
            <a:avLst/>
          </a:prstGeom>
          <a:solidFill>
            <a:srgbClr val="B3562F"/>
          </a:solidFill>
          <a:ln/>
        </p:spPr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6F8978C3-5FC1-E2D4-EA07-94589C6A2186}"/>
              </a:ext>
            </a:extLst>
          </p:cNvPr>
          <p:cNvSpPr/>
          <p:nvPr/>
        </p:nvSpPr>
        <p:spPr>
          <a:xfrm>
            <a:off x="1587500" y="5707261"/>
            <a:ext cx="14583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CNN</a:t>
            </a:r>
          </a:p>
          <a:p>
            <a:pPr marL="0" indent="0" algn="ctr">
              <a:lnSpc>
                <a:spcPct val="127500"/>
              </a:lnSpc>
              <a:buNone/>
            </a:pPr>
            <a:r>
              <a:rPr lang="en-US" sz="1275" dirty="0" err="1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처음부터</a:t>
            </a: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학습</a:t>
            </a:r>
            <a:endParaRPr lang="en-US" sz="1275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1E466A55-8EF2-3744-B385-1D16D2E2E26A}"/>
              </a:ext>
            </a:extLst>
          </p:cNvPr>
          <p:cNvSpPr/>
          <p:nvPr/>
        </p:nvSpPr>
        <p:spPr>
          <a:xfrm>
            <a:off x="3217267" y="5707261"/>
            <a:ext cx="14584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전이학습 </a:t>
            </a: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EfficientNetV2S</a:t>
            </a:r>
            <a:endParaRPr lang="en-US" sz="1275" dirty="0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FDCCECDA-598B-FF01-D159-7A415BF982E8}"/>
              </a:ext>
            </a:extLst>
          </p:cNvPr>
          <p:cNvSpPr/>
          <p:nvPr/>
        </p:nvSpPr>
        <p:spPr>
          <a:xfrm>
            <a:off x="4847134" y="5707261"/>
            <a:ext cx="14584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 err="1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</a:t>
            </a:r>
            <a:r>
              <a:rPr lang="en-US" sz="127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5e-5</a:t>
            </a: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미니스윕 4epoch</a:t>
            </a:r>
            <a:endParaRPr lang="en-US" sz="1275" dirty="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31FBDBCA-0500-2EFB-B58C-414AA6FBD658}"/>
              </a:ext>
            </a:extLst>
          </p:cNvPr>
          <p:cNvSpPr/>
          <p:nvPr/>
        </p:nvSpPr>
        <p:spPr>
          <a:xfrm>
            <a:off x="6477000" y="5707261"/>
            <a:ext cx="14583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1e-4 </a:t>
            </a:r>
            <a:r>
              <a:rPr lang="en-US" sz="1275" dirty="0" err="1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미니스윕</a:t>
            </a: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4epoch</a:t>
            </a:r>
            <a:endParaRPr lang="en-US" sz="1275" dirty="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B4B28376-6AB0-A44C-6DC6-B30DBB1099A3}"/>
              </a:ext>
            </a:extLst>
          </p:cNvPr>
          <p:cNvSpPr/>
          <p:nvPr/>
        </p:nvSpPr>
        <p:spPr>
          <a:xfrm>
            <a:off x="8106767" y="5707261"/>
            <a:ext cx="14584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3e-4 </a:t>
            </a:r>
            <a:r>
              <a:rPr lang="en-US" sz="1275" dirty="0" err="1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미니스윕</a:t>
            </a: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4epoch</a:t>
            </a:r>
            <a:endParaRPr lang="en-US" sz="1275" dirty="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97274349-2348-68B4-E01B-7B9F0247691C}"/>
              </a:ext>
            </a:extLst>
          </p:cNvPr>
          <p:cNvSpPr/>
          <p:nvPr/>
        </p:nvSpPr>
        <p:spPr>
          <a:xfrm>
            <a:off x="9736634" y="5707261"/>
            <a:ext cx="14584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Unfreeze 최종 </a:t>
            </a: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15ep+스케줄러</a:t>
            </a:r>
            <a:endParaRPr lang="en-US" sz="1275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E4A856-E42A-82EC-9533-F383A34D5A7E}"/>
              </a:ext>
            </a:extLst>
          </p:cNvPr>
          <p:cNvSpPr txBox="1"/>
          <p:nvPr/>
        </p:nvSpPr>
        <p:spPr>
          <a:xfrm>
            <a:off x="74377" y="2900045"/>
            <a:ext cx="1238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2A4A33"/>
                </a:solidFill>
                <a:latin typeface="Noto Sans CJK KR"/>
              </a:rPr>
              <a:t>macro-F1</a:t>
            </a:r>
            <a:endParaRPr lang="ko-KR" altLang="en-US" sz="1200" b="1" dirty="0">
              <a:solidFill>
                <a:srgbClr val="2A4A33"/>
              </a:solidFill>
              <a:latin typeface="Noto Sans CJK KR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3BFB47-A0C6-79FF-402D-F9EEFAACAB54}"/>
              </a:ext>
            </a:extLst>
          </p:cNvPr>
          <p:cNvSpPr txBox="1"/>
          <p:nvPr/>
        </p:nvSpPr>
        <p:spPr>
          <a:xfrm>
            <a:off x="74377" y="4893945"/>
            <a:ext cx="1238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B3562F"/>
                </a:solidFill>
                <a:latin typeface="Noto Sans CJK KR"/>
              </a:rPr>
              <a:t>shoes -&gt; clothes </a:t>
            </a:r>
            <a:r>
              <a:rPr lang="ko-KR" altLang="en-US" sz="1200" b="1" dirty="0" err="1">
                <a:solidFill>
                  <a:srgbClr val="B3562F"/>
                </a:solidFill>
                <a:latin typeface="Noto Sans CJK KR"/>
              </a:rPr>
              <a:t>오탐지</a:t>
            </a:r>
            <a:endParaRPr lang="ko-KR" altLang="en-US" sz="1200" b="1" dirty="0">
              <a:solidFill>
                <a:srgbClr val="B3562F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29337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오류 진단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33103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모델을</a:t>
            </a: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5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</a:t>
            </a: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검사 도구로 역이용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95425"/>
            <a:ext cx="5365750" cy="1654572"/>
          </a:xfrm>
          <a:prstGeom prst="roundRect">
            <a:avLst>
              <a:gd name="adj" fmla="val 8059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76300" y="1704975"/>
            <a:ext cx="531558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38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착안점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876300" y="2035175"/>
            <a:ext cx="5315585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6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 “확신하며 틀린” 예측은 둘 중 하나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876300" y="2437110"/>
            <a:ext cx="5315585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정말 헷갈리는 사진이거나, 원본 라벨이 잘못됐거나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03950" y="1495425"/>
            <a:ext cx="5378450" cy="1654572"/>
          </a:xfrm>
          <a:prstGeom prst="roundRect">
            <a:avLst>
              <a:gd name="adj" fmla="val 8059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77000" y="1711325"/>
            <a:ext cx="53155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두 단계로 나눴나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77000" y="2111375"/>
            <a:ext cx="4977321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train 은 모델이 라벨을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그대로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암기</a:t>
            </a:r>
            <a:endParaRPr lang="en-US" sz="1350" dirty="0">
              <a:solidFill>
                <a:srgbClr val="26312B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라벨이 틀려도 그 오답을 재현해 “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틀림”으로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미검출</a:t>
            </a:r>
            <a:endParaRPr lang="en-US" sz="1350" dirty="0">
              <a:solidFill>
                <a:srgbClr val="26312B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2-fold out-of-fold 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 “안 본 상태”의 예측을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별도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생</a:t>
            </a:r>
            <a:r>
              <a:rPr lang="ko-KR" alt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600" y="3321447"/>
            <a:ext cx="10972800" cy="3117453"/>
          </a:xfrm>
          <a:prstGeom prst="roundRect">
            <a:avLst>
              <a:gd name="adj" fmla="val 4278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901701" y="3556397"/>
            <a:ext cx="10680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진단 결과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01700" y="4041443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 · held-out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49600" y="4041443"/>
            <a:ext cx="1219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4,655장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97400" y="4041443"/>
            <a:ext cx="17811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오분류 123건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5251" y="4041443"/>
            <a:ext cx="35603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 0.9 이상 59건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01700" y="4422443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 · train OOF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49600" y="4422443"/>
            <a:ext cx="1219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10,838장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97400" y="4422443"/>
            <a:ext cx="17811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오분류 382건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45251" y="4422443"/>
            <a:ext cx="35603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 0.9 이상 145건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1700" y="4838613"/>
            <a:ext cx="10388601" cy="9525"/>
          </a:xfrm>
          <a:prstGeom prst="rect">
            <a:avLst/>
          </a:prstGeom>
          <a:solidFill>
            <a:srgbClr val="CFDCC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01700" y="5051828"/>
            <a:ext cx="266521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합계 204건 전수 육안 확인</a:t>
            </a:r>
            <a:endParaRPr lang="en-US" sz="17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49" y="476250"/>
            <a:ext cx="497498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실제로 어떤 사진이었나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40383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모두 clothes 폴더에 들어 있던 파일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95425"/>
            <a:ext cx="5156200" cy="4943475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7F8F5"/>
              </a:clrFrom>
              <a:clrTo>
                <a:srgbClr val="F7F8F5">
                  <a:alpha val="0"/>
                </a:srgbClr>
              </a:clrTo>
            </a:clrChange>
          </a:blip>
          <a:srcRect/>
          <a:stretch/>
        </p:blipFill>
        <p:spPr>
          <a:xfrm>
            <a:off x="609600" y="1495425"/>
            <a:ext cx="5153660" cy="49434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94400" y="1495425"/>
            <a:ext cx="5588000" cy="2251075"/>
          </a:xfrm>
          <a:prstGeom prst="roundRect">
            <a:avLst>
              <a:gd name="adj" fmla="val 5924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381802" y="1711325"/>
            <a:ext cx="17293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31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46장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8267105" y="2187575"/>
            <a:ext cx="18440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정정한 라벨 수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7450" y="2568575"/>
            <a:ext cx="5041900" cy="9525"/>
          </a:xfrm>
          <a:prstGeom prst="rect">
            <a:avLst/>
          </a:prstGeom>
          <a:solidFill>
            <a:srgbClr val="CFDCC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989689" y="2673350"/>
            <a:ext cx="17571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 → shoes 43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37215" y="2978150"/>
            <a:ext cx="16524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shoes → clothes 1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85956" y="3282950"/>
            <a:ext cx="10809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색상 · 재질 2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994400" y="3937000"/>
            <a:ext cx="5588000" cy="2501900"/>
          </a:xfrm>
          <a:prstGeom prst="roundRect">
            <a:avLst>
              <a:gd name="adj" fmla="val 5330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267450" y="4473377"/>
            <a:ext cx="55460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중요한가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267450" y="4892477"/>
            <a:ext cx="5193157" cy="635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 clothes 를 shoes 로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틀렸을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때</a:t>
            </a:r>
          </a:p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 모델의 실수가 아니라 정답이 잘못돼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있던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것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6267450" y="5603875"/>
            <a:ext cx="5193157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모델을 개선해도 줄지 </a:t>
            </a:r>
            <a:r>
              <a:rPr lang="en-US" sz="1425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않던</a:t>
            </a:r>
            <a:r>
              <a:rPr lang="en-US" sz="1425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25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이유</a:t>
            </a:r>
            <a:endParaRPr lang="en-US" sz="1425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73146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30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</a:t>
            </a:r>
            <a:r>
              <a:rPr lang="en-US" sz="3000" b="1" kern="0" spc="-30" dirty="0" err="1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</a:t>
            </a:r>
            <a:r>
              <a:rPr lang="en-US" sz="30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결과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09600" y="1457325"/>
            <a:ext cx="2382738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342837" y="1666875"/>
            <a:ext cx="112275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15,515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51992" y="2084983"/>
            <a:ext cx="37415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3106638" y="1457325"/>
            <a:ext cx="304800" cy="1073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49538" y="1457325"/>
            <a:ext cx="2382838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40027" y="1666875"/>
            <a:ext cx="6779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− 31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91930" y="2084983"/>
            <a:ext cx="37415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5946676" y="1457325"/>
            <a:ext cx="304800" cy="1073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89576" y="1457325"/>
            <a:ext cx="2382738" cy="1035050"/>
          </a:xfrm>
          <a:prstGeom prst="roundRect">
            <a:avLst>
              <a:gd name="adj" fmla="val 12883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14815" y="1666875"/>
            <a:ext cx="1008459" cy="380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15,484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293868" y="2084983"/>
            <a:ext cx="37415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8786614" y="1457325"/>
            <a:ext cx="2795786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874746" y="1616075"/>
            <a:ext cx="695722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853017" y="2085716"/>
            <a:ext cx="717451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정정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609600" y="2644775"/>
            <a:ext cx="10972800" cy="2843610"/>
          </a:xfrm>
          <a:prstGeom prst="roundRect">
            <a:avLst>
              <a:gd name="adj" fmla="val 4020"/>
            </a:avLst>
          </a:prstGeom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15950" y="2651125"/>
            <a:ext cx="10960101" cy="471785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44550" y="2763143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 동일 중복 여분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854450" y="2763143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16장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207000" y="2763143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그룹당 1장만 유지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5950" y="3122910"/>
            <a:ext cx="10960101" cy="4718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44550" y="3235028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라벨이 충돌한 중복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854450" y="3235028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6장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207000" y="3235028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사진에 다른 라벨 → 양쪽 모두 제외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5950" y="3594795"/>
            <a:ext cx="10960101" cy="471785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44550" y="3706813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애매한 경계 사례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854450" y="3706813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3장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207000" y="3706813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봐도 판단이 갈림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15950" y="4066580"/>
            <a:ext cx="10960101" cy="4718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44550" y="4178697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사진이 아닌 이미지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854450" y="4178697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6장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207000" y="4178697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클립아트 · 목업 템플릿 · 스케치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15950" y="4538464"/>
            <a:ext cx="10960101" cy="471785"/>
          </a:xfrm>
          <a:prstGeom prst="rect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44550" y="4650482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kumimoji="0" lang="en-US" altLang="ko-KR" sz="1350" b="1" i="0" u="none" strike="noStrike" kern="1200" cap="none" spc="0" normalizeH="0" baseline="0" noProof="0" dirty="0">
                <a:ln>
                  <a:noFill/>
                </a:ln>
                <a:solidFill>
                  <a:srgbClr val="B3562F"/>
                </a:solidFill>
                <a:effectLst/>
                <a:uLnTx/>
                <a:uFillTx/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B3562F"/>
                </a:solidFill>
                <a:effectLst/>
                <a:uLnTx/>
                <a:uFillTx/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 이미지 총합</a:t>
            </a:r>
            <a:endParaRPr lang="en-US" sz="1350" b="1" dirty="0">
              <a:solidFill>
                <a:srgbClr val="B3562F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3854450" y="4650482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-31장</a:t>
            </a:r>
            <a:endParaRPr lang="en-US" sz="1350" dirty="0">
              <a:solidFill>
                <a:srgbClr val="B3562F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5207000" y="4650482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 동일 중복 </a:t>
            </a:r>
            <a:r>
              <a:rPr lang="en-US" altLang="ko-KR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</a:t>
            </a:r>
            <a:r>
              <a:rPr lang="ko-KR" alt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충돌 중복 </a:t>
            </a:r>
            <a:r>
              <a:rPr lang="en-US" altLang="ko-KR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</a:t>
            </a:r>
            <a:r>
              <a:rPr lang="ko-KR" alt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애매한 경계 </a:t>
            </a:r>
            <a:r>
              <a:rPr lang="en-US" altLang="ko-KR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</a:t>
            </a:r>
            <a:r>
              <a:rPr lang="ko-KR" alt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</a:t>
            </a:r>
            <a:r>
              <a:rPr lang="en-US" altLang="ko-KR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1350" b="1" dirty="0">
              <a:solidFill>
                <a:srgbClr val="B3562F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5950" y="5010249"/>
            <a:ext cx="10960101" cy="4717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844550" y="5122268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근접 중복 그룹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3854450" y="5122268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25그룹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207000" y="5122268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삭제하지 않고 같은 split 에 배치</a:t>
            </a:r>
            <a:endParaRPr lang="en-US" sz="1350" dirty="0"/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DE7F4A71-C230-336D-E7D3-E7720BBD8796}"/>
              </a:ext>
            </a:extLst>
          </p:cNvPr>
          <p:cNvSpPr/>
          <p:nvPr/>
        </p:nvSpPr>
        <p:spPr>
          <a:xfrm>
            <a:off x="1238250" y="981075"/>
            <a:ext cx="40383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ko-KR" alt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 </a:t>
            </a:r>
            <a:r>
              <a:rPr lang="en-US" altLang="ko-KR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&amp; </a:t>
            </a:r>
            <a:r>
              <a:rPr lang="ko-KR" alt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정정 결과</a:t>
            </a:r>
            <a:endParaRPr lang="en-US" sz="1500" dirty="0"/>
          </a:p>
        </p:txBody>
      </p:sp>
      <p:sp>
        <p:nvSpPr>
          <p:cNvPr id="58" name="Shape 35">
            <a:extLst>
              <a:ext uri="{FF2B5EF4-FFF2-40B4-BE49-F238E27FC236}">
                <a16:creationId xmlns:a16="http://schemas.microsoft.com/office/drawing/2014/main" id="{9915C7AE-35B5-6D9F-597C-8496EE59F10E}"/>
              </a:ext>
            </a:extLst>
          </p:cNvPr>
          <p:cNvSpPr/>
          <p:nvPr/>
        </p:nvSpPr>
        <p:spPr>
          <a:xfrm>
            <a:off x="615950" y="5479157"/>
            <a:ext cx="10960101" cy="471785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Text 36">
            <a:extLst>
              <a:ext uri="{FF2B5EF4-FFF2-40B4-BE49-F238E27FC236}">
                <a16:creationId xmlns:a16="http://schemas.microsoft.com/office/drawing/2014/main" id="{D0197EA4-8CA0-A699-76D0-AA9B210783E7}"/>
              </a:ext>
            </a:extLst>
          </p:cNvPr>
          <p:cNvSpPr/>
          <p:nvPr/>
        </p:nvSpPr>
        <p:spPr>
          <a:xfrm>
            <a:off x="844550" y="5591175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정정</a:t>
            </a:r>
            <a:endParaRPr lang="en-US" sz="1350" dirty="0"/>
          </a:p>
        </p:txBody>
      </p:sp>
      <p:sp>
        <p:nvSpPr>
          <p:cNvPr id="60" name="Text 37">
            <a:extLst>
              <a:ext uri="{FF2B5EF4-FFF2-40B4-BE49-F238E27FC236}">
                <a16:creationId xmlns:a16="http://schemas.microsoft.com/office/drawing/2014/main" id="{73257EB7-5055-A5C3-7884-99D3E45268CB}"/>
              </a:ext>
            </a:extLst>
          </p:cNvPr>
          <p:cNvSpPr/>
          <p:nvPr/>
        </p:nvSpPr>
        <p:spPr>
          <a:xfrm>
            <a:off x="3854450" y="5591175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46장</a:t>
            </a:r>
            <a:endParaRPr lang="en-US" sz="1350" dirty="0"/>
          </a:p>
        </p:txBody>
      </p:sp>
      <p:sp>
        <p:nvSpPr>
          <p:cNvPr id="61" name="Text 38">
            <a:extLst>
              <a:ext uri="{FF2B5EF4-FFF2-40B4-BE49-F238E27FC236}">
                <a16:creationId xmlns:a16="http://schemas.microsoft.com/office/drawing/2014/main" id="{14B84EDD-5ED4-9387-9B64-F7384A10AD58}"/>
              </a:ext>
            </a:extLst>
          </p:cNvPr>
          <p:cNvSpPr/>
          <p:nvPr/>
        </p:nvSpPr>
        <p:spPr>
          <a:xfrm>
            <a:off x="5207000" y="5591175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 → shoes 43, 그 외 3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</a:rPr>
              <a:t>15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750014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 err="1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</a:t>
            </a:r>
            <a:r>
              <a:rPr lang="en-US" sz="30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30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정정 후 모델 학습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75001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모델·같은 설정(unfreeze, lr=5e-5, 128px)으로 라벨 정정 후 데이터만 다시 학습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2307927"/>
            <a:ext cx="5114925" cy="2196405"/>
          </a:xfrm>
          <a:prstGeom prst="roundRect">
            <a:avLst>
              <a:gd name="adj" fmla="val 607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877642" y="2580977"/>
            <a:ext cx="131335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09527" y="2936577"/>
            <a:ext cx="1666468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0.9629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2647752" y="3532783"/>
            <a:ext cx="11147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 macro-F1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123480" y="3951883"/>
            <a:ext cx="229577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clothes→shoes 8건 · 1위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15025" y="3196530"/>
            <a:ext cx="4381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6467475" y="2307927"/>
            <a:ext cx="5114925" cy="2196405"/>
          </a:xfrm>
          <a:prstGeom prst="roundRect">
            <a:avLst>
              <a:gd name="adj" fmla="val 6071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33804" y="2580977"/>
            <a:ext cx="12959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정정 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67402" y="2936577"/>
            <a:ext cx="1666468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0.9731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8505627" y="3532783"/>
            <a:ext cx="11147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 macro-F1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9643" y="3951883"/>
            <a:ext cx="273964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clothes→shoes 3건 · 공동 3위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600" y="4732933"/>
            <a:ext cx="10972800" cy="874316"/>
          </a:xfrm>
          <a:custGeom>
            <a:avLst/>
            <a:gdLst/>
            <a:ahLst/>
            <a:cxnLst/>
            <a:rect l="l" t="t" r="r" b="b"/>
            <a:pathLst>
              <a:path w="10972800" h="874316">
                <a:moveTo>
                  <a:pt x="0" y="0"/>
                </a:moveTo>
                <a:lnTo>
                  <a:pt x="10877550" y="0"/>
                </a:lnTo>
                <a:arcTo wR="95250" hR="95250" stAng="16200000" swAng="5400000"/>
                <a:lnTo>
                  <a:pt x="10972800" y="779066"/>
                </a:lnTo>
                <a:arcTo wR="95250" hR="95250" stAng="0" swAng="5400000"/>
                <a:lnTo>
                  <a:pt x="0" y="874316"/>
                </a:lnTo>
                <a:lnTo>
                  <a:pt x="0" y="0"/>
                </a:lnTo>
                <a:close/>
              </a:path>
            </a:pathLst>
          </a:cu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09600" y="4732933"/>
            <a:ext cx="57150" cy="874316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76300" y="4999006"/>
            <a:ext cx="3314700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모델을 조금도 바꾸지 않고 라벨만 정정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132384" y="4999006"/>
            <a:ext cx="7467931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(2,318장)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재평가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오분류 쌍보다 압도적으로 많던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clothes→shoes가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공동 3위로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내려</a:t>
            </a:r>
            <a:r>
              <a:rPr lang="ko-KR" alt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764999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비교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7649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베이스라인 CNN vs 전이학습(freeze/unfreeze) — 128px, 검증셋(val) macro-F1 기준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76375"/>
            <a:ext cx="6311900" cy="49625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01700" y="2635746"/>
            <a:ext cx="630047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38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 macro-F1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901700" y="3067546"/>
            <a:ext cx="1864946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Baseline CNN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959277" y="3080246"/>
            <a:ext cx="7463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0.6521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901700" y="3413621"/>
            <a:ext cx="5727700" cy="247650"/>
          </a:xfrm>
          <a:prstGeom prst="roundRect">
            <a:avLst>
              <a:gd name="adj" fmla="val 19231"/>
            </a:avLst>
          </a:pr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01700" y="3413621"/>
            <a:ext cx="3734395" cy="247650"/>
          </a:xfrm>
          <a:prstGeom prst="roundRect">
            <a:avLst>
              <a:gd name="adj" fmla="val 19231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01700" y="3908921"/>
            <a:ext cx="248120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EfficientNetV2-S </a:t>
            </a:r>
            <a:r>
              <a:rPr lang="en-US" sz="142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(백본 동결)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959277" y="3921621"/>
            <a:ext cx="7463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0.8089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901700" y="4254996"/>
            <a:ext cx="5727700" cy="247650"/>
          </a:xfrm>
          <a:prstGeom prst="roundRect">
            <a:avLst>
              <a:gd name="adj" fmla="val 19231"/>
            </a:avLst>
          </a:pr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01700" y="4254996"/>
            <a:ext cx="4633615" cy="247650"/>
          </a:xfrm>
          <a:prstGeom prst="roundRect">
            <a:avLst>
              <a:gd name="adj" fmla="val 19231"/>
            </a:avLst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01700" y="4750296"/>
            <a:ext cx="3030835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EfficientNetV2-S </a:t>
            </a:r>
            <a:r>
              <a:rPr lang="en-US" sz="142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(224px 미세조정)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959277" y="4762996"/>
            <a:ext cx="7463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0.9840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901700" y="5096371"/>
            <a:ext cx="5727700" cy="247650"/>
          </a:xfrm>
          <a:prstGeom prst="roundRect">
            <a:avLst>
              <a:gd name="adj" fmla="val 19231"/>
            </a:avLst>
          </a:pr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01700" y="5096371"/>
            <a:ext cx="5636022" cy="247650"/>
          </a:xfrm>
          <a:prstGeom prst="roundRect">
            <a:avLst>
              <a:gd name="adj" fmla="val 19231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150100" y="1476375"/>
            <a:ext cx="4432300" cy="4962525"/>
          </a:xfrm>
          <a:prstGeom prst="roundRect">
            <a:avLst>
              <a:gd name="adj" fmla="val 3117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423150" y="2105025"/>
            <a:ext cx="42748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6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베이스 라인 대비 </a:t>
            </a:r>
            <a:r>
              <a:rPr lang="en-US" altLang="ko-KR" sz="1650" b="1" dirty="0" err="1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</a:t>
            </a:r>
            <a:r>
              <a:rPr lang="en-US" altLang="ko-KR" sz="16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macro-F1 score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423150" y="2524125"/>
            <a:ext cx="42748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+0.32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7423150" y="3158430"/>
            <a:ext cx="4002786" cy="586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ImageNet 128만 장에서 학습한 특징이 쓰레기 사진에도 그대로 적용됐다.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423150" y="3897411"/>
            <a:ext cx="3886200" cy="9525"/>
          </a:xfrm>
          <a:prstGeom prst="rect">
            <a:avLst/>
          </a:prstGeom>
          <a:solidFill>
            <a:srgbClr val="CFDCC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423150" y="3999667"/>
            <a:ext cx="999392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채택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423150" y="4350741"/>
            <a:ext cx="4002786" cy="1405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EfficientNetV2-S unfreeze · </a:t>
            </a:r>
            <a:r>
              <a:rPr lang="en-US" sz="135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lr</a:t>
            </a: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5e-5 (128px </a:t>
            </a:r>
            <a:r>
              <a:rPr lang="en-US" sz="135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</a:t>
            </a: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-&gt;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해상도를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224px로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올리면서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학습률도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764999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3000" b="1" kern="0" spc="-30" dirty="0">
                <a:solidFill>
                  <a:srgbClr val="1E3A28"/>
                </a:solidFill>
                <a:latin typeface="Noto Sans CJK KR" pitchFamily="34" charset="0"/>
              </a:rPr>
              <a:t>해상도 튜닝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7649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vs 224px— 128px, 검증셋(val) macro-F1 기준</a:t>
            </a:r>
            <a:endParaRPr lang="en-US" sz="1500" dirty="0"/>
          </a:p>
        </p:txBody>
      </p:sp>
      <p:sp>
        <p:nvSpPr>
          <p:cNvPr id="113" name="Shape 4">
            <a:extLst>
              <a:ext uri="{FF2B5EF4-FFF2-40B4-BE49-F238E27FC236}">
                <a16:creationId xmlns:a16="http://schemas.microsoft.com/office/drawing/2014/main" id="{C4BDA411-D8DE-EF59-D474-A3B85652656F}"/>
              </a:ext>
            </a:extLst>
          </p:cNvPr>
          <p:cNvSpPr/>
          <p:nvPr/>
        </p:nvSpPr>
        <p:spPr>
          <a:xfrm>
            <a:off x="609600" y="1476375"/>
            <a:ext cx="10972800" cy="4021748"/>
          </a:xfrm>
          <a:prstGeom prst="roundRect">
            <a:avLst>
              <a:gd name="adj" fmla="val 3405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</p:sp>
      <p:sp>
        <p:nvSpPr>
          <p:cNvPr id="114" name="Shape 5">
            <a:extLst>
              <a:ext uri="{FF2B5EF4-FFF2-40B4-BE49-F238E27FC236}">
                <a16:creationId xmlns:a16="http://schemas.microsoft.com/office/drawing/2014/main" id="{629C9A37-E192-A550-0B7E-1F3B80009BFB}"/>
              </a:ext>
            </a:extLst>
          </p:cNvPr>
          <p:cNvSpPr/>
          <p:nvPr/>
        </p:nvSpPr>
        <p:spPr>
          <a:xfrm>
            <a:off x="901700" y="1738313"/>
            <a:ext cx="209550" cy="104775"/>
          </a:xfrm>
          <a:prstGeom prst="roundRect">
            <a:avLst>
              <a:gd name="adj" fmla="val 18182"/>
            </a:avLst>
          </a:prstGeom>
          <a:solidFill>
            <a:srgbClr val="A8CE7E"/>
          </a:solidFill>
          <a:ln/>
        </p:spPr>
      </p:sp>
      <p:sp>
        <p:nvSpPr>
          <p:cNvPr id="115" name="Text 6">
            <a:extLst>
              <a:ext uri="{FF2B5EF4-FFF2-40B4-BE49-F238E27FC236}">
                <a16:creationId xmlns:a16="http://schemas.microsoft.com/office/drawing/2014/main" id="{4AA85940-3AF5-5F26-D9C3-92C2BA73B0B9}"/>
              </a:ext>
            </a:extLst>
          </p:cNvPr>
          <p:cNvSpPr/>
          <p:nvPr/>
        </p:nvSpPr>
        <p:spPr>
          <a:xfrm>
            <a:off x="1196975" y="1673225"/>
            <a:ext cx="52337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128px</a:t>
            </a:r>
            <a:endParaRPr lang="en-US" sz="1275" dirty="0"/>
          </a:p>
        </p:txBody>
      </p:sp>
      <p:sp>
        <p:nvSpPr>
          <p:cNvPr id="116" name="Shape 7">
            <a:extLst>
              <a:ext uri="{FF2B5EF4-FFF2-40B4-BE49-F238E27FC236}">
                <a16:creationId xmlns:a16="http://schemas.microsoft.com/office/drawing/2014/main" id="{AACFCD5F-831A-A9D4-8076-7592ED755290}"/>
              </a:ext>
            </a:extLst>
          </p:cNvPr>
          <p:cNvSpPr/>
          <p:nvPr/>
        </p:nvSpPr>
        <p:spPr>
          <a:xfrm>
            <a:off x="1872754" y="1738313"/>
            <a:ext cx="209550" cy="104775"/>
          </a:xfrm>
          <a:prstGeom prst="roundRect">
            <a:avLst>
              <a:gd name="adj" fmla="val 18182"/>
            </a:avLst>
          </a:prstGeom>
          <a:solidFill>
            <a:srgbClr val="2A4A33"/>
          </a:solidFill>
          <a:ln/>
        </p:spPr>
      </p:sp>
      <p:sp>
        <p:nvSpPr>
          <p:cNvPr id="117" name="Text 8">
            <a:extLst>
              <a:ext uri="{FF2B5EF4-FFF2-40B4-BE49-F238E27FC236}">
                <a16:creationId xmlns:a16="http://schemas.microsoft.com/office/drawing/2014/main" id="{E8441D1E-1B7F-E40E-093A-6B2FB4AEABD4}"/>
              </a:ext>
            </a:extLst>
          </p:cNvPr>
          <p:cNvSpPr/>
          <p:nvPr/>
        </p:nvSpPr>
        <p:spPr>
          <a:xfrm>
            <a:off x="2168029" y="1673225"/>
            <a:ext cx="52337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224px</a:t>
            </a:r>
            <a:endParaRPr lang="en-US" sz="1275" dirty="0"/>
          </a:p>
        </p:txBody>
      </p:sp>
      <p:sp>
        <p:nvSpPr>
          <p:cNvPr id="118" name="Text 9">
            <a:extLst>
              <a:ext uri="{FF2B5EF4-FFF2-40B4-BE49-F238E27FC236}">
                <a16:creationId xmlns:a16="http://schemas.microsoft.com/office/drawing/2014/main" id="{FEC32EBE-030F-A9C1-6562-ECB9A10D2A37}"/>
              </a:ext>
            </a:extLst>
          </p:cNvPr>
          <p:cNvSpPr/>
          <p:nvPr/>
        </p:nvSpPr>
        <p:spPr>
          <a:xfrm>
            <a:off x="9418141" y="1679575"/>
            <a:ext cx="205937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가로축 0.90 ~ 1.00 구간 확대</a:t>
            </a:r>
            <a:endParaRPr lang="en-US" sz="1200" dirty="0"/>
          </a:p>
        </p:txBody>
      </p:sp>
      <p:sp>
        <p:nvSpPr>
          <p:cNvPr id="119" name="Text 10">
            <a:extLst>
              <a:ext uri="{FF2B5EF4-FFF2-40B4-BE49-F238E27FC236}">
                <a16:creationId xmlns:a16="http://schemas.microsoft.com/office/drawing/2014/main" id="{F73C9A9C-0408-2465-F8EC-3C07BF885F0A}"/>
              </a:ext>
            </a:extLst>
          </p:cNvPr>
          <p:cNvSpPr/>
          <p:nvPr/>
        </p:nvSpPr>
        <p:spPr>
          <a:xfrm>
            <a:off x="901700" y="2041525"/>
            <a:ext cx="61763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275" dirty="0"/>
          </a:p>
        </p:txBody>
      </p:sp>
      <p:sp>
        <p:nvSpPr>
          <p:cNvPr id="120" name="Text 11">
            <a:extLst>
              <a:ext uri="{FF2B5EF4-FFF2-40B4-BE49-F238E27FC236}">
                <a16:creationId xmlns:a16="http://schemas.microsoft.com/office/drawing/2014/main" id="{0C9A8703-AB98-4B9E-B999-56B60385657A}"/>
              </a:ext>
            </a:extLst>
          </p:cNvPr>
          <p:cNvSpPr/>
          <p:nvPr/>
        </p:nvSpPr>
        <p:spPr>
          <a:xfrm>
            <a:off x="4662289" y="20415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0.9789 → </a:t>
            </a:r>
            <a:r>
              <a:rPr lang="en-US" sz="127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0.9859</a:t>
            </a:r>
            <a:endParaRPr lang="en-US" sz="1275" dirty="0"/>
          </a:p>
        </p:txBody>
      </p:sp>
      <p:sp>
        <p:nvSpPr>
          <p:cNvPr id="121" name="Shape 12">
            <a:extLst>
              <a:ext uri="{FF2B5EF4-FFF2-40B4-BE49-F238E27FC236}">
                <a16:creationId xmlns:a16="http://schemas.microsoft.com/office/drawing/2014/main" id="{98D41CF6-6DC0-2339-E9D2-0BAA3BF681CD}"/>
              </a:ext>
            </a:extLst>
          </p:cNvPr>
          <p:cNvSpPr/>
          <p:nvPr/>
        </p:nvSpPr>
        <p:spPr>
          <a:xfrm>
            <a:off x="901700" y="23241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22" name="Shape 13">
            <a:extLst>
              <a:ext uri="{FF2B5EF4-FFF2-40B4-BE49-F238E27FC236}">
                <a16:creationId xmlns:a16="http://schemas.microsoft.com/office/drawing/2014/main" id="{61583F92-026B-F1B6-4524-5D249207CF12}"/>
              </a:ext>
            </a:extLst>
          </p:cNvPr>
          <p:cNvSpPr/>
          <p:nvPr/>
        </p:nvSpPr>
        <p:spPr>
          <a:xfrm>
            <a:off x="901700" y="2324100"/>
            <a:ext cx="3932932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</p:sp>
      <p:sp>
        <p:nvSpPr>
          <p:cNvPr id="123" name="Shape 14">
            <a:extLst>
              <a:ext uri="{FF2B5EF4-FFF2-40B4-BE49-F238E27FC236}">
                <a16:creationId xmlns:a16="http://schemas.microsoft.com/office/drawing/2014/main" id="{641E5F25-41A4-0C2B-C26D-1877CF1F6EB9}"/>
              </a:ext>
            </a:extLst>
          </p:cNvPr>
          <p:cNvSpPr/>
          <p:nvPr/>
        </p:nvSpPr>
        <p:spPr>
          <a:xfrm>
            <a:off x="901700" y="24669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24" name="Shape 15">
            <a:extLst>
              <a:ext uri="{FF2B5EF4-FFF2-40B4-BE49-F238E27FC236}">
                <a16:creationId xmlns:a16="http://schemas.microsoft.com/office/drawing/2014/main" id="{564A2A67-BB72-94DC-A85E-154AFF5EC039}"/>
              </a:ext>
            </a:extLst>
          </p:cNvPr>
          <p:cNvSpPr/>
          <p:nvPr/>
        </p:nvSpPr>
        <p:spPr>
          <a:xfrm>
            <a:off x="901700" y="2466975"/>
            <a:ext cx="4281885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</p:sp>
      <p:sp>
        <p:nvSpPr>
          <p:cNvPr id="125" name="Text 16">
            <a:extLst>
              <a:ext uri="{FF2B5EF4-FFF2-40B4-BE49-F238E27FC236}">
                <a16:creationId xmlns:a16="http://schemas.microsoft.com/office/drawing/2014/main" id="{CA6F4E83-8122-E3D0-95C9-9F7DD1B58A30}"/>
              </a:ext>
            </a:extLst>
          </p:cNvPr>
          <p:cNvSpPr/>
          <p:nvPr/>
        </p:nvSpPr>
        <p:spPr>
          <a:xfrm>
            <a:off x="6305550" y="2041525"/>
            <a:ext cx="94267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green-glass</a:t>
            </a:r>
            <a:endParaRPr lang="en-US" sz="1275" dirty="0"/>
          </a:p>
        </p:txBody>
      </p:sp>
      <p:sp>
        <p:nvSpPr>
          <p:cNvPr id="126" name="Text 17">
            <a:extLst>
              <a:ext uri="{FF2B5EF4-FFF2-40B4-BE49-F238E27FC236}">
                <a16:creationId xmlns:a16="http://schemas.microsoft.com/office/drawing/2014/main" id="{7F370D7F-3E1F-70CE-E8C4-A25CF2215944}"/>
              </a:ext>
            </a:extLst>
          </p:cNvPr>
          <p:cNvSpPr/>
          <p:nvPr/>
        </p:nvSpPr>
        <p:spPr>
          <a:xfrm>
            <a:off x="10066139" y="20415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0.9838 → </a:t>
            </a:r>
            <a:r>
              <a:rPr lang="en-US" sz="127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0.9892</a:t>
            </a:r>
            <a:endParaRPr lang="en-US" sz="1275" dirty="0"/>
          </a:p>
        </p:txBody>
      </p:sp>
      <p:sp>
        <p:nvSpPr>
          <p:cNvPr id="127" name="Shape 18">
            <a:extLst>
              <a:ext uri="{FF2B5EF4-FFF2-40B4-BE49-F238E27FC236}">
                <a16:creationId xmlns:a16="http://schemas.microsoft.com/office/drawing/2014/main" id="{E316CC00-0179-7229-7882-CE557F7B1AEE}"/>
              </a:ext>
            </a:extLst>
          </p:cNvPr>
          <p:cNvSpPr/>
          <p:nvPr/>
        </p:nvSpPr>
        <p:spPr>
          <a:xfrm>
            <a:off x="6305550" y="23241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28" name="Shape 19">
            <a:extLst>
              <a:ext uri="{FF2B5EF4-FFF2-40B4-BE49-F238E27FC236}">
                <a16:creationId xmlns:a16="http://schemas.microsoft.com/office/drawing/2014/main" id="{A134434A-88C1-BDF3-4C7C-22B0D087FDC3}"/>
              </a:ext>
            </a:extLst>
          </p:cNvPr>
          <p:cNvSpPr/>
          <p:nvPr/>
        </p:nvSpPr>
        <p:spPr>
          <a:xfrm>
            <a:off x="6305550" y="2324100"/>
            <a:ext cx="4177209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</p:sp>
      <p:sp>
        <p:nvSpPr>
          <p:cNvPr id="129" name="Shape 20">
            <a:extLst>
              <a:ext uri="{FF2B5EF4-FFF2-40B4-BE49-F238E27FC236}">
                <a16:creationId xmlns:a16="http://schemas.microsoft.com/office/drawing/2014/main" id="{2BA23063-77AD-4377-80CC-495836E7CA6C}"/>
              </a:ext>
            </a:extLst>
          </p:cNvPr>
          <p:cNvSpPr/>
          <p:nvPr/>
        </p:nvSpPr>
        <p:spPr>
          <a:xfrm>
            <a:off x="6305550" y="24669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30" name="Shape 21">
            <a:extLst>
              <a:ext uri="{FF2B5EF4-FFF2-40B4-BE49-F238E27FC236}">
                <a16:creationId xmlns:a16="http://schemas.microsoft.com/office/drawing/2014/main" id="{CE2A4B62-45CC-E9CA-650A-4A82769FCEB2}"/>
              </a:ext>
            </a:extLst>
          </p:cNvPr>
          <p:cNvSpPr/>
          <p:nvPr/>
        </p:nvSpPr>
        <p:spPr>
          <a:xfrm>
            <a:off x="6305550" y="2466975"/>
            <a:ext cx="4446389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</p:sp>
      <p:sp>
        <p:nvSpPr>
          <p:cNvPr id="131" name="Text 22">
            <a:extLst>
              <a:ext uri="{FF2B5EF4-FFF2-40B4-BE49-F238E27FC236}">
                <a16:creationId xmlns:a16="http://schemas.microsoft.com/office/drawing/2014/main" id="{7E7FC3A3-F2E2-9ABD-69D9-FD399D45D6F9}"/>
              </a:ext>
            </a:extLst>
          </p:cNvPr>
          <p:cNvSpPr/>
          <p:nvPr/>
        </p:nvSpPr>
        <p:spPr>
          <a:xfrm>
            <a:off x="901700" y="2600325"/>
            <a:ext cx="816372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</a:t>
            </a:r>
            <a:endParaRPr lang="en-US" sz="1275" dirty="0"/>
          </a:p>
        </p:txBody>
      </p:sp>
      <p:sp>
        <p:nvSpPr>
          <p:cNvPr id="132" name="Text 23">
            <a:extLst>
              <a:ext uri="{FF2B5EF4-FFF2-40B4-BE49-F238E27FC236}">
                <a16:creationId xmlns:a16="http://schemas.microsoft.com/office/drawing/2014/main" id="{AB49E3CF-0AE2-3363-FB54-FADA29CF0F1B}"/>
              </a:ext>
            </a:extLst>
          </p:cNvPr>
          <p:cNvSpPr/>
          <p:nvPr/>
        </p:nvSpPr>
        <p:spPr>
          <a:xfrm>
            <a:off x="4662289" y="26003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0.9899 → </a:t>
            </a:r>
            <a:r>
              <a:rPr lang="en-US" sz="127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0.9966</a:t>
            </a:r>
            <a:endParaRPr lang="en-US" sz="1275" dirty="0"/>
          </a:p>
        </p:txBody>
      </p:sp>
      <p:sp>
        <p:nvSpPr>
          <p:cNvPr id="133" name="Shape 24">
            <a:extLst>
              <a:ext uri="{FF2B5EF4-FFF2-40B4-BE49-F238E27FC236}">
                <a16:creationId xmlns:a16="http://schemas.microsoft.com/office/drawing/2014/main" id="{35BB94A0-5A8C-99A7-9158-38CAC787D1C7}"/>
              </a:ext>
            </a:extLst>
          </p:cNvPr>
          <p:cNvSpPr/>
          <p:nvPr/>
        </p:nvSpPr>
        <p:spPr>
          <a:xfrm>
            <a:off x="901700" y="28829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34" name="Shape 25">
            <a:extLst>
              <a:ext uri="{FF2B5EF4-FFF2-40B4-BE49-F238E27FC236}">
                <a16:creationId xmlns:a16="http://schemas.microsoft.com/office/drawing/2014/main" id="{FDAAA7B9-1051-EFF7-3492-5EDE0267CA27}"/>
              </a:ext>
            </a:extLst>
          </p:cNvPr>
          <p:cNvSpPr/>
          <p:nvPr/>
        </p:nvSpPr>
        <p:spPr>
          <a:xfrm>
            <a:off x="901700" y="2882900"/>
            <a:ext cx="4481215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</p:sp>
      <p:sp>
        <p:nvSpPr>
          <p:cNvPr id="135" name="Shape 26">
            <a:extLst>
              <a:ext uri="{FF2B5EF4-FFF2-40B4-BE49-F238E27FC236}">
                <a16:creationId xmlns:a16="http://schemas.microsoft.com/office/drawing/2014/main" id="{06687541-764A-9E1B-AE8F-2C9131824F13}"/>
              </a:ext>
            </a:extLst>
          </p:cNvPr>
          <p:cNvSpPr/>
          <p:nvPr/>
        </p:nvSpPr>
        <p:spPr>
          <a:xfrm>
            <a:off x="901700" y="30257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36" name="Shape 27">
            <a:extLst>
              <a:ext uri="{FF2B5EF4-FFF2-40B4-BE49-F238E27FC236}">
                <a16:creationId xmlns:a16="http://schemas.microsoft.com/office/drawing/2014/main" id="{267E03C0-B0DF-7491-8331-D1299984B8E1}"/>
              </a:ext>
            </a:extLst>
          </p:cNvPr>
          <p:cNvSpPr/>
          <p:nvPr/>
        </p:nvSpPr>
        <p:spPr>
          <a:xfrm>
            <a:off x="901700" y="3025775"/>
            <a:ext cx="4815185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</p:sp>
      <p:sp>
        <p:nvSpPr>
          <p:cNvPr id="137" name="Text 28">
            <a:extLst>
              <a:ext uri="{FF2B5EF4-FFF2-40B4-BE49-F238E27FC236}">
                <a16:creationId xmlns:a16="http://schemas.microsoft.com/office/drawing/2014/main" id="{552296EB-C9DA-E534-5A2C-C263163052BC}"/>
              </a:ext>
            </a:extLst>
          </p:cNvPr>
          <p:cNvSpPr/>
          <p:nvPr/>
        </p:nvSpPr>
        <p:spPr>
          <a:xfrm>
            <a:off x="6305550" y="2644775"/>
            <a:ext cx="47218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</a:t>
            </a:r>
            <a:endParaRPr lang="en-US" sz="1275" dirty="0"/>
          </a:p>
        </p:txBody>
      </p:sp>
      <p:sp>
        <p:nvSpPr>
          <p:cNvPr id="138" name="Text 29">
            <a:extLst>
              <a:ext uri="{FF2B5EF4-FFF2-40B4-BE49-F238E27FC236}">
                <a16:creationId xmlns:a16="http://schemas.microsoft.com/office/drawing/2014/main" id="{94457457-BBDC-048B-6A18-1290CE3732D7}"/>
              </a:ext>
            </a:extLst>
          </p:cNvPr>
          <p:cNvSpPr/>
          <p:nvPr/>
        </p:nvSpPr>
        <p:spPr>
          <a:xfrm>
            <a:off x="10066139" y="26003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0.9333 → </a:t>
            </a:r>
            <a:r>
              <a:rPr lang="en-US" sz="1275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0.9617</a:t>
            </a:r>
            <a:endParaRPr lang="en-US" sz="1275" dirty="0"/>
          </a:p>
        </p:txBody>
      </p:sp>
      <p:sp>
        <p:nvSpPr>
          <p:cNvPr id="139" name="Shape 30">
            <a:extLst>
              <a:ext uri="{FF2B5EF4-FFF2-40B4-BE49-F238E27FC236}">
                <a16:creationId xmlns:a16="http://schemas.microsoft.com/office/drawing/2014/main" id="{B914445A-A8FB-CDBE-823F-DAEFF49C5BFF}"/>
              </a:ext>
            </a:extLst>
          </p:cNvPr>
          <p:cNvSpPr/>
          <p:nvPr/>
        </p:nvSpPr>
        <p:spPr>
          <a:xfrm>
            <a:off x="6305550" y="28829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40" name="Shape 31">
            <a:extLst>
              <a:ext uri="{FF2B5EF4-FFF2-40B4-BE49-F238E27FC236}">
                <a16:creationId xmlns:a16="http://schemas.microsoft.com/office/drawing/2014/main" id="{F4FE1115-3F33-68ED-2160-9735C91A9341}"/>
              </a:ext>
            </a:extLst>
          </p:cNvPr>
          <p:cNvSpPr/>
          <p:nvPr/>
        </p:nvSpPr>
        <p:spPr>
          <a:xfrm>
            <a:off x="6305550" y="2882900"/>
            <a:ext cx="1659831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</p:sp>
      <p:sp>
        <p:nvSpPr>
          <p:cNvPr id="141" name="Shape 32">
            <a:extLst>
              <a:ext uri="{FF2B5EF4-FFF2-40B4-BE49-F238E27FC236}">
                <a16:creationId xmlns:a16="http://schemas.microsoft.com/office/drawing/2014/main" id="{AB6DEF8E-0338-9042-D5B1-C318D7955DA2}"/>
              </a:ext>
            </a:extLst>
          </p:cNvPr>
          <p:cNvSpPr/>
          <p:nvPr/>
        </p:nvSpPr>
        <p:spPr>
          <a:xfrm>
            <a:off x="6305550" y="30257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42" name="Shape 33">
            <a:extLst>
              <a:ext uri="{FF2B5EF4-FFF2-40B4-BE49-F238E27FC236}">
                <a16:creationId xmlns:a16="http://schemas.microsoft.com/office/drawing/2014/main" id="{3C891F2E-CCBF-311F-8832-DA0ED6376287}"/>
              </a:ext>
            </a:extLst>
          </p:cNvPr>
          <p:cNvSpPr/>
          <p:nvPr/>
        </p:nvSpPr>
        <p:spPr>
          <a:xfrm>
            <a:off x="6305550" y="3025775"/>
            <a:ext cx="3075583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</p:sp>
      <p:sp>
        <p:nvSpPr>
          <p:cNvPr id="143" name="Text 34">
            <a:extLst>
              <a:ext uri="{FF2B5EF4-FFF2-40B4-BE49-F238E27FC236}">
                <a16:creationId xmlns:a16="http://schemas.microsoft.com/office/drawing/2014/main" id="{0C26EF63-24EE-9CE1-3F25-A902AD8A9C41}"/>
              </a:ext>
            </a:extLst>
          </p:cNvPr>
          <p:cNvSpPr/>
          <p:nvPr/>
        </p:nvSpPr>
        <p:spPr>
          <a:xfrm>
            <a:off x="901700" y="3203575"/>
            <a:ext cx="94922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dirty="0">
                <a:latin typeface="Arial" pitchFamily="34" charset="0"/>
                <a:ea typeface="Arial" pitchFamily="34" charset="-122"/>
                <a:cs typeface="Arial" pitchFamily="34" charset="-120"/>
              </a:rPr>
              <a:t>brown-glass</a:t>
            </a:r>
            <a:endParaRPr lang="en-US" sz="1275" dirty="0"/>
          </a:p>
        </p:txBody>
      </p:sp>
      <p:sp>
        <p:nvSpPr>
          <p:cNvPr id="144" name="Text 35">
            <a:extLst>
              <a:ext uri="{FF2B5EF4-FFF2-40B4-BE49-F238E27FC236}">
                <a16:creationId xmlns:a16="http://schemas.microsoft.com/office/drawing/2014/main" id="{4A9AFFB1-A5A1-FD69-941C-5D593BA35672}"/>
              </a:ext>
            </a:extLst>
          </p:cNvPr>
          <p:cNvSpPr/>
          <p:nvPr/>
        </p:nvSpPr>
        <p:spPr>
          <a:xfrm>
            <a:off x="4662289" y="31591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0.9626 → </a:t>
            </a:r>
            <a:r>
              <a:rPr lang="en-US" sz="127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0.9840</a:t>
            </a:r>
            <a:endParaRPr lang="en-US" sz="1275" dirty="0"/>
          </a:p>
        </p:txBody>
      </p:sp>
      <p:sp>
        <p:nvSpPr>
          <p:cNvPr id="145" name="Shape 36">
            <a:extLst>
              <a:ext uri="{FF2B5EF4-FFF2-40B4-BE49-F238E27FC236}">
                <a16:creationId xmlns:a16="http://schemas.microsoft.com/office/drawing/2014/main" id="{BCA7CE8F-13EE-D3C2-1A4B-2411AF0410ED}"/>
              </a:ext>
            </a:extLst>
          </p:cNvPr>
          <p:cNvSpPr/>
          <p:nvPr/>
        </p:nvSpPr>
        <p:spPr>
          <a:xfrm>
            <a:off x="901700" y="34417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46" name="Shape 37">
            <a:extLst>
              <a:ext uri="{FF2B5EF4-FFF2-40B4-BE49-F238E27FC236}">
                <a16:creationId xmlns:a16="http://schemas.microsoft.com/office/drawing/2014/main" id="{958E2F7E-E28A-2166-586E-3F078552C35A}"/>
              </a:ext>
            </a:extLst>
          </p:cNvPr>
          <p:cNvSpPr/>
          <p:nvPr/>
        </p:nvSpPr>
        <p:spPr>
          <a:xfrm>
            <a:off x="901700" y="3441700"/>
            <a:ext cx="3120430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</p:sp>
      <p:sp>
        <p:nvSpPr>
          <p:cNvPr id="147" name="Shape 38">
            <a:extLst>
              <a:ext uri="{FF2B5EF4-FFF2-40B4-BE49-F238E27FC236}">
                <a16:creationId xmlns:a16="http://schemas.microsoft.com/office/drawing/2014/main" id="{CC24FDE9-E0E3-A292-A88B-699514D069ED}"/>
              </a:ext>
            </a:extLst>
          </p:cNvPr>
          <p:cNvSpPr/>
          <p:nvPr/>
        </p:nvSpPr>
        <p:spPr>
          <a:xfrm>
            <a:off x="901700" y="35845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48" name="Shape 39">
            <a:extLst>
              <a:ext uri="{FF2B5EF4-FFF2-40B4-BE49-F238E27FC236}">
                <a16:creationId xmlns:a16="http://schemas.microsoft.com/office/drawing/2014/main" id="{1063E3AD-3D6F-FA37-C37E-9D7D6B0FE12C}"/>
              </a:ext>
            </a:extLst>
          </p:cNvPr>
          <p:cNvSpPr/>
          <p:nvPr/>
        </p:nvSpPr>
        <p:spPr>
          <a:xfrm>
            <a:off x="901700" y="3584575"/>
            <a:ext cx="4187130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</p:sp>
      <p:sp>
        <p:nvSpPr>
          <p:cNvPr id="149" name="Text 40">
            <a:extLst>
              <a:ext uri="{FF2B5EF4-FFF2-40B4-BE49-F238E27FC236}">
                <a16:creationId xmlns:a16="http://schemas.microsoft.com/office/drawing/2014/main" id="{A57834BD-7CA1-F3BA-404B-43DE32EC3381}"/>
              </a:ext>
            </a:extLst>
          </p:cNvPr>
          <p:cNvSpPr/>
          <p:nvPr/>
        </p:nvSpPr>
        <p:spPr>
          <a:xfrm>
            <a:off x="6305550" y="3159125"/>
            <a:ext cx="51762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1275" dirty="0"/>
          </a:p>
        </p:txBody>
      </p:sp>
      <p:sp>
        <p:nvSpPr>
          <p:cNvPr id="150" name="Text 41">
            <a:extLst>
              <a:ext uri="{FF2B5EF4-FFF2-40B4-BE49-F238E27FC236}">
                <a16:creationId xmlns:a16="http://schemas.microsoft.com/office/drawing/2014/main" id="{F84B4003-3A3E-F6F7-DBD8-74CD8F9DDF43}"/>
              </a:ext>
            </a:extLst>
          </p:cNvPr>
          <p:cNvSpPr/>
          <p:nvPr/>
        </p:nvSpPr>
        <p:spPr>
          <a:xfrm>
            <a:off x="10066139" y="31591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0.9659 → </a:t>
            </a:r>
            <a:r>
              <a:rPr lang="en-US" sz="127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0.9745</a:t>
            </a:r>
            <a:endParaRPr lang="en-US" sz="1275" dirty="0"/>
          </a:p>
        </p:txBody>
      </p:sp>
      <p:sp>
        <p:nvSpPr>
          <p:cNvPr id="151" name="Shape 42">
            <a:extLst>
              <a:ext uri="{FF2B5EF4-FFF2-40B4-BE49-F238E27FC236}">
                <a16:creationId xmlns:a16="http://schemas.microsoft.com/office/drawing/2014/main" id="{EA7A9F53-C8DF-CC2D-6A4F-291DD578A2AE}"/>
              </a:ext>
            </a:extLst>
          </p:cNvPr>
          <p:cNvSpPr/>
          <p:nvPr/>
        </p:nvSpPr>
        <p:spPr>
          <a:xfrm>
            <a:off x="6305550" y="34417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52" name="Shape 43">
            <a:extLst>
              <a:ext uri="{FF2B5EF4-FFF2-40B4-BE49-F238E27FC236}">
                <a16:creationId xmlns:a16="http://schemas.microsoft.com/office/drawing/2014/main" id="{5D126D15-6781-0925-B4FE-2CC70A77C750}"/>
              </a:ext>
            </a:extLst>
          </p:cNvPr>
          <p:cNvSpPr/>
          <p:nvPr/>
        </p:nvSpPr>
        <p:spPr>
          <a:xfrm>
            <a:off x="6305550" y="3441700"/>
            <a:ext cx="3284934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</p:sp>
      <p:sp>
        <p:nvSpPr>
          <p:cNvPr id="153" name="Shape 44">
            <a:extLst>
              <a:ext uri="{FF2B5EF4-FFF2-40B4-BE49-F238E27FC236}">
                <a16:creationId xmlns:a16="http://schemas.microsoft.com/office/drawing/2014/main" id="{0B25B4C9-90FB-B533-7303-216E691C9DEF}"/>
              </a:ext>
            </a:extLst>
          </p:cNvPr>
          <p:cNvSpPr/>
          <p:nvPr/>
        </p:nvSpPr>
        <p:spPr>
          <a:xfrm>
            <a:off x="6305550" y="35845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54" name="Shape 45">
            <a:extLst>
              <a:ext uri="{FF2B5EF4-FFF2-40B4-BE49-F238E27FC236}">
                <a16:creationId xmlns:a16="http://schemas.microsoft.com/office/drawing/2014/main" id="{14B12345-53AA-53BE-4547-B71DD4A68575}"/>
              </a:ext>
            </a:extLst>
          </p:cNvPr>
          <p:cNvSpPr/>
          <p:nvPr/>
        </p:nvSpPr>
        <p:spPr>
          <a:xfrm>
            <a:off x="6305550" y="3584575"/>
            <a:ext cx="3713559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</p:sp>
      <p:sp>
        <p:nvSpPr>
          <p:cNvPr id="155" name="Text 46">
            <a:extLst>
              <a:ext uri="{FF2B5EF4-FFF2-40B4-BE49-F238E27FC236}">
                <a16:creationId xmlns:a16="http://schemas.microsoft.com/office/drawing/2014/main" id="{81EC8C08-CEE0-1EC6-EBE2-88B78578447B}"/>
              </a:ext>
            </a:extLst>
          </p:cNvPr>
          <p:cNvSpPr/>
          <p:nvPr/>
        </p:nvSpPr>
        <p:spPr>
          <a:xfrm>
            <a:off x="901700" y="3762375"/>
            <a:ext cx="805359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cardboard</a:t>
            </a:r>
            <a:endParaRPr lang="en-US" sz="1275" dirty="0"/>
          </a:p>
        </p:txBody>
      </p:sp>
      <p:sp>
        <p:nvSpPr>
          <p:cNvPr id="156" name="Text 47">
            <a:extLst>
              <a:ext uri="{FF2B5EF4-FFF2-40B4-BE49-F238E27FC236}">
                <a16:creationId xmlns:a16="http://schemas.microsoft.com/office/drawing/2014/main" id="{E184205E-2B3B-F6DE-A884-AEE7C94D3B51}"/>
              </a:ext>
            </a:extLst>
          </p:cNvPr>
          <p:cNvSpPr/>
          <p:nvPr/>
        </p:nvSpPr>
        <p:spPr>
          <a:xfrm>
            <a:off x="4662289" y="37179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0.9579 → </a:t>
            </a:r>
            <a:r>
              <a:rPr lang="en-US" sz="1275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0.9742</a:t>
            </a:r>
            <a:endParaRPr lang="en-US" sz="1275" dirty="0"/>
          </a:p>
        </p:txBody>
      </p:sp>
      <p:sp>
        <p:nvSpPr>
          <p:cNvPr id="157" name="Shape 48">
            <a:extLst>
              <a:ext uri="{FF2B5EF4-FFF2-40B4-BE49-F238E27FC236}">
                <a16:creationId xmlns:a16="http://schemas.microsoft.com/office/drawing/2014/main" id="{095E2426-6EA6-DD4D-563E-C343D3F11296}"/>
              </a:ext>
            </a:extLst>
          </p:cNvPr>
          <p:cNvSpPr/>
          <p:nvPr/>
        </p:nvSpPr>
        <p:spPr>
          <a:xfrm>
            <a:off x="901700" y="40005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58" name="Shape 49">
            <a:extLst>
              <a:ext uri="{FF2B5EF4-FFF2-40B4-BE49-F238E27FC236}">
                <a16:creationId xmlns:a16="http://schemas.microsoft.com/office/drawing/2014/main" id="{A03063E5-D2E5-CAFA-130E-C743B74F2F08}"/>
              </a:ext>
            </a:extLst>
          </p:cNvPr>
          <p:cNvSpPr/>
          <p:nvPr/>
        </p:nvSpPr>
        <p:spPr>
          <a:xfrm>
            <a:off x="901700" y="4000500"/>
            <a:ext cx="2886075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</p:sp>
      <p:sp>
        <p:nvSpPr>
          <p:cNvPr id="159" name="Shape 50">
            <a:extLst>
              <a:ext uri="{FF2B5EF4-FFF2-40B4-BE49-F238E27FC236}">
                <a16:creationId xmlns:a16="http://schemas.microsoft.com/office/drawing/2014/main" id="{0F8ADEB7-52C4-C97F-8204-EC568A25B60E}"/>
              </a:ext>
            </a:extLst>
          </p:cNvPr>
          <p:cNvSpPr/>
          <p:nvPr/>
        </p:nvSpPr>
        <p:spPr>
          <a:xfrm>
            <a:off x="901700" y="41433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60" name="Shape 51">
            <a:extLst>
              <a:ext uri="{FF2B5EF4-FFF2-40B4-BE49-F238E27FC236}">
                <a16:creationId xmlns:a16="http://schemas.microsoft.com/office/drawing/2014/main" id="{DBAA4B3F-A737-2040-FC10-070AEA3F7A96}"/>
              </a:ext>
            </a:extLst>
          </p:cNvPr>
          <p:cNvSpPr/>
          <p:nvPr/>
        </p:nvSpPr>
        <p:spPr>
          <a:xfrm>
            <a:off x="901700" y="4143375"/>
            <a:ext cx="3698677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</p:sp>
      <p:sp>
        <p:nvSpPr>
          <p:cNvPr id="161" name="Text 52">
            <a:extLst>
              <a:ext uri="{FF2B5EF4-FFF2-40B4-BE49-F238E27FC236}">
                <a16:creationId xmlns:a16="http://schemas.microsoft.com/office/drawing/2014/main" id="{44755FF3-4015-5DB8-AC2A-FA3AE980926A}"/>
              </a:ext>
            </a:extLst>
          </p:cNvPr>
          <p:cNvSpPr/>
          <p:nvPr/>
        </p:nvSpPr>
        <p:spPr>
          <a:xfrm>
            <a:off x="6305550" y="3762375"/>
            <a:ext cx="53518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plastic</a:t>
            </a:r>
            <a:endParaRPr lang="en-US" sz="1275" dirty="0"/>
          </a:p>
        </p:txBody>
      </p:sp>
      <p:sp>
        <p:nvSpPr>
          <p:cNvPr id="162" name="Text 53">
            <a:extLst>
              <a:ext uri="{FF2B5EF4-FFF2-40B4-BE49-F238E27FC236}">
                <a16:creationId xmlns:a16="http://schemas.microsoft.com/office/drawing/2014/main" id="{ADBD1450-9B98-D903-E7C0-415084D02895}"/>
              </a:ext>
            </a:extLst>
          </p:cNvPr>
          <p:cNvSpPr/>
          <p:nvPr/>
        </p:nvSpPr>
        <p:spPr>
          <a:xfrm>
            <a:off x="10066139" y="37179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0.9105 → </a:t>
            </a:r>
            <a:r>
              <a:rPr lang="en-US" sz="1275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0.9575</a:t>
            </a:r>
            <a:endParaRPr lang="en-US" sz="1275" dirty="0"/>
          </a:p>
        </p:txBody>
      </p:sp>
      <p:sp>
        <p:nvSpPr>
          <p:cNvPr id="163" name="Shape 54">
            <a:extLst>
              <a:ext uri="{FF2B5EF4-FFF2-40B4-BE49-F238E27FC236}">
                <a16:creationId xmlns:a16="http://schemas.microsoft.com/office/drawing/2014/main" id="{51487730-7800-2BA9-254F-F54851097F7F}"/>
              </a:ext>
            </a:extLst>
          </p:cNvPr>
          <p:cNvSpPr/>
          <p:nvPr/>
        </p:nvSpPr>
        <p:spPr>
          <a:xfrm>
            <a:off x="6305550" y="40005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64" name="Shape 55">
            <a:extLst>
              <a:ext uri="{FF2B5EF4-FFF2-40B4-BE49-F238E27FC236}">
                <a16:creationId xmlns:a16="http://schemas.microsoft.com/office/drawing/2014/main" id="{74175D11-1ECF-8725-3999-F88CAF7A5DF9}"/>
              </a:ext>
            </a:extLst>
          </p:cNvPr>
          <p:cNvSpPr/>
          <p:nvPr/>
        </p:nvSpPr>
        <p:spPr>
          <a:xfrm>
            <a:off x="6305550" y="4000500"/>
            <a:ext cx="523379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</p:sp>
      <p:sp>
        <p:nvSpPr>
          <p:cNvPr id="165" name="Shape 56">
            <a:extLst>
              <a:ext uri="{FF2B5EF4-FFF2-40B4-BE49-F238E27FC236}">
                <a16:creationId xmlns:a16="http://schemas.microsoft.com/office/drawing/2014/main" id="{1D157526-E7E2-D8B3-FA11-A189BE897BF0}"/>
              </a:ext>
            </a:extLst>
          </p:cNvPr>
          <p:cNvSpPr/>
          <p:nvPr/>
        </p:nvSpPr>
        <p:spPr>
          <a:xfrm>
            <a:off x="6305550" y="41433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66" name="Shape 57">
            <a:extLst>
              <a:ext uri="{FF2B5EF4-FFF2-40B4-BE49-F238E27FC236}">
                <a16:creationId xmlns:a16="http://schemas.microsoft.com/office/drawing/2014/main" id="{B0ADC8E2-4E9E-C1A8-18B7-D873EEFB49F2}"/>
              </a:ext>
            </a:extLst>
          </p:cNvPr>
          <p:cNvSpPr/>
          <p:nvPr/>
        </p:nvSpPr>
        <p:spPr>
          <a:xfrm>
            <a:off x="6305550" y="4143375"/>
            <a:ext cx="2866231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</p:sp>
      <p:sp>
        <p:nvSpPr>
          <p:cNvPr id="167" name="Text 58">
            <a:extLst>
              <a:ext uri="{FF2B5EF4-FFF2-40B4-BE49-F238E27FC236}">
                <a16:creationId xmlns:a16="http://schemas.microsoft.com/office/drawing/2014/main" id="{B40282B6-F8B4-0837-6AED-613629B26C35}"/>
              </a:ext>
            </a:extLst>
          </p:cNvPr>
          <p:cNvSpPr/>
          <p:nvPr/>
        </p:nvSpPr>
        <p:spPr>
          <a:xfrm>
            <a:off x="901700" y="4276725"/>
            <a:ext cx="62418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</a:t>
            </a:r>
            <a:endParaRPr lang="en-US" sz="1275" dirty="0"/>
          </a:p>
        </p:txBody>
      </p:sp>
      <p:sp>
        <p:nvSpPr>
          <p:cNvPr id="168" name="Text 59">
            <a:extLst>
              <a:ext uri="{FF2B5EF4-FFF2-40B4-BE49-F238E27FC236}">
                <a16:creationId xmlns:a16="http://schemas.microsoft.com/office/drawing/2014/main" id="{A2CF0C29-55FC-AD6A-4020-16B9F88A9114}"/>
              </a:ext>
            </a:extLst>
          </p:cNvPr>
          <p:cNvSpPr/>
          <p:nvPr/>
        </p:nvSpPr>
        <p:spPr>
          <a:xfrm>
            <a:off x="4662289" y="42767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0.9962 → </a:t>
            </a:r>
            <a:r>
              <a:rPr lang="en-US" sz="127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0.9981</a:t>
            </a:r>
            <a:endParaRPr lang="en-US" sz="1275" dirty="0"/>
          </a:p>
        </p:txBody>
      </p:sp>
      <p:sp>
        <p:nvSpPr>
          <p:cNvPr id="169" name="Shape 60">
            <a:extLst>
              <a:ext uri="{FF2B5EF4-FFF2-40B4-BE49-F238E27FC236}">
                <a16:creationId xmlns:a16="http://schemas.microsoft.com/office/drawing/2014/main" id="{F7311C68-DCBE-88B4-3687-AE53C75C63F6}"/>
              </a:ext>
            </a:extLst>
          </p:cNvPr>
          <p:cNvSpPr/>
          <p:nvPr/>
        </p:nvSpPr>
        <p:spPr>
          <a:xfrm>
            <a:off x="901700" y="45593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70" name="Shape 61">
            <a:extLst>
              <a:ext uri="{FF2B5EF4-FFF2-40B4-BE49-F238E27FC236}">
                <a16:creationId xmlns:a16="http://schemas.microsoft.com/office/drawing/2014/main" id="{F7FCBD90-560B-744E-C083-C4A427ECC272}"/>
              </a:ext>
            </a:extLst>
          </p:cNvPr>
          <p:cNvSpPr/>
          <p:nvPr/>
        </p:nvSpPr>
        <p:spPr>
          <a:xfrm>
            <a:off x="901700" y="4559300"/>
            <a:ext cx="4795242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</p:sp>
      <p:sp>
        <p:nvSpPr>
          <p:cNvPr id="171" name="Shape 62">
            <a:extLst>
              <a:ext uri="{FF2B5EF4-FFF2-40B4-BE49-F238E27FC236}">
                <a16:creationId xmlns:a16="http://schemas.microsoft.com/office/drawing/2014/main" id="{F0298078-7203-6151-3BB8-1DE4299ED1E7}"/>
              </a:ext>
            </a:extLst>
          </p:cNvPr>
          <p:cNvSpPr/>
          <p:nvPr/>
        </p:nvSpPr>
        <p:spPr>
          <a:xfrm>
            <a:off x="901700" y="47021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72" name="Shape 63">
            <a:extLst>
              <a:ext uri="{FF2B5EF4-FFF2-40B4-BE49-F238E27FC236}">
                <a16:creationId xmlns:a16="http://schemas.microsoft.com/office/drawing/2014/main" id="{64004654-7720-03E4-B7FE-D42A96C3889E}"/>
              </a:ext>
            </a:extLst>
          </p:cNvPr>
          <p:cNvSpPr/>
          <p:nvPr/>
        </p:nvSpPr>
        <p:spPr>
          <a:xfrm>
            <a:off x="901700" y="4702175"/>
            <a:ext cx="4889996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</p:sp>
      <p:sp>
        <p:nvSpPr>
          <p:cNvPr id="173" name="Text 64">
            <a:extLst>
              <a:ext uri="{FF2B5EF4-FFF2-40B4-BE49-F238E27FC236}">
                <a16:creationId xmlns:a16="http://schemas.microsoft.com/office/drawing/2014/main" id="{E58E713F-E1D3-D1B9-D7D2-EF438314F811}"/>
              </a:ext>
            </a:extLst>
          </p:cNvPr>
          <p:cNvSpPr/>
          <p:nvPr/>
        </p:nvSpPr>
        <p:spPr>
          <a:xfrm>
            <a:off x="6305550" y="4276725"/>
            <a:ext cx="51395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shoes</a:t>
            </a:r>
            <a:endParaRPr lang="en-US" sz="1275" dirty="0"/>
          </a:p>
        </p:txBody>
      </p:sp>
      <p:sp>
        <p:nvSpPr>
          <p:cNvPr id="174" name="Text 65">
            <a:extLst>
              <a:ext uri="{FF2B5EF4-FFF2-40B4-BE49-F238E27FC236}">
                <a16:creationId xmlns:a16="http://schemas.microsoft.com/office/drawing/2014/main" id="{2EC355AD-5BDB-58CF-ED50-B029E1D50A7B}"/>
              </a:ext>
            </a:extLst>
          </p:cNvPr>
          <p:cNvSpPr/>
          <p:nvPr/>
        </p:nvSpPr>
        <p:spPr>
          <a:xfrm>
            <a:off x="10066139" y="42767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0.9901 → </a:t>
            </a:r>
            <a:r>
              <a:rPr lang="en-US" sz="127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0.9934</a:t>
            </a:r>
            <a:endParaRPr lang="en-US" sz="1275" dirty="0"/>
          </a:p>
        </p:txBody>
      </p:sp>
      <p:sp>
        <p:nvSpPr>
          <p:cNvPr id="175" name="Shape 66">
            <a:extLst>
              <a:ext uri="{FF2B5EF4-FFF2-40B4-BE49-F238E27FC236}">
                <a16:creationId xmlns:a16="http://schemas.microsoft.com/office/drawing/2014/main" id="{1A09EEEF-0737-839F-5D66-D6A597B54C2A}"/>
              </a:ext>
            </a:extLst>
          </p:cNvPr>
          <p:cNvSpPr/>
          <p:nvPr/>
        </p:nvSpPr>
        <p:spPr>
          <a:xfrm>
            <a:off x="6305550" y="45593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76" name="Shape 67">
            <a:extLst>
              <a:ext uri="{FF2B5EF4-FFF2-40B4-BE49-F238E27FC236}">
                <a16:creationId xmlns:a16="http://schemas.microsoft.com/office/drawing/2014/main" id="{7859F71C-CA9D-3CCB-AD58-9E8A962328CC}"/>
              </a:ext>
            </a:extLst>
          </p:cNvPr>
          <p:cNvSpPr/>
          <p:nvPr/>
        </p:nvSpPr>
        <p:spPr>
          <a:xfrm>
            <a:off x="6305550" y="4559300"/>
            <a:ext cx="4491236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</p:sp>
      <p:sp>
        <p:nvSpPr>
          <p:cNvPr id="177" name="Shape 68">
            <a:extLst>
              <a:ext uri="{FF2B5EF4-FFF2-40B4-BE49-F238E27FC236}">
                <a16:creationId xmlns:a16="http://schemas.microsoft.com/office/drawing/2014/main" id="{A1B756C7-E3E2-120D-A0D8-F5EB2EB59A95}"/>
              </a:ext>
            </a:extLst>
          </p:cNvPr>
          <p:cNvSpPr/>
          <p:nvPr/>
        </p:nvSpPr>
        <p:spPr>
          <a:xfrm>
            <a:off x="6305550" y="47021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78" name="Shape 69">
            <a:extLst>
              <a:ext uri="{FF2B5EF4-FFF2-40B4-BE49-F238E27FC236}">
                <a16:creationId xmlns:a16="http://schemas.microsoft.com/office/drawing/2014/main" id="{39E1CEB1-3476-8C89-67C8-C837757145C9}"/>
              </a:ext>
            </a:extLst>
          </p:cNvPr>
          <p:cNvSpPr/>
          <p:nvPr/>
        </p:nvSpPr>
        <p:spPr>
          <a:xfrm>
            <a:off x="6305550" y="4702175"/>
            <a:ext cx="4655741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</p:sp>
      <p:sp>
        <p:nvSpPr>
          <p:cNvPr id="179" name="Text 70">
            <a:extLst>
              <a:ext uri="{FF2B5EF4-FFF2-40B4-BE49-F238E27FC236}">
                <a16:creationId xmlns:a16="http://schemas.microsoft.com/office/drawing/2014/main" id="{34FE4ECC-435C-9323-5BBE-59387870F1C5}"/>
              </a:ext>
            </a:extLst>
          </p:cNvPr>
          <p:cNvSpPr/>
          <p:nvPr/>
        </p:nvSpPr>
        <p:spPr>
          <a:xfrm>
            <a:off x="901700" y="4835525"/>
            <a:ext cx="46067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trash</a:t>
            </a:r>
            <a:endParaRPr lang="en-US" sz="1275" dirty="0"/>
          </a:p>
        </p:txBody>
      </p:sp>
      <p:sp>
        <p:nvSpPr>
          <p:cNvPr id="180" name="Text 71">
            <a:extLst>
              <a:ext uri="{FF2B5EF4-FFF2-40B4-BE49-F238E27FC236}">
                <a16:creationId xmlns:a16="http://schemas.microsoft.com/office/drawing/2014/main" id="{29E6B8DE-7727-2271-8114-4AF708EA976B}"/>
              </a:ext>
            </a:extLst>
          </p:cNvPr>
          <p:cNvSpPr/>
          <p:nvPr/>
        </p:nvSpPr>
        <p:spPr>
          <a:xfrm>
            <a:off x="4662289" y="48355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0.9714 → </a:t>
            </a:r>
            <a:r>
              <a:rPr lang="en-US" sz="1275" b="1" dirty="0">
                <a:solidFill>
                  <a:srgbClr val="1E3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0.9717</a:t>
            </a:r>
            <a:endParaRPr lang="en-US" sz="1275" dirty="0"/>
          </a:p>
        </p:txBody>
      </p:sp>
      <p:sp>
        <p:nvSpPr>
          <p:cNvPr id="181" name="Shape 72">
            <a:extLst>
              <a:ext uri="{FF2B5EF4-FFF2-40B4-BE49-F238E27FC236}">
                <a16:creationId xmlns:a16="http://schemas.microsoft.com/office/drawing/2014/main" id="{5902748E-EF57-5EAE-DACA-18EE1EEE010A}"/>
              </a:ext>
            </a:extLst>
          </p:cNvPr>
          <p:cNvSpPr/>
          <p:nvPr/>
        </p:nvSpPr>
        <p:spPr>
          <a:xfrm>
            <a:off x="901700" y="51181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82" name="Shape 73">
            <a:extLst>
              <a:ext uri="{FF2B5EF4-FFF2-40B4-BE49-F238E27FC236}">
                <a16:creationId xmlns:a16="http://schemas.microsoft.com/office/drawing/2014/main" id="{8ABAB9F8-F895-6CDC-1277-3F4BEAE0BE52}"/>
              </a:ext>
            </a:extLst>
          </p:cNvPr>
          <p:cNvSpPr/>
          <p:nvPr/>
        </p:nvSpPr>
        <p:spPr>
          <a:xfrm>
            <a:off x="901700" y="5118100"/>
            <a:ext cx="3559076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</p:sp>
      <p:sp>
        <p:nvSpPr>
          <p:cNvPr id="183" name="Shape 74">
            <a:extLst>
              <a:ext uri="{FF2B5EF4-FFF2-40B4-BE49-F238E27FC236}">
                <a16:creationId xmlns:a16="http://schemas.microsoft.com/office/drawing/2014/main" id="{9E684814-60D1-D09C-0CDA-0CB50528F145}"/>
              </a:ext>
            </a:extLst>
          </p:cNvPr>
          <p:cNvSpPr/>
          <p:nvPr/>
        </p:nvSpPr>
        <p:spPr>
          <a:xfrm>
            <a:off x="901700" y="52609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84" name="Shape 75">
            <a:extLst>
              <a:ext uri="{FF2B5EF4-FFF2-40B4-BE49-F238E27FC236}">
                <a16:creationId xmlns:a16="http://schemas.microsoft.com/office/drawing/2014/main" id="{19E8DA9B-84AF-C52F-D08D-F8BF6D228A2E}"/>
              </a:ext>
            </a:extLst>
          </p:cNvPr>
          <p:cNvSpPr/>
          <p:nvPr/>
        </p:nvSpPr>
        <p:spPr>
          <a:xfrm>
            <a:off x="901700" y="5260975"/>
            <a:ext cx="3574058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</p:sp>
      <p:sp>
        <p:nvSpPr>
          <p:cNvPr id="185" name="Text 76">
            <a:extLst>
              <a:ext uri="{FF2B5EF4-FFF2-40B4-BE49-F238E27FC236}">
                <a16:creationId xmlns:a16="http://schemas.microsoft.com/office/drawing/2014/main" id="{B901313D-F6B8-FD87-18AA-C3300C86512F}"/>
              </a:ext>
            </a:extLst>
          </p:cNvPr>
          <p:cNvSpPr/>
          <p:nvPr/>
        </p:nvSpPr>
        <p:spPr>
          <a:xfrm>
            <a:off x="6305550" y="4879975"/>
            <a:ext cx="88622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white-glass</a:t>
            </a:r>
            <a:endParaRPr lang="en-US" sz="1275" dirty="0"/>
          </a:p>
        </p:txBody>
      </p:sp>
      <p:sp>
        <p:nvSpPr>
          <p:cNvPr id="186" name="Text 77">
            <a:extLst>
              <a:ext uri="{FF2B5EF4-FFF2-40B4-BE49-F238E27FC236}">
                <a16:creationId xmlns:a16="http://schemas.microsoft.com/office/drawing/2014/main" id="{FDE7DFB9-4388-DBC7-E491-7E8665E87BA3}"/>
              </a:ext>
            </a:extLst>
          </p:cNvPr>
          <p:cNvSpPr/>
          <p:nvPr/>
        </p:nvSpPr>
        <p:spPr>
          <a:xfrm>
            <a:off x="10066139" y="48355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0.9649 → </a:t>
            </a:r>
            <a:r>
              <a:rPr lang="en-US" sz="1275" b="1" dirty="0">
                <a:solidFill>
                  <a:srgbClr val="B35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0.9561</a:t>
            </a:r>
            <a:endParaRPr lang="en-US" sz="1275" dirty="0"/>
          </a:p>
        </p:txBody>
      </p:sp>
      <p:sp>
        <p:nvSpPr>
          <p:cNvPr id="187" name="Shape 78">
            <a:extLst>
              <a:ext uri="{FF2B5EF4-FFF2-40B4-BE49-F238E27FC236}">
                <a16:creationId xmlns:a16="http://schemas.microsoft.com/office/drawing/2014/main" id="{5F46C0C7-F711-5CEE-755B-5123623AB813}"/>
              </a:ext>
            </a:extLst>
          </p:cNvPr>
          <p:cNvSpPr/>
          <p:nvPr/>
        </p:nvSpPr>
        <p:spPr>
          <a:xfrm>
            <a:off x="6305550" y="51181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88" name="Shape 79">
            <a:extLst>
              <a:ext uri="{FF2B5EF4-FFF2-40B4-BE49-F238E27FC236}">
                <a16:creationId xmlns:a16="http://schemas.microsoft.com/office/drawing/2014/main" id="{3EC9B502-F67A-AE1D-3584-691CC032DC3D}"/>
              </a:ext>
            </a:extLst>
          </p:cNvPr>
          <p:cNvSpPr/>
          <p:nvPr/>
        </p:nvSpPr>
        <p:spPr>
          <a:xfrm>
            <a:off x="6305550" y="5118100"/>
            <a:ext cx="3235028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</p:sp>
      <p:sp>
        <p:nvSpPr>
          <p:cNvPr id="189" name="Shape 80">
            <a:extLst>
              <a:ext uri="{FF2B5EF4-FFF2-40B4-BE49-F238E27FC236}">
                <a16:creationId xmlns:a16="http://schemas.microsoft.com/office/drawing/2014/main" id="{91BFCDBC-7E44-EAF4-50A1-D839199EAA5B}"/>
              </a:ext>
            </a:extLst>
          </p:cNvPr>
          <p:cNvSpPr/>
          <p:nvPr/>
        </p:nvSpPr>
        <p:spPr>
          <a:xfrm>
            <a:off x="6305550" y="52609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</p:sp>
      <p:sp>
        <p:nvSpPr>
          <p:cNvPr id="190" name="Shape 81">
            <a:extLst>
              <a:ext uri="{FF2B5EF4-FFF2-40B4-BE49-F238E27FC236}">
                <a16:creationId xmlns:a16="http://schemas.microsoft.com/office/drawing/2014/main" id="{3A99C3A7-522B-705D-CA88-B6C0F2F9B882}"/>
              </a:ext>
            </a:extLst>
          </p:cNvPr>
          <p:cNvSpPr/>
          <p:nvPr/>
        </p:nvSpPr>
        <p:spPr>
          <a:xfrm>
            <a:off x="6305550" y="5260975"/>
            <a:ext cx="2796381" cy="95250"/>
          </a:xfrm>
          <a:prstGeom prst="roundRect">
            <a:avLst>
              <a:gd name="adj" fmla="val 20000"/>
            </a:avLst>
          </a:prstGeom>
          <a:solidFill>
            <a:srgbClr val="B3562F"/>
          </a:solidFill>
          <a:ln/>
        </p:spPr>
      </p:sp>
      <p:sp>
        <p:nvSpPr>
          <p:cNvPr id="191" name="Shape 82">
            <a:extLst>
              <a:ext uri="{FF2B5EF4-FFF2-40B4-BE49-F238E27FC236}">
                <a16:creationId xmlns:a16="http://schemas.microsoft.com/office/drawing/2014/main" id="{3C12BDE4-EBD0-FF2D-5452-94C75B1EDAC9}"/>
              </a:ext>
            </a:extLst>
          </p:cNvPr>
          <p:cNvSpPr/>
          <p:nvPr/>
        </p:nvSpPr>
        <p:spPr>
          <a:xfrm>
            <a:off x="609600" y="5621735"/>
            <a:ext cx="10972800" cy="855266"/>
          </a:xfrm>
          <a:custGeom>
            <a:avLst/>
            <a:gdLst/>
            <a:ahLst/>
            <a:cxnLst/>
            <a:rect l="l" t="t" r="r" b="b"/>
            <a:pathLst>
              <a:path w="10972800" h="855266">
                <a:moveTo>
                  <a:pt x="0" y="0"/>
                </a:moveTo>
                <a:lnTo>
                  <a:pt x="10877550" y="0"/>
                </a:lnTo>
                <a:arcTo wR="95250" hR="95250" stAng="16200000" swAng="5400000"/>
                <a:lnTo>
                  <a:pt x="10972800" y="760016"/>
                </a:lnTo>
                <a:arcTo wR="95250" hR="95250" stAng="0" swAng="5400000"/>
                <a:lnTo>
                  <a:pt x="0" y="855266"/>
                </a:lnTo>
                <a:lnTo>
                  <a:pt x="0" y="0"/>
                </a:lnTo>
                <a:close/>
              </a:path>
            </a:pathLst>
          </a:custGeom>
          <a:solidFill>
            <a:srgbClr val="EDF1EA"/>
          </a:solidFill>
          <a:ln/>
        </p:spPr>
      </p:sp>
      <p:sp>
        <p:nvSpPr>
          <p:cNvPr id="192" name="Shape 83">
            <a:extLst>
              <a:ext uri="{FF2B5EF4-FFF2-40B4-BE49-F238E27FC236}">
                <a16:creationId xmlns:a16="http://schemas.microsoft.com/office/drawing/2014/main" id="{EB4BA091-C344-1212-78BA-88D6FEB8C65B}"/>
              </a:ext>
            </a:extLst>
          </p:cNvPr>
          <p:cNvSpPr/>
          <p:nvPr/>
        </p:nvSpPr>
        <p:spPr>
          <a:xfrm>
            <a:off x="609600" y="5621735"/>
            <a:ext cx="57150" cy="855266"/>
          </a:xfrm>
          <a:prstGeom prst="rect">
            <a:avLst/>
          </a:prstGeom>
          <a:solidFill>
            <a:srgbClr val="3D7A45"/>
          </a:solidFill>
          <a:ln/>
        </p:spPr>
      </p:sp>
      <p:sp>
        <p:nvSpPr>
          <p:cNvPr id="193" name="Text 84">
            <a:extLst>
              <a:ext uri="{FF2B5EF4-FFF2-40B4-BE49-F238E27FC236}">
                <a16:creationId xmlns:a16="http://schemas.microsoft.com/office/drawing/2014/main" id="{C66C67DF-91D2-630D-A67D-9D2D033788B6}"/>
              </a:ext>
            </a:extLst>
          </p:cNvPr>
          <p:cNvSpPr/>
          <p:nvPr/>
        </p:nvSpPr>
        <p:spPr>
          <a:xfrm>
            <a:off x="876300" y="5875948"/>
            <a:ext cx="2066192" cy="588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개선은 약한 클래스에서</a:t>
            </a:r>
            <a:endParaRPr lang="en-US" sz="1350" dirty="0"/>
          </a:p>
        </p:txBody>
      </p:sp>
      <p:sp>
        <p:nvSpPr>
          <p:cNvPr id="194" name="Text 85">
            <a:extLst>
              <a:ext uri="{FF2B5EF4-FFF2-40B4-BE49-F238E27FC236}">
                <a16:creationId xmlns:a16="http://schemas.microsoft.com/office/drawing/2014/main" id="{65A4D0AE-B8AE-B104-B157-4F8CC0124704}"/>
              </a:ext>
            </a:extLst>
          </p:cNvPr>
          <p:cNvSpPr/>
          <p:nvPr/>
        </p:nvSpPr>
        <p:spPr>
          <a:xfrm>
            <a:off x="2842846" y="5875948"/>
            <a:ext cx="8790150" cy="588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128px에서 </a:t>
            </a:r>
            <a:r>
              <a:rPr lang="ko-KR" alt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구분이 힘들던 재질 관련 분류</a:t>
            </a:r>
            <a:r>
              <a:rPr 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plastic +0.047 · metal +0.028 · brown-glass +0.021 </a:t>
            </a:r>
            <a:r>
              <a:rPr lang="ko-KR" altLang="en-US" sz="1350" dirty="0">
                <a:solidFill>
                  <a:srgbClr val="263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상승</a:t>
            </a:r>
            <a:endParaRPr lang="en-US" altLang="ko-KR" sz="1350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35000"/>
              </a:lnSpc>
              <a:buNone/>
            </a:pPr>
            <a:endParaRPr lang="en-US" altLang="ko-KR" sz="1350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1290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92071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30" dirty="0" err="1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시행착오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49207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128px에서 최적이던 학습률이 224px에서는 최적이 아님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76375"/>
            <a:ext cx="5372100" cy="4962525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01700" y="1730375"/>
            <a:ext cx="52666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 방법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01700" y="2082800"/>
            <a:ext cx="52666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기준으로 선택한 학습률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01700" y="2508250"/>
            <a:ext cx="112395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5e-5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16150" y="2482850"/>
            <a:ext cx="38207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0.9731 </a:t>
            </a:r>
            <a:r>
              <a:rPr lang="en-US" sz="1350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← 128px 최적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1700" y="2879481"/>
            <a:ext cx="1123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1e-4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16150" y="2879481"/>
            <a:ext cx="38207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1700" y="3257550"/>
            <a:ext cx="1123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3e-4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16150" y="3257550"/>
            <a:ext cx="38207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0.9658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1700" y="3689350"/>
            <a:ext cx="4787900" cy="9525"/>
          </a:xfrm>
          <a:prstGeom prst="rect">
            <a:avLst/>
          </a:prstGeom>
          <a:solidFill>
            <a:srgbClr val="E3EA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01700" y="3851275"/>
            <a:ext cx="4931537" cy="933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입력을 224px로 올린 뒤 같은 학습률(5e-5)을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그대로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</a:t>
            </a:r>
            <a:endParaRPr lang="en-US" sz="1425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val macro-F1 0.9787에 정체. 128px 최적값이 224px에서는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최적이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아</a:t>
            </a:r>
            <a:r>
              <a:rPr lang="ko-KR" alt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님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6210300" y="1476375"/>
            <a:ext cx="5372100" cy="4962525"/>
          </a:xfrm>
          <a:prstGeom prst="roundRect">
            <a:avLst>
              <a:gd name="adj" fmla="val 2687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02400" y="1730375"/>
            <a:ext cx="52666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고친 방법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502400" y="2082800"/>
            <a:ext cx="52666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224px에서 학습률 재탐색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02400" y="2508250"/>
            <a:ext cx="102870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1e-4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3500" y="2508250"/>
            <a:ext cx="13620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0.9840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50350" y="2482850"/>
            <a:ext cx="23539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채택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02400" y="2879481"/>
            <a:ext cx="10287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5e-5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83500" y="2879481"/>
            <a:ext cx="13620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0.9787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50350" y="2879725"/>
            <a:ext cx="23539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최적값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02400" y="3257550"/>
            <a:ext cx="10287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3e-4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83500" y="3257550"/>
            <a:ext cx="13620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0.9738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02400" y="3689350"/>
            <a:ext cx="4787900" cy="9525"/>
          </a:xfrm>
          <a:prstGeom prst="rect">
            <a:avLst/>
          </a:prstGeom>
          <a:solidFill>
            <a:srgbClr val="CFDCC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02400" y="3851275"/>
            <a:ext cx="4931537" cy="635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조건이 바뀌면 하이퍼파라미터도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재선택해야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한다</a:t>
            </a:r>
            <a:endParaRPr lang="en-US" sz="1425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 해상도를 바꿨으면 학습률도 다시 탐색해야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한다는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</a:rPr>
              <a:t>19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86876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30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선정과 튜닝의 근거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48687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설정으로 시드 5회 반복해서 확인한 노이즈 기준선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57325"/>
            <a:ext cx="3456384" cy="1007070"/>
          </a:xfrm>
          <a:prstGeom prst="roundRect">
            <a:avLst>
              <a:gd name="adj" fmla="val 132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44550" y="1635125"/>
            <a:ext cx="3285133" cy="394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085"/>
              </a:lnSpc>
              <a:buNone/>
            </a:pPr>
            <a:r>
              <a:rPr lang="en-US" sz="25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±0.0046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44550" y="2038945"/>
            <a:ext cx="32851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시드 5회 test macro-F1 표준편차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18384" y="1457325"/>
            <a:ext cx="3456484" cy="1007070"/>
          </a:xfrm>
          <a:prstGeom prst="roundRect">
            <a:avLst>
              <a:gd name="adj" fmla="val 132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453335" y="1635125"/>
            <a:ext cx="3285242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0.9596~0.9699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453335" y="2029420"/>
            <a:ext cx="32852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5회 반복 test macro-F1 범위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27268" y="1457325"/>
            <a:ext cx="3755132" cy="1007070"/>
          </a:xfrm>
          <a:prstGeom prst="roundRect">
            <a:avLst>
              <a:gd name="adj" fmla="val 13241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062218" y="1635125"/>
            <a:ext cx="3613755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폭보다 작은 차이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62218" y="1979910"/>
            <a:ext cx="36137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= 개선이 아니라 우연일 수 있음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9600" y="2616796"/>
            <a:ext cx="10972800" cy="2871589"/>
          </a:xfrm>
          <a:prstGeom prst="roundRect">
            <a:avLst>
              <a:gd name="adj" fmla="val 3980"/>
            </a:avLst>
          </a:prstGeom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15950" y="2623145"/>
            <a:ext cx="10960101" cy="714673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4550" y="2856607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전후 test 점수 차이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16400" y="2872482"/>
            <a:ext cx="2200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±0.001~0.003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5250" y="2856607"/>
            <a:ext cx="53924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노이즈 안(±0.0046) → 판단 불가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5950" y="3337818"/>
            <a:ext cx="10960101" cy="7147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44550" y="3571379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학습률 5e-5 vs 3e-4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216400" y="3587254"/>
            <a:ext cx="2200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+0.0073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5250" y="3570883"/>
            <a:ext cx="5392420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신뢰구간이 0 포함 → 판단 불가 (5e-5 vs 1e-4는 p=0.024로 유의)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5950" y="4052590"/>
            <a:ext cx="10960101" cy="714673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44550" y="4286052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224px 3lr 앙상블 vs 단일모델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216400" y="4301927"/>
            <a:ext cx="2200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+0.0006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45250" y="4286052"/>
            <a:ext cx="53924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노이즈보다 훨씬 작음 → 판단 불가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5950" y="4767263"/>
            <a:ext cx="10960101" cy="714772"/>
          </a:xfrm>
          <a:prstGeom prst="rect">
            <a:avLst/>
          </a:prstGeom>
          <a:solidFill>
            <a:srgbClr val="F0F6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44550" y="5000824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clothes→shoes 오분류 감소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216400" y="4984949"/>
            <a:ext cx="22002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20건대 → 2~4건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45250" y="5000327"/>
            <a:ext cx="5392420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노이즈보다 훨씬 큼 · 3번의 독립 실행 모두 재현 → 진짜 효과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09600" y="5640785"/>
            <a:ext cx="10972800" cy="836216"/>
          </a:xfrm>
          <a:custGeom>
            <a:avLst/>
            <a:gdLst/>
            <a:ahLst/>
            <a:cxnLst/>
            <a:rect l="l" t="t" r="r" b="b"/>
            <a:pathLst>
              <a:path w="10972800" h="836216">
                <a:moveTo>
                  <a:pt x="0" y="0"/>
                </a:moveTo>
                <a:lnTo>
                  <a:pt x="10877550" y="0"/>
                </a:lnTo>
                <a:arcTo wR="95250" hR="95250" stAng="16200000" swAng="5400000"/>
                <a:lnTo>
                  <a:pt x="10972800" y="740966"/>
                </a:lnTo>
                <a:arcTo wR="95250" hR="95250" stAng="0" swAng="5400000"/>
                <a:lnTo>
                  <a:pt x="0" y="836216"/>
                </a:lnTo>
                <a:lnTo>
                  <a:pt x="0" y="0"/>
                </a:lnTo>
                <a:close/>
              </a:path>
            </a:pathLst>
          </a:cu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09600" y="5640785"/>
            <a:ext cx="57150" cy="836216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44550" y="5912842"/>
            <a:ext cx="1433413" cy="292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 err="1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</a:t>
            </a: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 err="1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2385913" y="5793185"/>
            <a:ext cx="9256545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‘정확도가 올랐다’가 아니라 ‘오분류 패턴이 라벨오류성에서 재질혼동성으로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바뀌었다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’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숫자보다</a:t>
            </a: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패턴 변화가 더 믿을 수 </a:t>
            </a:r>
            <a:r>
              <a:rPr lang="en-US" sz="135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있는</a:t>
            </a: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증거</a:t>
            </a:r>
            <a:endParaRPr lang="en-US" sz="135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1116</Words>
  <Application>Microsoft Office PowerPoint</Application>
  <PresentationFormat>와이드스크린</PresentationFormat>
  <Paragraphs>253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쓰레기 이미지 12종 분류</dc:title>
  <dc:subject>PptxGenJS Presentation</dc:subject>
  <dc:creator>3조 (김이박)</dc:creator>
  <cp:lastModifiedBy>KDS10</cp:lastModifiedBy>
  <cp:revision>52</cp:revision>
  <dcterms:created xsi:type="dcterms:W3CDTF">2026-09-07T07:13:26Z</dcterms:created>
  <dcterms:modified xsi:type="dcterms:W3CDTF">2026-09-08T01:05:34Z</dcterms:modified>
</cp:coreProperties>
</file>